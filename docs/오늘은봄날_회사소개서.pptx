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media/image-1-1.jpg" ContentType="image/jpg"/>
  <Override PartName="/ppt/media/image-12-1.jpg" ContentType="image/jpg"/>
  <Override PartName="/ppt/media/image-12-2.jpg" ContentType="image/jpg"/>
  <Override PartName="/ppt/media/image-12-3.jpg" ContentType="image/jpg"/>
  <Override PartName="/ppt/media/image-12-4.jpg" ContentType="image/jpg"/>
  <Override PartName="/ppt/media/image-12-5.jpg" ContentType="image/jpg"/>
  <Override PartName="/ppt/media/image-12-6.jpg" ContentType="image/jpg"/>
  <Override PartName="/ppt/media/image-4-1.jpg" ContentType="image/jpg"/>
  <Override PartName="/ppt/media/image-6-1.jpg" ContentType="image/jpg"/>
  <Override PartName="/ppt/media/image-7-1.jpg" ContentType="image/jpg"/>
  <Override PartName="/ppt/media/image-8-1.jpg" ContentType="image/jpg"/>
  <Override PartName="/ppt/media/image-8-2.jpg" ContentType="image/jpg"/>
  <Override PartName="/ppt/media/image-8-3.jpg" ContentType="image/jpg"/>
  <Override PartName="/ppt/media/image-8-4.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시안 제시까지 걸리는 기간(일)</c:v>
                </c:pt>
              </c:strCache>
            </c:strRef>
          </c:tx>
          <c:spPr>
            <a:solidFill>
              <a:srgbClr val="C6CCD8"/>
            </a:solidFill>
            <a:effectLst/>
          </c:spPr>
          <c:invertIfNegative val="0"/>
          <c:dLbls>
            <c:numFmt formatCode="#,##0" sourceLinked="0"/>
            <c:txPr>
              <a:bodyPr/>
              <a:lstStyle/>
              <a:p>
                <a:pPr>
                  <a:defRPr b="1" i="0" strike="noStrike" sz="1600" u="none">
                    <a:solidFill>
                      <a:srgbClr val="101B33"/>
                    </a:solidFill>
                    <a:latin typeface="맑은 고딕"/>
                  </a:defRPr>
                </a:pPr>
              </a:p>
            </c:txPr>
            <c:showLegendKey val="0"/>
            <c:showVal val="1"/>
            <c:showCatName val="0"/>
            <c:showSerName val="0"/>
            <c:showPercent val="0"/>
            <c:showBubbleSize val="0"/>
            <c:showLeaderLines val="0"/>
          </c:dLbls>
          <c:dPt>
            <c:idx val="0"/>
            <c:invertIfNegative val="0"/>
            <c:bubble3D val="0"/>
            <c:spPr>
              <a:solidFill>
                <a:srgbClr val="C6CCD8"/>
              </a:solidFill>
              <a:effectLst/>
            </c:spPr>
          </c:dPt>
          <c:dPt>
            <c:idx val="1"/>
            <c:invertIfNegative val="0"/>
            <c:bubble3D val="0"/>
            <c:spPr>
              <a:solidFill>
                <a:srgbClr val="0075C9"/>
              </a:solidFill>
              <a:effectLst/>
            </c:spPr>
          </c:dPt>
          <c:cat>
            <c:multiLvlStrRef>
              <c:f>Sheet1!$A$2:$A$3</c:f>
              <c:multiLvlStrCache>
                <c:ptCount val="2"/>
                <c:lvl>
                  <c:pt idx="0">
                    <c:v>일반 영상 외주 제작</c:v>
                  </c:pt>
                  <c:pt idx="1">
                    <c:v>오늘은 봄날</c:v>
                  </c:pt>
                </c:lvl>
              </c:multiLvlStrCache>
            </c:multiLvlStrRef>
          </c:cat>
          <c:val>
            <c:numRef>
              <c:f>Sheet1!$B$2:$B$3</c:f>
              <c:numCache>
                <c:formatCode>General</c:formatCode>
                <c:ptCount val="2"/>
                <c:pt idx="0">
                  <c:v>30</c:v>
                </c:pt>
                <c:pt idx="1">
                  <c:v>7</c:v>
                </c:pt>
              </c:numCache>
            </c:numRef>
          </c:val>
        </c:ser>
        <c:dLbls>
          <c:numFmt formatCode="#,##0" sourceLinked="0"/>
          <c:txPr>
            <a:bodyPr/>
            <a:lstStyle/>
            <a:p>
              <a:pPr>
                <a:defRPr b="1" i="0" strike="noStrike" sz="1600" u="none">
                  <a:solidFill>
                    <a:srgbClr val="101B33"/>
                  </a:solidFill>
                  <a:latin typeface="맑은 고딕"/>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01B33"/>
                </a:solidFill>
                <a:latin typeface="맑은 고딕"/>
              </a:defRPr>
            </a:pPr>
            <a:endParaRPr lang="en-US"/>
          </a:p>
        </c:txPr>
        <c:crossAx val="2094734552"/>
        <c:crosses val="autoZero"/>
        <c:auto val="1"/>
        <c:lblAlgn val="ctr"/>
        <c:noMultiLvlLbl val="1"/>
      </c:catAx>
      <c:valAx>
        <c:axId val="2094734552"/>
        <c:scaling>
          <c:orientation val="minMax"/>
          <c:max val="35"/>
        </c:scaling>
        <c:delete val="0"/>
        <c:axPos val="b"/>
        <c:majorGridlines>
          <c:spPr>
            <a:ln w="12700" cap="flat">
              <a:solidFill>
                <a:srgbClr val="EDEFF3"/>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8A93A3"/>
                </a:solidFill>
                <a:latin typeface="Arial"/>
              </a:defRPr>
            </a:pPr>
            <a:endParaRPr lang="en-US"/>
          </a:p>
        </c:txPr>
        <c:crossAx val="2094734554"/>
        <c:crosses val="autoZero"/>
        <c:crossBetween val="between"/>
        <c:majorUnit val="7"/>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표지. 회사명과 한 줄 정의, 사업영역 3종, 여성기업 자격, 연락처.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사업영역 네 가지를 한 화면에. 상세는 뒤에서 각각 설명.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jpg"/><Relationship Id="rId3" Type="http://schemas.openxmlformats.org/officeDocument/2006/relationships/image" Target="../media/image-8-3.jpg"/><Relationship Id="rId4" Type="http://schemas.openxmlformats.org/officeDocument/2006/relationships/image" Target="../media/image-8-4.jp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jpg"/><Relationship Id="rId3" Type="http://schemas.openxmlformats.org/officeDocument/2006/relationships/image" Target="../media/image-12-3.jpg"/><Relationship Id="rId4" Type="http://schemas.openxmlformats.org/officeDocument/2006/relationships/image" Target="../media/image-12-4.jpg"/><Relationship Id="rId5" Type="http://schemas.openxmlformats.org/officeDocument/2006/relationships/image" Target="../media/image-12-5.jpg"/><Relationship Id="rId6" Type="http://schemas.openxmlformats.org/officeDocument/2006/relationships/image" Target="../media/image-12-6.jp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B33"/>
        </a:solidFill>
      </p:bgPr>
    </p:bg>
    <p:spTree>
      <p:nvGrpSpPr>
        <p:cNvPr id="1" name=""/>
        <p:cNvGrpSpPr/>
        <p:nvPr/>
      </p:nvGrpSpPr>
      <p:grpSpPr>
        <a:xfrm>
          <a:off x="0" y="0"/>
          <a:ext cx="0" cy="0"/>
          <a:chOff x="0" y="0"/>
          <a:chExt cx="0" cy="0"/>
        </a:xfrm>
      </p:grpSpPr>
      <p:pic>
        <p:nvPicPr>
          <p:cNvPr id="2" name="Image 0" descr="/home/user/oneul-bomnal/assets/deck/eyewall.jpg">    </p:cNvPr>
          <p:cNvPicPr>
            <a:picLocks noChangeAspect="1"/>
          </p:cNvPicPr>
          <p:nvPr/>
        </p:nvPicPr>
        <p:blipFill>
          <a:blip r:embed="rId1">
            <a:alphaModFix amt="82000"/>
          </a:blip>
          <a:srcRect l="0" r="0" t="0" b="0"/>
          <a:stretch/>
        </p:blipFill>
        <p:spPr>
          <a:xfrm>
            <a:off x="0" y="4160520"/>
            <a:ext cx="12161520" cy="2697480"/>
          </a:xfrm>
          <a:prstGeom prst="rect">
            <a:avLst/>
          </a:prstGeom>
        </p:spPr>
      </p:pic>
      <p:sp>
        <p:nvSpPr>
          <p:cNvPr id="3" name="Shape 0"/>
          <p:cNvSpPr/>
          <p:nvPr/>
        </p:nvSpPr>
        <p:spPr>
          <a:xfrm>
            <a:off x="0" y="4160520"/>
            <a:ext cx="12161520" cy="822960"/>
          </a:xfrm>
          <a:prstGeom prst="rect">
            <a:avLst/>
          </a:prstGeom>
          <a:solidFill>
            <a:srgbClr val="101B33">
              <a:alpha val="70000"/>
            </a:srgbClr>
          </a:solidFill>
          <a:ln w="12700">
            <a:solidFill>
              <a:srgbClr val="101B33">
                <a:alpha val="0"/>
              </a:srgbClr>
            </a:solidFill>
            <a:prstDash val="solid"/>
          </a:ln>
        </p:spPr>
        <p:txBody>
          <a:bodyPr/>
          <a:p/>
        </p:txBody>
      </p:sp>
      <p:sp>
        <p:nvSpPr>
          <p:cNvPr id="4" name="Text 1"/>
          <p:cNvSpPr/>
          <p:nvPr/>
        </p:nvSpPr>
        <p:spPr>
          <a:xfrm>
            <a:off x="822960" y="1051560"/>
            <a:ext cx="8229600" cy="274320"/>
          </a:xfrm>
          <a:prstGeom prst="rect">
            <a:avLst/>
          </a:prstGeom>
          <a:noFill/>
          <a:ln/>
        </p:spPr>
        <p:txBody>
          <a:bodyPr wrap="square" lIns="0" tIns="0" rIns="0" bIns="0" rtlCol="0" anchor="ctr"/>
          <a:lstStyle/>
          <a:p>
            <a:pPr indent="0" marL="0">
              <a:buNone/>
            </a:pPr>
            <a:r>
              <a:rPr lang="en-US" sz="1200" b="1" spc="300" kern="0" dirty="0">
                <a:solidFill>
                  <a:srgbClr val="0075C9"/>
                </a:solidFill>
                <a:latin typeface="맑은 고딕" pitchFamily="34" charset="0"/>
                <a:ea typeface="맑은 고딕" pitchFamily="34" charset="-122"/>
                <a:cs typeface="맑은 고딕" pitchFamily="34" charset="-120"/>
              </a:rPr>
              <a:t>AI MEDIA ART STUDIO · DAEGU</a:t>
            </a:r>
            <a:endParaRPr lang="en-US" sz="1200" dirty="0"/>
          </a:p>
        </p:txBody>
      </p:sp>
      <p:sp>
        <p:nvSpPr>
          <p:cNvPr id="5" name="Text 2"/>
          <p:cNvSpPr/>
          <p:nvPr/>
        </p:nvSpPr>
        <p:spPr>
          <a:xfrm>
            <a:off x="822960" y="1417320"/>
            <a:ext cx="8229600" cy="1143000"/>
          </a:xfrm>
          <a:prstGeom prst="rect">
            <a:avLst/>
          </a:prstGeom>
          <a:noFill/>
          <a:ln/>
        </p:spPr>
        <p:txBody>
          <a:bodyPr wrap="square" lIns="0" tIns="0" rIns="0" bIns="0" rtlCol="0" anchor="ctr"/>
          <a:lstStyle/>
          <a:p>
            <a:pPr indent="0" marL="0">
              <a:buNone/>
            </a:pPr>
            <a:r>
              <a:rPr lang="en-US" sz="6000" b="1" dirty="0">
                <a:solidFill>
                  <a:srgbClr val="FFFFFF"/>
                </a:solidFill>
                <a:latin typeface="맑은 고딕" pitchFamily="34" charset="0"/>
                <a:ea typeface="맑은 고딕" pitchFamily="34" charset="-122"/>
                <a:cs typeface="맑은 고딕" pitchFamily="34" charset="-120"/>
              </a:rPr>
              <a:t>오늘은 봄날</a:t>
            </a:r>
            <a:endParaRPr lang="en-US" sz="6000" dirty="0"/>
          </a:p>
        </p:txBody>
      </p:sp>
      <p:sp>
        <p:nvSpPr>
          <p:cNvPr id="6" name="Text 3"/>
          <p:cNvSpPr/>
          <p:nvPr/>
        </p:nvSpPr>
        <p:spPr>
          <a:xfrm>
            <a:off x="822960" y="2606040"/>
            <a:ext cx="9144000" cy="457200"/>
          </a:xfrm>
          <a:prstGeom prst="rect">
            <a:avLst/>
          </a:prstGeom>
          <a:noFill/>
          <a:ln/>
        </p:spPr>
        <p:txBody>
          <a:bodyPr wrap="square" lIns="0" tIns="0" rIns="0" bIns="0" rtlCol="0" anchor="ctr"/>
          <a:lstStyle/>
          <a:p>
            <a:pPr indent="0" marL="0">
              <a:buNone/>
            </a:pPr>
            <a:r>
              <a:rPr lang="en-US" sz="2200" dirty="0">
                <a:solidFill>
                  <a:srgbClr val="CFD6E4"/>
                </a:solidFill>
                <a:latin typeface="맑은 고딕" pitchFamily="34" charset="0"/>
                <a:ea typeface="맑은 고딕" pitchFamily="34" charset="-122"/>
                <a:cs typeface="맑은 고딕" pitchFamily="34" charset="-120"/>
              </a:rPr>
              <a:t>미디어아트를 코드로 만드는 AI 기업입니다</a:t>
            </a:r>
            <a:endParaRPr lang="en-US" sz="2200" dirty="0"/>
          </a:p>
        </p:txBody>
      </p:sp>
      <p:sp>
        <p:nvSpPr>
          <p:cNvPr id="7" name="Text 4"/>
          <p:cNvSpPr/>
          <p:nvPr/>
        </p:nvSpPr>
        <p:spPr>
          <a:xfrm>
            <a:off x="822960" y="3154680"/>
            <a:ext cx="10058400" cy="365760"/>
          </a:xfrm>
          <a:prstGeom prst="rect">
            <a:avLst/>
          </a:prstGeom>
          <a:noFill/>
          <a:ln/>
        </p:spPr>
        <p:txBody>
          <a:bodyPr wrap="square" lIns="0" tIns="0" rIns="0" bIns="0" rtlCol="0" anchor="ctr"/>
          <a:lstStyle/>
          <a:p>
            <a:pPr indent="0" marL="0">
              <a:buNone/>
            </a:pPr>
            <a:r>
              <a:rPr lang="en-US" sz="1400" dirty="0">
                <a:solidFill>
                  <a:srgbClr val="9FB0CC"/>
                </a:solidFill>
                <a:latin typeface="맑은 고딕" pitchFamily="34" charset="0"/>
                <a:ea typeface="맑은 고딕" pitchFamily="34" charset="-122"/>
                <a:cs typeface="맑은 고딕" pitchFamily="34" charset="-120"/>
              </a:rPr>
              <a:t>미디어파사드 콘텐츠 제작  ·  LED 패널 · 전광판 설치  ·  빔프로젝터 미디어파사드</a:t>
            </a:r>
            <a:endParaRPr lang="en-US" sz="1400" dirty="0"/>
          </a:p>
        </p:txBody>
      </p:sp>
      <p:sp>
        <p:nvSpPr>
          <p:cNvPr id="8" name="Shape 5"/>
          <p:cNvSpPr/>
          <p:nvPr/>
        </p:nvSpPr>
        <p:spPr>
          <a:xfrm>
            <a:off x="822960" y="3703320"/>
            <a:ext cx="2286000" cy="384048"/>
          </a:xfrm>
          <a:prstGeom prst="roundRect">
            <a:avLst>
              <a:gd name="adj" fmla="val 47619"/>
            </a:avLst>
          </a:prstGeom>
          <a:solidFill>
            <a:srgbClr val="0075C9"/>
          </a:solidFill>
          <a:ln w="12700">
            <a:solidFill>
              <a:srgbClr val="0075C9"/>
            </a:solidFill>
            <a:prstDash val="solid"/>
          </a:ln>
        </p:spPr>
        <p:txBody>
          <a:bodyPr/>
          <a:p/>
        </p:txBody>
      </p:sp>
      <p:sp>
        <p:nvSpPr>
          <p:cNvPr id="9" name="Text 6"/>
          <p:cNvSpPr/>
          <p:nvPr/>
        </p:nvSpPr>
        <p:spPr>
          <a:xfrm>
            <a:off x="822960" y="3703320"/>
            <a:ext cx="228600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여성기업 · 대구</a:t>
            </a:r>
            <a:endParaRPr lang="en-US" sz="1200" dirty="0"/>
          </a:p>
        </p:txBody>
      </p:sp>
      <p:sp>
        <p:nvSpPr>
          <p:cNvPr id="10" name="Text 7"/>
          <p:cNvSpPr/>
          <p:nvPr/>
        </p:nvSpPr>
        <p:spPr>
          <a:xfrm>
            <a:off x="822960" y="6172200"/>
            <a:ext cx="10515600" cy="320040"/>
          </a:xfrm>
          <a:prstGeom prst="rect">
            <a:avLst/>
          </a:prstGeom>
          <a:noFill/>
          <a:ln/>
        </p:spPr>
        <p:txBody>
          <a:bodyPr wrap="square" lIns="0" tIns="0" rIns="0" bIns="0" rtlCol="0" anchor="ctr"/>
          <a:lstStyle/>
          <a:p>
            <a:pPr indent="0" marL="0">
              <a:buNone/>
            </a:pPr>
            <a:r>
              <a:rPr lang="en-US" sz="1200" dirty="0">
                <a:solidFill>
                  <a:srgbClr val="CFD6E4"/>
                </a:solidFill>
                <a:latin typeface="맑은 고딕" pitchFamily="34" charset="0"/>
                <a:ea typeface="맑은 고딕" pitchFamily="34" charset="-122"/>
                <a:cs typeface="맑은 고딕" pitchFamily="34" charset="-120"/>
              </a:rPr>
              <a:t>010-4292-1999   |   studio@publicbloom.art   |   publicbloom.art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315200" cy="274320"/>
          </a:xfrm>
          <a:prstGeom prst="rect">
            <a:avLst/>
          </a:prstGeom>
          <a:noFill/>
          <a:ln/>
        </p:spPr>
        <p:txBody>
          <a:bodyPr wrap="square" lIns="0" tIns="0" rIns="0" bIns="0" rtlCol="0" anchor="ctr"/>
          <a:lstStyle/>
          <a:p>
            <a:pPr indent="0" marL="0">
              <a:buNone/>
            </a:pPr>
            <a:r>
              <a:rPr lang="en-US" sz="1200" b="1" spc="200" kern="0" dirty="0">
                <a:solidFill>
                  <a:srgbClr val="0075C9"/>
                </a:solidFill>
                <a:latin typeface="맑은 고딕" pitchFamily="34" charset="0"/>
                <a:ea typeface="맑은 고딕" pitchFamily="34" charset="-122"/>
                <a:cs typeface="맑은 고딕" pitchFamily="34" charset="-120"/>
              </a:rPr>
              <a:t>WHO WE ARE</a:t>
            </a:r>
            <a:endParaRPr lang="en-US" sz="1200" dirty="0"/>
          </a:p>
        </p:txBody>
      </p:sp>
      <p:sp>
        <p:nvSpPr>
          <p:cNvPr id="3" name="Text 1"/>
          <p:cNvSpPr/>
          <p:nvPr/>
        </p:nvSpPr>
        <p:spPr>
          <a:xfrm>
            <a:off x="640080" y="749808"/>
            <a:ext cx="8412480" cy="932688"/>
          </a:xfrm>
          <a:prstGeom prst="rect">
            <a:avLst/>
          </a:prstGeom>
          <a:noFill/>
          <a:ln/>
        </p:spPr>
        <p:txBody>
          <a:bodyPr wrap="square" lIns="0" tIns="0" rIns="0" bIns="0" rtlCol="0" anchor="t"/>
          <a:lstStyle/>
          <a:p>
            <a:pPr indent="0" marL="0">
              <a:buNone/>
            </a:pPr>
            <a:r>
              <a:rPr lang="en-US" sz="3200" b="1" dirty="0">
                <a:solidFill>
                  <a:srgbClr val="101B33"/>
                </a:solidFill>
                <a:latin typeface="맑은 고딕" pitchFamily="34" charset="0"/>
                <a:ea typeface="맑은 고딕" pitchFamily="34" charset="-122"/>
                <a:cs typeface="맑은 고딕" pitchFamily="34" charset="-120"/>
              </a:rPr>
              <a:t>화면 콘텐츠부터 화면 자체까지</a:t>
            </a:r>
            <a:endParaRPr lang="en-US" sz="3200" dirty="0"/>
          </a:p>
        </p:txBody>
      </p:sp>
      <p:sp>
        <p:nvSpPr>
          <p:cNvPr id="4" name="Text 2"/>
          <p:cNvSpPr/>
          <p:nvPr/>
        </p:nvSpPr>
        <p:spPr>
          <a:xfrm>
            <a:off x="640080" y="1691640"/>
            <a:ext cx="10881360" cy="777240"/>
          </a:xfrm>
          <a:prstGeom prst="rect">
            <a:avLst/>
          </a:prstGeom>
          <a:noFill/>
          <a:ln/>
        </p:spPr>
        <p:txBody>
          <a:bodyPr wrap="square" lIns="0" tIns="0" rIns="0" bIns="0" rtlCol="0" anchor="ctr"/>
          <a:lstStyle/>
          <a:p>
            <a:pPr indent="0" marL="0">
              <a:lnSpc>
                <a:spcPts val="2400"/>
              </a:lnSpc>
              <a:buNone/>
            </a:pPr>
            <a:r>
              <a:rPr lang="en-US" sz="1400" dirty="0">
                <a:solidFill>
                  <a:srgbClr val="4A5262"/>
                </a:solidFill>
                <a:latin typeface="맑은 고딕" pitchFamily="34" charset="0"/>
                <a:ea typeface="맑은 고딕" pitchFamily="34" charset="-122"/>
                <a:cs typeface="맑은 고딕" pitchFamily="34" charset="-120"/>
              </a:rPr>
              <a:t>오늘은 봄날은 대구광역시 수성구에 있는 여성기업이자 AI 미디어아트 기업입니다.</a:t>
            </a:r>
            <a:endParaRPr lang="en-US" sz="1400" dirty="0"/>
          </a:p>
          <a:p>
            <a:pPr indent="0" marL="0">
              <a:lnSpc>
                <a:spcPts val="2400"/>
              </a:lnSpc>
              <a:buNone/>
            </a:pPr>
            <a:r>
              <a:rPr lang="en-US" sz="1400" dirty="0">
                <a:solidFill>
                  <a:srgbClr val="4A5262"/>
                </a:solidFill>
                <a:latin typeface="맑은 고딕" pitchFamily="34" charset="0"/>
                <a:ea typeface="맑은 고딕" pitchFamily="34" charset="-122"/>
                <a:cs typeface="맑은 고딕" pitchFamily="34" charset="-120"/>
              </a:rPr>
              <a:t>미디어아트를 영상 편집이 아니라 코드로 만들고, LED 패널·전광판 설치와 빔프로젝터 미디어파사드 시공까지 직접 수행합니다.</a:t>
            </a:r>
            <a:endParaRPr lang="en-US" sz="1400" dirty="0"/>
          </a:p>
        </p:txBody>
      </p:sp>
      <p:sp>
        <p:nvSpPr>
          <p:cNvPr id="5" name="Shape 3"/>
          <p:cNvSpPr/>
          <p:nvPr/>
        </p:nvSpPr>
        <p:spPr>
          <a:xfrm>
            <a:off x="640080" y="2697480"/>
            <a:ext cx="2606040" cy="3200400"/>
          </a:xfrm>
          <a:prstGeom prst="roundRect">
            <a:avLst>
              <a:gd name="adj" fmla="val 2105"/>
            </a:avLst>
          </a:prstGeom>
          <a:solidFill>
            <a:srgbClr val="FFFFFF"/>
          </a:solidFill>
          <a:ln w="12700">
            <a:solidFill>
              <a:srgbClr val="DFE3EA"/>
            </a:solidFill>
            <a:prstDash val="solid"/>
          </a:ln>
          <a:effectLst>
            <a:outerShdw sx="100000" sy="100000" kx="0" ky="0" algn="bl" rotWithShape="0" blurRad="152400" dist="38100" dir="5400000">
              <a:srgbClr val="101B33">
                <a:alpha val="7000"/>
              </a:srgbClr>
            </a:outerShdw>
          </a:effectLst>
        </p:spPr>
        <p:txBody>
          <a:bodyPr/>
          <a:p/>
        </p:txBody>
      </p:sp>
      <p:sp>
        <p:nvSpPr>
          <p:cNvPr id="6" name="Shape 4"/>
          <p:cNvSpPr/>
          <p:nvPr/>
        </p:nvSpPr>
        <p:spPr>
          <a:xfrm>
            <a:off x="960120" y="2990088"/>
            <a:ext cx="420624" cy="420624"/>
          </a:xfrm>
          <a:prstGeom prst="ellipse">
            <a:avLst/>
          </a:prstGeom>
          <a:solidFill>
            <a:srgbClr val="0075C9"/>
          </a:solidFill>
          <a:ln w="12700">
            <a:solidFill>
              <a:srgbClr val="0075C9"/>
            </a:solidFill>
            <a:prstDash val="solid"/>
          </a:ln>
        </p:spPr>
        <p:txBody>
          <a:bodyPr/>
          <a:p/>
        </p:txBody>
      </p:sp>
      <p:sp>
        <p:nvSpPr>
          <p:cNvPr id="7" name="Text 5"/>
          <p:cNvSpPr/>
          <p:nvPr/>
        </p:nvSpPr>
        <p:spPr>
          <a:xfrm>
            <a:off x="960120" y="299008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01</a:t>
            </a:r>
            <a:endParaRPr lang="en-US" sz="1300" dirty="0"/>
          </a:p>
        </p:txBody>
      </p:sp>
      <p:sp>
        <p:nvSpPr>
          <p:cNvPr id="8" name="Text 6"/>
          <p:cNvSpPr/>
          <p:nvPr/>
        </p:nvSpPr>
        <p:spPr>
          <a:xfrm>
            <a:off x="960120" y="3538728"/>
            <a:ext cx="1965960" cy="658368"/>
          </a:xfrm>
          <a:prstGeom prst="rect">
            <a:avLst/>
          </a:prstGeom>
          <a:noFill/>
          <a:ln/>
        </p:spPr>
        <p:txBody>
          <a:bodyPr wrap="square" lIns="0" tIns="0" rIns="0" bIns="0" rtlCol="0" anchor="t"/>
          <a:lstStyle/>
          <a:p>
            <a:pPr indent="0" marL="0">
              <a:buNone/>
            </a:pPr>
            <a:r>
              <a:rPr lang="en-US" sz="1500" b="1" dirty="0">
                <a:solidFill>
                  <a:srgbClr val="101B33"/>
                </a:solidFill>
                <a:latin typeface="맑은 고딕" pitchFamily="34" charset="0"/>
                <a:ea typeface="맑은 고딕" pitchFamily="34" charset="-122"/>
                <a:cs typeface="맑은 고딕" pitchFamily="34" charset="-120"/>
              </a:rPr>
              <a:t>AI · 코드 기반 미디어아트 제작</a:t>
            </a:r>
            <a:endParaRPr lang="en-US" sz="1500" dirty="0"/>
          </a:p>
        </p:txBody>
      </p:sp>
      <p:sp>
        <p:nvSpPr>
          <p:cNvPr id="9" name="Text 7"/>
          <p:cNvSpPr/>
          <p:nvPr/>
        </p:nvSpPr>
        <p:spPr>
          <a:xfrm>
            <a:off x="960120" y="4251960"/>
            <a:ext cx="1965960" cy="1481328"/>
          </a:xfrm>
          <a:prstGeom prst="rect">
            <a:avLst/>
          </a:prstGeom>
          <a:noFill/>
          <a:ln/>
        </p:spPr>
        <p:txBody>
          <a:bodyPr wrap="square" lIns="0" tIns="0" rIns="0" bIns="0" rtlCol="0" anchor="t"/>
          <a:lstStyle/>
          <a:p>
            <a:pPr indent="0" marL="0">
              <a:lnSpc>
                <a:spcPts val="1500"/>
              </a:lnSpc>
              <a:buNone/>
            </a:pPr>
            <a:r>
              <a:rPr lang="en-US" sz="1000" dirty="0">
                <a:solidFill>
                  <a:srgbClr val="4A5262"/>
                </a:solidFill>
                <a:latin typeface="맑은 고딕" pitchFamily="34" charset="0"/>
                <a:ea typeface="맑은 고딕" pitchFamily="34" charset="-122"/>
                <a:cs typeface="맑은 고딕" pitchFamily="34" charset="-120"/>
              </a:rPr>
              <a:t>영상 편집이 아니라 코드로 만듭니다. 현장 화면 비율·해상도에 맞춰 다시 출력할 수 있고, 데이터를 연결하면 화면이 매일 달라집니다.</a:t>
            </a:r>
            <a:endParaRPr lang="en-US" sz="1000" dirty="0"/>
          </a:p>
        </p:txBody>
      </p:sp>
      <p:sp>
        <p:nvSpPr>
          <p:cNvPr id="10" name="Shape 8"/>
          <p:cNvSpPr/>
          <p:nvPr/>
        </p:nvSpPr>
        <p:spPr>
          <a:xfrm>
            <a:off x="3474720" y="2697480"/>
            <a:ext cx="2606040" cy="3200400"/>
          </a:xfrm>
          <a:prstGeom prst="roundRect">
            <a:avLst>
              <a:gd name="adj" fmla="val 2105"/>
            </a:avLst>
          </a:prstGeom>
          <a:solidFill>
            <a:srgbClr val="FFFFFF"/>
          </a:solidFill>
          <a:ln w="12700">
            <a:solidFill>
              <a:srgbClr val="DFE3EA"/>
            </a:solidFill>
            <a:prstDash val="solid"/>
          </a:ln>
          <a:effectLst>
            <a:outerShdw sx="100000" sy="100000" kx="0" ky="0" algn="bl" rotWithShape="0" blurRad="152400" dist="38100" dir="5400000">
              <a:srgbClr val="101B33">
                <a:alpha val="7000"/>
              </a:srgbClr>
            </a:outerShdw>
          </a:effectLst>
        </p:spPr>
        <p:txBody>
          <a:bodyPr/>
          <a:p/>
        </p:txBody>
      </p:sp>
      <p:sp>
        <p:nvSpPr>
          <p:cNvPr id="11" name="Shape 9"/>
          <p:cNvSpPr/>
          <p:nvPr/>
        </p:nvSpPr>
        <p:spPr>
          <a:xfrm>
            <a:off x="3794760" y="2990088"/>
            <a:ext cx="420624" cy="420624"/>
          </a:xfrm>
          <a:prstGeom prst="ellipse">
            <a:avLst/>
          </a:prstGeom>
          <a:solidFill>
            <a:srgbClr val="0075C9"/>
          </a:solidFill>
          <a:ln w="12700">
            <a:solidFill>
              <a:srgbClr val="0075C9"/>
            </a:solidFill>
            <a:prstDash val="solid"/>
          </a:ln>
        </p:spPr>
        <p:txBody>
          <a:bodyPr/>
          <a:p/>
        </p:txBody>
      </p:sp>
      <p:sp>
        <p:nvSpPr>
          <p:cNvPr id="12" name="Text 10"/>
          <p:cNvSpPr/>
          <p:nvPr/>
        </p:nvSpPr>
        <p:spPr>
          <a:xfrm>
            <a:off x="3794760" y="299008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02</a:t>
            </a:r>
            <a:endParaRPr lang="en-US" sz="1300" dirty="0"/>
          </a:p>
        </p:txBody>
      </p:sp>
      <p:sp>
        <p:nvSpPr>
          <p:cNvPr id="13" name="Text 11"/>
          <p:cNvSpPr/>
          <p:nvPr/>
        </p:nvSpPr>
        <p:spPr>
          <a:xfrm>
            <a:off x="3794760" y="3538728"/>
            <a:ext cx="1965960" cy="658368"/>
          </a:xfrm>
          <a:prstGeom prst="rect">
            <a:avLst/>
          </a:prstGeom>
          <a:noFill/>
          <a:ln/>
        </p:spPr>
        <p:txBody>
          <a:bodyPr wrap="square" lIns="0" tIns="0" rIns="0" bIns="0" rtlCol="0" anchor="t"/>
          <a:lstStyle/>
          <a:p>
            <a:pPr indent="0" marL="0">
              <a:buNone/>
            </a:pPr>
            <a:r>
              <a:rPr lang="en-US" sz="1500" b="1" dirty="0">
                <a:solidFill>
                  <a:srgbClr val="101B33"/>
                </a:solidFill>
                <a:latin typeface="맑은 고딕" pitchFamily="34" charset="0"/>
                <a:ea typeface="맑은 고딕" pitchFamily="34" charset="-122"/>
                <a:cs typeface="맑은 고딕" pitchFamily="34" charset="-120"/>
              </a:rPr>
              <a:t>빠른 제작</a:t>
            </a:r>
            <a:endParaRPr lang="en-US" sz="1500" dirty="0"/>
          </a:p>
        </p:txBody>
      </p:sp>
      <p:sp>
        <p:nvSpPr>
          <p:cNvPr id="14" name="Text 12"/>
          <p:cNvSpPr/>
          <p:nvPr/>
        </p:nvSpPr>
        <p:spPr>
          <a:xfrm>
            <a:off x="3794760" y="4251960"/>
            <a:ext cx="1965960" cy="1481328"/>
          </a:xfrm>
          <a:prstGeom prst="rect">
            <a:avLst/>
          </a:prstGeom>
          <a:noFill/>
          <a:ln/>
        </p:spPr>
        <p:txBody>
          <a:bodyPr wrap="square" lIns="0" tIns="0" rIns="0" bIns="0" rtlCol="0" anchor="t"/>
          <a:lstStyle/>
          <a:p>
            <a:pPr indent="0" marL="0">
              <a:lnSpc>
                <a:spcPts val="1500"/>
              </a:lnSpc>
              <a:buNone/>
            </a:pPr>
            <a:r>
              <a:rPr lang="en-US" sz="1000" dirty="0">
                <a:solidFill>
                  <a:srgbClr val="4A5262"/>
                </a:solidFill>
                <a:latin typeface="맑은 고딕" pitchFamily="34" charset="0"/>
                <a:ea typeface="맑은 고딕" pitchFamily="34" charset="-122"/>
                <a:cs typeface="맑은 고딕" pitchFamily="34" charset="-120"/>
              </a:rPr>
              <a:t>시안 3종을 요청 후 1주일 이내에 제시합니다. 영상 외주 제작이 통상 1개월 이상 걸리는 것과 비교되는 지점입니다.</a:t>
            </a:r>
            <a:endParaRPr lang="en-US" sz="1000" dirty="0"/>
          </a:p>
        </p:txBody>
      </p:sp>
      <p:sp>
        <p:nvSpPr>
          <p:cNvPr id="15" name="Shape 13"/>
          <p:cNvSpPr/>
          <p:nvPr/>
        </p:nvSpPr>
        <p:spPr>
          <a:xfrm>
            <a:off x="6309360" y="2697480"/>
            <a:ext cx="2606040" cy="3200400"/>
          </a:xfrm>
          <a:prstGeom prst="roundRect">
            <a:avLst>
              <a:gd name="adj" fmla="val 2105"/>
            </a:avLst>
          </a:prstGeom>
          <a:solidFill>
            <a:srgbClr val="FFFFFF"/>
          </a:solidFill>
          <a:ln w="12700">
            <a:solidFill>
              <a:srgbClr val="DFE3EA"/>
            </a:solidFill>
            <a:prstDash val="solid"/>
          </a:ln>
          <a:effectLst>
            <a:outerShdw sx="100000" sy="100000" kx="0" ky="0" algn="bl" rotWithShape="0" blurRad="152400" dist="38100" dir="5400000">
              <a:srgbClr val="101B33">
                <a:alpha val="7000"/>
              </a:srgbClr>
            </a:outerShdw>
          </a:effectLst>
        </p:spPr>
        <p:txBody>
          <a:bodyPr/>
          <a:p/>
        </p:txBody>
      </p:sp>
      <p:sp>
        <p:nvSpPr>
          <p:cNvPr id="16" name="Shape 14"/>
          <p:cNvSpPr/>
          <p:nvPr/>
        </p:nvSpPr>
        <p:spPr>
          <a:xfrm>
            <a:off x="6629400" y="2990088"/>
            <a:ext cx="420624" cy="420624"/>
          </a:xfrm>
          <a:prstGeom prst="ellipse">
            <a:avLst/>
          </a:prstGeom>
          <a:solidFill>
            <a:srgbClr val="0075C9"/>
          </a:solidFill>
          <a:ln w="12700">
            <a:solidFill>
              <a:srgbClr val="0075C9"/>
            </a:solidFill>
            <a:prstDash val="solid"/>
          </a:ln>
        </p:spPr>
        <p:txBody>
          <a:bodyPr/>
          <a:p/>
        </p:txBody>
      </p:sp>
      <p:sp>
        <p:nvSpPr>
          <p:cNvPr id="17" name="Text 15"/>
          <p:cNvSpPr/>
          <p:nvPr/>
        </p:nvSpPr>
        <p:spPr>
          <a:xfrm>
            <a:off x="6629400" y="299008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03</a:t>
            </a:r>
            <a:endParaRPr lang="en-US" sz="1300" dirty="0"/>
          </a:p>
        </p:txBody>
      </p:sp>
      <p:sp>
        <p:nvSpPr>
          <p:cNvPr id="18" name="Text 16"/>
          <p:cNvSpPr/>
          <p:nvPr/>
        </p:nvSpPr>
        <p:spPr>
          <a:xfrm>
            <a:off x="6629400" y="3538728"/>
            <a:ext cx="1965960" cy="658368"/>
          </a:xfrm>
          <a:prstGeom prst="rect">
            <a:avLst/>
          </a:prstGeom>
          <a:noFill/>
          <a:ln/>
        </p:spPr>
        <p:txBody>
          <a:bodyPr wrap="square" lIns="0" tIns="0" rIns="0" bIns="0" rtlCol="0" anchor="t"/>
          <a:lstStyle/>
          <a:p>
            <a:pPr indent="0" marL="0">
              <a:buNone/>
            </a:pPr>
            <a:r>
              <a:rPr lang="en-US" sz="1500" b="1" dirty="0">
                <a:solidFill>
                  <a:srgbClr val="101B33"/>
                </a:solidFill>
                <a:latin typeface="맑은 고딕" pitchFamily="34" charset="0"/>
                <a:ea typeface="맑은 고딕" pitchFamily="34" charset="-122"/>
                <a:cs typeface="맑은 고딕" pitchFamily="34" charset="-120"/>
              </a:rPr>
              <a:t>LED 패널 · LED 전광판 설치</a:t>
            </a:r>
            <a:endParaRPr lang="en-US" sz="1500" dirty="0"/>
          </a:p>
        </p:txBody>
      </p:sp>
      <p:sp>
        <p:nvSpPr>
          <p:cNvPr id="19" name="Text 17"/>
          <p:cNvSpPr/>
          <p:nvPr/>
        </p:nvSpPr>
        <p:spPr>
          <a:xfrm>
            <a:off x="6629400" y="4251960"/>
            <a:ext cx="1965960" cy="1481328"/>
          </a:xfrm>
          <a:prstGeom prst="rect">
            <a:avLst/>
          </a:prstGeom>
          <a:noFill/>
          <a:ln/>
        </p:spPr>
        <p:txBody>
          <a:bodyPr wrap="square" lIns="0" tIns="0" rIns="0" bIns="0" rtlCol="0" anchor="t"/>
          <a:lstStyle/>
          <a:p>
            <a:pPr indent="0" marL="0">
              <a:lnSpc>
                <a:spcPts val="1500"/>
              </a:lnSpc>
              <a:buNone/>
            </a:pPr>
            <a:r>
              <a:rPr lang="en-US" sz="1000" dirty="0">
                <a:solidFill>
                  <a:srgbClr val="4A5262"/>
                </a:solidFill>
                <a:latin typeface="맑은 고딕" pitchFamily="34" charset="0"/>
                <a:ea typeface="맑은 고딕" pitchFamily="34" charset="-122"/>
                <a:cs typeface="맑은 고딕" pitchFamily="34" charset="-120"/>
              </a:rPr>
              <a:t>로비 미디어월, 외벽 전광판, 세로형 사이니지를 사양 산정부터 공급·설치·배선까지 직접 시공합니다.</a:t>
            </a:r>
            <a:endParaRPr lang="en-US" sz="1000" dirty="0"/>
          </a:p>
        </p:txBody>
      </p:sp>
      <p:sp>
        <p:nvSpPr>
          <p:cNvPr id="20" name="Shape 18"/>
          <p:cNvSpPr/>
          <p:nvPr/>
        </p:nvSpPr>
        <p:spPr>
          <a:xfrm>
            <a:off x="9144000" y="2697480"/>
            <a:ext cx="2606040" cy="3200400"/>
          </a:xfrm>
          <a:prstGeom prst="roundRect">
            <a:avLst>
              <a:gd name="adj" fmla="val 2105"/>
            </a:avLst>
          </a:prstGeom>
          <a:solidFill>
            <a:srgbClr val="FFFFFF"/>
          </a:solidFill>
          <a:ln w="12700">
            <a:solidFill>
              <a:srgbClr val="DFE3EA"/>
            </a:solidFill>
            <a:prstDash val="solid"/>
          </a:ln>
          <a:effectLst>
            <a:outerShdw sx="100000" sy="100000" kx="0" ky="0" algn="bl" rotWithShape="0" blurRad="152400" dist="38100" dir="5400000">
              <a:srgbClr val="101B33">
                <a:alpha val="7000"/>
              </a:srgbClr>
            </a:outerShdw>
          </a:effectLst>
        </p:spPr>
        <p:txBody>
          <a:bodyPr/>
          <a:p/>
        </p:txBody>
      </p:sp>
      <p:sp>
        <p:nvSpPr>
          <p:cNvPr id="21" name="Shape 19"/>
          <p:cNvSpPr/>
          <p:nvPr/>
        </p:nvSpPr>
        <p:spPr>
          <a:xfrm>
            <a:off x="9464040" y="2990088"/>
            <a:ext cx="420624" cy="420624"/>
          </a:xfrm>
          <a:prstGeom prst="ellipse">
            <a:avLst/>
          </a:prstGeom>
          <a:solidFill>
            <a:srgbClr val="0075C9"/>
          </a:solidFill>
          <a:ln w="12700">
            <a:solidFill>
              <a:srgbClr val="0075C9"/>
            </a:solidFill>
            <a:prstDash val="solid"/>
          </a:ln>
        </p:spPr>
        <p:txBody>
          <a:bodyPr/>
          <a:p/>
        </p:txBody>
      </p:sp>
      <p:sp>
        <p:nvSpPr>
          <p:cNvPr id="22" name="Text 20"/>
          <p:cNvSpPr/>
          <p:nvPr/>
        </p:nvSpPr>
        <p:spPr>
          <a:xfrm>
            <a:off x="9464040" y="299008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04</a:t>
            </a:r>
            <a:endParaRPr lang="en-US" sz="1300" dirty="0"/>
          </a:p>
        </p:txBody>
      </p:sp>
      <p:sp>
        <p:nvSpPr>
          <p:cNvPr id="23" name="Text 21"/>
          <p:cNvSpPr/>
          <p:nvPr/>
        </p:nvSpPr>
        <p:spPr>
          <a:xfrm>
            <a:off x="9464040" y="3538728"/>
            <a:ext cx="1965960" cy="658368"/>
          </a:xfrm>
          <a:prstGeom prst="rect">
            <a:avLst/>
          </a:prstGeom>
          <a:noFill/>
          <a:ln/>
        </p:spPr>
        <p:txBody>
          <a:bodyPr wrap="square" lIns="0" tIns="0" rIns="0" bIns="0" rtlCol="0" anchor="t"/>
          <a:lstStyle/>
          <a:p>
            <a:pPr indent="0" marL="0">
              <a:buNone/>
            </a:pPr>
            <a:r>
              <a:rPr lang="en-US" sz="1500" b="1" dirty="0">
                <a:solidFill>
                  <a:srgbClr val="101B33"/>
                </a:solidFill>
                <a:latin typeface="맑은 고딕" pitchFamily="34" charset="0"/>
                <a:ea typeface="맑은 고딕" pitchFamily="34" charset="-122"/>
                <a:cs typeface="맑은 고딕" pitchFamily="34" charset="-120"/>
              </a:rPr>
              <a:t>빔프로젝터 미디어파사드</a:t>
            </a:r>
            <a:endParaRPr lang="en-US" sz="1500" dirty="0"/>
          </a:p>
        </p:txBody>
      </p:sp>
      <p:sp>
        <p:nvSpPr>
          <p:cNvPr id="24" name="Text 22"/>
          <p:cNvSpPr/>
          <p:nvPr/>
        </p:nvSpPr>
        <p:spPr>
          <a:xfrm>
            <a:off x="9464040" y="4251960"/>
            <a:ext cx="1965960" cy="1481328"/>
          </a:xfrm>
          <a:prstGeom prst="rect">
            <a:avLst/>
          </a:prstGeom>
          <a:noFill/>
          <a:ln/>
        </p:spPr>
        <p:txBody>
          <a:bodyPr wrap="square" lIns="0" tIns="0" rIns="0" bIns="0" rtlCol="0" anchor="t"/>
          <a:lstStyle/>
          <a:p>
            <a:pPr indent="0" marL="0">
              <a:lnSpc>
                <a:spcPts val="1500"/>
              </a:lnSpc>
              <a:buNone/>
            </a:pPr>
            <a:r>
              <a:rPr lang="en-US" sz="1000" dirty="0">
                <a:solidFill>
                  <a:srgbClr val="4A5262"/>
                </a:solidFill>
                <a:latin typeface="맑은 고딕" pitchFamily="34" charset="0"/>
                <a:ea typeface="맑은 고딕" pitchFamily="34" charset="-122"/>
                <a:cs typeface="맑은 고딕" pitchFamily="34" charset="-120"/>
              </a:rPr>
              <a:t>건물 외벽과 전시장 벽면에 빔프로젝터를 설치하고 프로젝션 매핑으로 미디어파사드를 만듭니다.</a:t>
            </a:r>
            <a:endParaRPr lang="en-US" sz="1000" dirty="0"/>
          </a:p>
        </p:txBody>
      </p:sp>
      <p:sp>
        <p:nvSpPr>
          <p:cNvPr id="25" name="Text 23"/>
          <p:cNvSpPr/>
          <p:nvPr/>
        </p:nvSpPr>
        <p:spPr>
          <a:xfrm>
            <a:off x="11155680" y="6291072"/>
            <a:ext cx="548640" cy="274320"/>
          </a:xfrm>
          <a:prstGeom prst="rect">
            <a:avLst/>
          </a:prstGeom>
          <a:noFill/>
          <a:ln/>
        </p:spPr>
        <p:txBody>
          <a:bodyPr wrap="square" lIns="0" tIns="0" rIns="0" bIns="0" rtlCol="0" anchor="ctr"/>
          <a:lstStyle/>
          <a:p>
            <a:pPr algn="r" indent="0" marL="0">
              <a:buNone/>
            </a:pPr>
            <a:r>
              <a:rPr lang="en-US" sz="1000" dirty="0">
                <a:solidFill>
                  <a:srgbClr val="9AA3B0"/>
                </a:solidFill>
                <a:latin typeface="맑은 고딕" pitchFamily="34" charset="0"/>
                <a:ea typeface="맑은 고딕" pitchFamily="34" charset="-122"/>
                <a:cs typeface="맑은 고딕"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640080" y="457200"/>
            <a:ext cx="7315200" cy="274320"/>
          </a:xfrm>
          <a:prstGeom prst="rect">
            <a:avLst/>
          </a:prstGeom>
          <a:noFill/>
          <a:ln/>
        </p:spPr>
        <p:txBody>
          <a:bodyPr wrap="square" lIns="0" tIns="0" rIns="0" bIns="0" rtlCol="0" anchor="ctr"/>
          <a:lstStyle/>
          <a:p>
            <a:pPr indent="0" marL="0">
              <a:buNone/>
            </a:pPr>
            <a:r>
              <a:rPr lang="en-US" sz="1200" b="1" spc="200" kern="0" dirty="0">
                <a:solidFill>
                  <a:srgbClr val="0075C9"/>
                </a:solidFill>
                <a:latin typeface="맑은 고딕" pitchFamily="34" charset="0"/>
                <a:ea typeface="맑은 고딕" pitchFamily="34" charset="-122"/>
                <a:cs typeface="맑은 고딕" pitchFamily="34" charset="-120"/>
              </a:rPr>
              <a:t>WHY US</a:t>
            </a:r>
            <a:endParaRPr lang="en-US" sz="1200" dirty="0"/>
          </a:p>
        </p:txBody>
      </p:sp>
      <p:sp>
        <p:nvSpPr>
          <p:cNvPr id="3" name="Text 1"/>
          <p:cNvSpPr/>
          <p:nvPr/>
        </p:nvSpPr>
        <p:spPr>
          <a:xfrm>
            <a:off x="640080" y="749808"/>
            <a:ext cx="8412480" cy="932688"/>
          </a:xfrm>
          <a:prstGeom prst="rect">
            <a:avLst/>
          </a:prstGeom>
          <a:noFill/>
          <a:ln/>
        </p:spPr>
        <p:txBody>
          <a:bodyPr wrap="square" lIns="0" tIns="0" rIns="0" bIns="0" rtlCol="0" anchor="t"/>
          <a:lstStyle/>
          <a:p>
            <a:pPr indent="0" marL="0">
              <a:buNone/>
            </a:pPr>
            <a:r>
              <a:rPr lang="en-US" sz="3200" b="1" dirty="0">
                <a:solidFill>
                  <a:srgbClr val="101B33"/>
                </a:solidFill>
                <a:latin typeface="맑은 고딕" pitchFamily="34" charset="0"/>
                <a:ea typeface="맑은 고딕" pitchFamily="34" charset="-122"/>
                <a:cs typeface="맑은 고딕" pitchFamily="34" charset="-120"/>
              </a:rPr>
              <a:t>발주처가 겪던 세 가지가 사라집니다</a:t>
            </a:r>
            <a:endParaRPr lang="en-US" sz="3200" dirty="0"/>
          </a:p>
        </p:txBody>
      </p:sp>
      <p:sp>
        <p:nvSpPr>
          <p:cNvPr id="4" name="Shape 2"/>
          <p:cNvSpPr/>
          <p:nvPr/>
        </p:nvSpPr>
        <p:spPr>
          <a:xfrm>
            <a:off x="640080" y="1920240"/>
            <a:ext cx="3520440" cy="3840480"/>
          </a:xfrm>
          <a:prstGeom prst="roundRect">
            <a:avLst>
              <a:gd name="adj" fmla="val 1558"/>
            </a:avLst>
          </a:prstGeom>
          <a:solidFill>
            <a:srgbClr val="FFFFFF"/>
          </a:solidFill>
          <a:ln w="12700">
            <a:solidFill>
              <a:srgbClr val="DFE3EA"/>
            </a:solidFill>
            <a:prstDash val="solid"/>
          </a:ln>
          <a:effectLst>
            <a:outerShdw sx="100000" sy="100000" kx="0" ky="0" algn="bl" rotWithShape="0" blurRad="152400" dist="38100" dir="5400000">
              <a:srgbClr val="101B33">
                <a:alpha val="7000"/>
              </a:srgbClr>
            </a:outerShdw>
          </a:effectLst>
        </p:spPr>
        <p:txBody>
          <a:bodyPr/>
          <a:p/>
        </p:txBody>
      </p:sp>
      <p:sp>
        <p:nvSpPr>
          <p:cNvPr id="5" name="Text 3"/>
          <p:cNvSpPr/>
          <p:nvPr/>
        </p:nvSpPr>
        <p:spPr>
          <a:xfrm>
            <a:off x="1005840" y="2377440"/>
            <a:ext cx="2788920" cy="914400"/>
          </a:xfrm>
          <a:prstGeom prst="rect">
            <a:avLst/>
          </a:prstGeom>
          <a:noFill/>
          <a:ln/>
        </p:spPr>
        <p:txBody>
          <a:bodyPr wrap="square" lIns="0" tIns="0" rIns="0" bIns="0" rtlCol="0" anchor="ctr"/>
          <a:lstStyle/>
          <a:p>
            <a:pPr indent="0" marL="0">
              <a:buNone/>
            </a:pPr>
            <a:r>
              <a:rPr lang="en-US" sz="3400" b="1" dirty="0">
                <a:solidFill>
                  <a:srgbClr val="101B33"/>
                </a:solidFill>
                <a:latin typeface="맑은 고딕" pitchFamily="34" charset="0"/>
                <a:ea typeface="맑은 고딕" pitchFamily="34" charset="-122"/>
                <a:cs typeface="맑은 고딕" pitchFamily="34" charset="-120"/>
              </a:rPr>
              <a:t>여성기업</a:t>
            </a:r>
            <a:pPr indent="0" marL="0">
              <a:buNone/>
            </a:pPr>
            <a:endParaRPr lang="en-US" sz="3400" dirty="0"/>
          </a:p>
        </p:txBody>
      </p:sp>
      <p:sp>
        <p:nvSpPr>
          <p:cNvPr id="6" name="Text 4"/>
          <p:cNvSpPr/>
          <p:nvPr/>
        </p:nvSpPr>
        <p:spPr>
          <a:xfrm>
            <a:off x="1005840" y="3383280"/>
            <a:ext cx="2788920" cy="457200"/>
          </a:xfrm>
          <a:prstGeom prst="rect">
            <a:avLst/>
          </a:prstGeom>
          <a:noFill/>
          <a:ln/>
        </p:spPr>
        <p:txBody>
          <a:bodyPr wrap="square" lIns="0" tIns="0" rIns="0" bIns="0" rtlCol="0" anchor="t"/>
          <a:lstStyle/>
          <a:p>
            <a:pPr indent="0" marL="0">
              <a:buNone/>
            </a:pPr>
            <a:r>
              <a:rPr lang="en-US" sz="1400" b="1" dirty="0">
                <a:solidFill>
                  <a:srgbClr val="0075C9"/>
                </a:solidFill>
                <a:latin typeface="맑은 고딕" pitchFamily="34" charset="0"/>
                <a:ea typeface="맑은 고딕" pitchFamily="34" charset="-122"/>
                <a:cs typeface="맑은 고딕" pitchFamily="34" charset="-120"/>
              </a:rPr>
              <a:t>공공기관 우선구매 대상</a:t>
            </a:r>
            <a:endParaRPr lang="en-US" sz="1400" dirty="0"/>
          </a:p>
        </p:txBody>
      </p:sp>
      <p:sp>
        <p:nvSpPr>
          <p:cNvPr id="7" name="Text 5"/>
          <p:cNvSpPr/>
          <p:nvPr/>
        </p:nvSpPr>
        <p:spPr>
          <a:xfrm>
            <a:off x="1005840" y="3931920"/>
            <a:ext cx="2788920" cy="1554480"/>
          </a:xfrm>
          <a:prstGeom prst="rect">
            <a:avLst/>
          </a:prstGeom>
          <a:noFill/>
          <a:ln/>
        </p:spPr>
        <p:txBody>
          <a:bodyPr wrap="square" lIns="0" tIns="0" rIns="0" bIns="0" rtlCol="0" anchor="t"/>
          <a:lstStyle/>
          <a:p>
            <a:pPr indent="0" marL="0">
              <a:lnSpc>
                <a:spcPts val="1700"/>
              </a:lnSpc>
              <a:buNone/>
            </a:pPr>
            <a:r>
              <a:rPr lang="en-US" sz="1100" dirty="0">
                <a:solidFill>
                  <a:srgbClr val="4A5262"/>
                </a:solidFill>
                <a:latin typeface="맑은 고딕" pitchFamily="34" charset="0"/>
                <a:ea typeface="맑은 고딕" pitchFamily="34" charset="-122"/>
                <a:cs typeface="맑은 고딕" pitchFamily="34" charset="-120"/>
              </a:rPr>
              <a:t>여성기업 확인서와 직접생산확인증명서를 보유해 우선구매와 중소기업자간 경쟁입찰에 바로 참여합니다. 회계연도 기준 견적서를 즉시 발행합니다.</a:t>
            </a:r>
            <a:endParaRPr lang="en-US" sz="1100" dirty="0"/>
          </a:p>
        </p:txBody>
      </p:sp>
      <p:sp>
        <p:nvSpPr>
          <p:cNvPr id="8" name="Shape 6"/>
          <p:cNvSpPr/>
          <p:nvPr/>
        </p:nvSpPr>
        <p:spPr>
          <a:xfrm>
            <a:off x="4434840" y="1920240"/>
            <a:ext cx="3520440" cy="3840480"/>
          </a:xfrm>
          <a:prstGeom prst="roundRect">
            <a:avLst>
              <a:gd name="adj" fmla="val 1558"/>
            </a:avLst>
          </a:prstGeom>
          <a:solidFill>
            <a:srgbClr val="FFFFFF"/>
          </a:solidFill>
          <a:ln w="12700">
            <a:solidFill>
              <a:srgbClr val="DFE3EA"/>
            </a:solidFill>
            <a:prstDash val="solid"/>
          </a:ln>
          <a:effectLst>
            <a:outerShdw sx="100000" sy="100000" kx="0" ky="0" algn="bl" rotWithShape="0" blurRad="152400" dist="38100" dir="5400000">
              <a:srgbClr val="101B33">
                <a:alpha val="7000"/>
              </a:srgbClr>
            </a:outerShdw>
          </a:effectLst>
        </p:spPr>
        <p:txBody>
          <a:bodyPr/>
          <a:p/>
        </p:txBody>
      </p:sp>
      <p:sp>
        <p:nvSpPr>
          <p:cNvPr id="9" name="Text 7"/>
          <p:cNvSpPr/>
          <p:nvPr/>
        </p:nvSpPr>
        <p:spPr>
          <a:xfrm>
            <a:off x="4800600" y="2377440"/>
            <a:ext cx="2788920" cy="914400"/>
          </a:xfrm>
          <a:prstGeom prst="rect">
            <a:avLst/>
          </a:prstGeom>
          <a:noFill/>
          <a:ln/>
        </p:spPr>
        <p:txBody>
          <a:bodyPr wrap="square" lIns="0" tIns="0" rIns="0" bIns="0" rtlCol="0" anchor="ctr"/>
          <a:lstStyle/>
          <a:p>
            <a:pPr indent="0" marL="0">
              <a:buNone/>
            </a:pPr>
            <a:r>
              <a:rPr lang="en-US" sz="5200" b="1" dirty="0">
                <a:solidFill>
                  <a:srgbClr val="101B33"/>
                </a:solidFill>
                <a:latin typeface="맑은 고딕" pitchFamily="34" charset="0"/>
                <a:ea typeface="맑은 고딕" pitchFamily="34" charset="-122"/>
                <a:cs typeface="맑은 고딕" pitchFamily="34" charset="-120"/>
              </a:rPr>
              <a:t>1</a:t>
            </a:r>
            <a:pPr indent="0" marL="0">
              <a:buNone/>
            </a:pPr>
            <a:r>
              <a:rPr lang="en-US" sz="2000" b="1" dirty="0">
                <a:solidFill>
                  <a:srgbClr val="0075C9"/>
                </a:solidFill>
                <a:latin typeface="맑은 고딕" pitchFamily="34" charset="0"/>
                <a:ea typeface="맑은 고딕" pitchFamily="34" charset="-122"/>
                <a:cs typeface="맑은 고딕" pitchFamily="34" charset="-120"/>
              </a:rPr>
              <a:t>주</a:t>
            </a:r>
            <a:endParaRPr lang="en-US" sz="5200" dirty="0"/>
          </a:p>
        </p:txBody>
      </p:sp>
      <p:sp>
        <p:nvSpPr>
          <p:cNvPr id="10" name="Text 8"/>
          <p:cNvSpPr/>
          <p:nvPr/>
        </p:nvSpPr>
        <p:spPr>
          <a:xfrm>
            <a:off x="4800600" y="3383280"/>
            <a:ext cx="2788920" cy="457200"/>
          </a:xfrm>
          <a:prstGeom prst="rect">
            <a:avLst/>
          </a:prstGeom>
          <a:noFill/>
          <a:ln/>
        </p:spPr>
        <p:txBody>
          <a:bodyPr wrap="square" lIns="0" tIns="0" rIns="0" bIns="0" rtlCol="0" anchor="t"/>
          <a:lstStyle/>
          <a:p>
            <a:pPr indent="0" marL="0">
              <a:buNone/>
            </a:pPr>
            <a:r>
              <a:rPr lang="en-US" sz="1400" b="1" dirty="0">
                <a:solidFill>
                  <a:srgbClr val="0075C9"/>
                </a:solidFill>
                <a:latin typeface="맑은 고딕" pitchFamily="34" charset="0"/>
                <a:ea typeface="맑은 고딕" pitchFamily="34" charset="-122"/>
                <a:cs typeface="맑은 고딕" pitchFamily="34" charset="-120"/>
              </a:rPr>
              <a:t>시안 3종 제시까지</a:t>
            </a:r>
            <a:endParaRPr lang="en-US" sz="1400" dirty="0"/>
          </a:p>
        </p:txBody>
      </p:sp>
      <p:sp>
        <p:nvSpPr>
          <p:cNvPr id="11" name="Text 9"/>
          <p:cNvSpPr/>
          <p:nvPr/>
        </p:nvSpPr>
        <p:spPr>
          <a:xfrm>
            <a:off x="4800600" y="3931920"/>
            <a:ext cx="2788920" cy="1554480"/>
          </a:xfrm>
          <a:prstGeom prst="rect">
            <a:avLst/>
          </a:prstGeom>
          <a:noFill/>
          <a:ln/>
        </p:spPr>
        <p:txBody>
          <a:bodyPr wrap="square" lIns="0" tIns="0" rIns="0" bIns="0" rtlCol="0" anchor="t"/>
          <a:lstStyle/>
          <a:p>
            <a:pPr indent="0" marL="0">
              <a:lnSpc>
                <a:spcPts val="1700"/>
              </a:lnSpc>
              <a:buNone/>
            </a:pPr>
            <a:r>
              <a:rPr lang="en-US" sz="1100" dirty="0">
                <a:solidFill>
                  <a:srgbClr val="4A5262"/>
                </a:solidFill>
                <a:latin typeface="맑은 고딕" pitchFamily="34" charset="0"/>
                <a:ea typeface="맑은 고딕" pitchFamily="34" charset="-122"/>
                <a:cs typeface="맑은 고딕" pitchFamily="34" charset="-120"/>
              </a:rPr>
              <a:t>영상 외주 제작이 통상 1개월 이상 걸리는 데 비해 짧습니다. 미디어아트를 코드로 만들기 때문에 기획·카피·비주얼을 한 번에 생성합니다. 자세히 알려주실수록 시안 디테일이 올라갑니다.</a:t>
            </a:r>
            <a:endParaRPr lang="en-US" sz="1100" dirty="0"/>
          </a:p>
        </p:txBody>
      </p:sp>
      <p:sp>
        <p:nvSpPr>
          <p:cNvPr id="12" name="Shape 10"/>
          <p:cNvSpPr/>
          <p:nvPr/>
        </p:nvSpPr>
        <p:spPr>
          <a:xfrm>
            <a:off x="8229600" y="1920240"/>
            <a:ext cx="3520440" cy="3840480"/>
          </a:xfrm>
          <a:prstGeom prst="roundRect">
            <a:avLst>
              <a:gd name="adj" fmla="val 1558"/>
            </a:avLst>
          </a:prstGeom>
          <a:solidFill>
            <a:srgbClr val="FFFFFF"/>
          </a:solidFill>
          <a:ln w="12700">
            <a:solidFill>
              <a:srgbClr val="DFE3EA"/>
            </a:solidFill>
            <a:prstDash val="solid"/>
          </a:ln>
          <a:effectLst>
            <a:outerShdw sx="100000" sy="100000" kx="0" ky="0" algn="bl" rotWithShape="0" blurRad="152400" dist="38100" dir="5400000">
              <a:srgbClr val="101B33">
                <a:alpha val="7000"/>
              </a:srgbClr>
            </a:outerShdw>
          </a:effectLst>
        </p:spPr>
        <p:txBody>
          <a:bodyPr/>
          <a:p/>
        </p:txBody>
      </p:sp>
      <p:sp>
        <p:nvSpPr>
          <p:cNvPr id="13" name="Text 11"/>
          <p:cNvSpPr/>
          <p:nvPr/>
        </p:nvSpPr>
        <p:spPr>
          <a:xfrm>
            <a:off x="8595360" y="2377440"/>
            <a:ext cx="2788920" cy="914400"/>
          </a:xfrm>
          <a:prstGeom prst="rect">
            <a:avLst/>
          </a:prstGeom>
          <a:noFill/>
          <a:ln/>
        </p:spPr>
        <p:txBody>
          <a:bodyPr wrap="square" lIns="0" tIns="0" rIns="0" bIns="0" rtlCol="0" anchor="ctr"/>
          <a:lstStyle/>
          <a:p>
            <a:pPr indent="0" marL="0">
              <a:buNone/>
            </a:pPr>
            <a:r>
              <a:rPr lang="en-US" sz="5200" b="1" dirty="0">
                <a:solidFill>
                  <a:srgbClr val="101B33"/>
                </a:solidFill>
                <a:latin typeface="맑은 고딕" pitchFamily="34" charset="0"/>
                <a:ea typeface="맑은 고딕" pitchFamily="34" charset="-122"/>
                <a:cs typeface="맑은 고딕" pitchFamily="34" charset="-120"/>
              </a:rPr>
              <a:t>1</a:t>
            </a:r>
            <a:pPr indent="0" marL="0">
              <a:buNone/>
            </a:pPr>
            <a:r>
              <a:rPr lang="en-US" sz="2000" b="1" dirty="0">
                <a:solidFill>
                  <a:srgbClr val="0075C9"/>
                </a:solidFill>
                <a:latin typeface="맑은 고딕" pitchFamily="34" charset="0"/>
                <a:ea typeface="맑은 고딕" pitchFamily="34" charset="-122"/>
                <a:cs typeface="맑은 고딕" pitchFamily="34" charset="-120"/>
              </a:rPr>
              <a:t>개 계약</a:t>
            </a:r>
            <a:endParaRPr lang="en-US" sz="5200" dirty="0"/>
          </a:p>
        </p:txBody>
      </p:sp>
      <p:sp>
        <p:nvSpPr>
          <p:cNvPr id="14" name="Text 12"/>
          <p:cNvSpPr/>
          <p:nvPr/>
        </p:nvSpPr>
        <p:spPr>
          <a:xfrm>
            <a:off x="8595360" y="3383280"/>
            <a:ext cx="2788920" cy="457200"/>
          </a:xfrm>
          <a:prstGeom prst="rect">
            <a:avLst/>
          </a:prstGeom>
          <a:noFill/>
          <a:ln/>
        </p:spPr>
        <p:txBody>
          <a:bodyPr wrap="square" lIns="0" tIns="0" rIns="0" bIns="0" rtlCol="0" anchor="t"/>
          <a:lstStyle/>
          <a:p>
            <a:pPr indent="0" marL="0">
              <a:buNone/>
            </a:pPr>
            <a:r>
              <a:rPr lang="en-US" sz="1400" b="1" dirty="0">
                <a:solidFill>
                  <a:srgbClr val="0075C9"/>
                </a:solidFill>
                <a:latin typeface="맑은 고딕" pitchFamily="34" charset="0"/>
                <a:ea typeface="맑은 고딕" pitchFamily="34" charset="-122"/>
                <a:cs typeface="맑은 고딕" pitchFamily="34" charset="-120"/>
              </a:rPr>
              <a:t>콘텐츠와 시공을 한 업체가</a:t>
            </a:r>
            <a:endParaRPr lang="en-US" sz="1400" dirty="0"/>
          </a:p>
        </p:txBody>
      </p:sp>
      <p:sp>
        <p:nvSpPr>
          <p:cNvPr id="15" name="Text 13"/>
          <p:cNvSpPr/>
          <p:nvPr/>
        </p:nvSpPr>
        <p:spPr>
          <a:xfrm>
            <a:off x="8595360" y="3931920"/>
            <a:ext cx="2788920" cy="1554480"/>
          </a:xfrm>
          <a:prstGeom prst="rect">
            <a:avLst/>
          </a:prstGeom>
          <a:noFill/>
          <a:ln/>
        </p:spPr>
        <p:txBody>
          <a:bodyPr wrap="square" lIns="0" tIns="0" rIns="0" bIns="0" rtlCol="0" anchor="t"/>
          <a:lstStyle/>
          <a:p>
            <a:pPr indent="0" marL="0">
              <a:lnSpc>
                <a:spcPts val="1700"/>
              </a:lnSpc>
              <a:buNone/>
            </a:pPr>
            <a:r>
              <a:rPr lang="en-US" sz="1100" dirty="0">
                <a:solidFill>
                  <a:srgbClr val="4A5262"/>
                </a:solidFill>
                <a:latin typeface="맑은 고딕" pitchFamily="34" charset="0"/>
                <a:ea typeface="맑은 고딕" pitchFamily="34" charset="-122"/>
                <a:cs typeface="맑은 고딕" pitchFamily="34" charset="-120"/>
              </a:rPr>
              <a:t>대부분의 발주에서 콘텐츠 업체와 시공 업체가 쪼개집니다. 오늘은 봄날에서는 쪼개지지 않아 담당자가 사이에서 조율할 일이 없습니다.</a:t>
            </a:r>
            <a:endParaRPr lang="en-US" sz="1100" dirty="0"/>
          </a:p>
        </p:txBody>
      </p:sp>
      <p:sp>
        <p:nvSpPr>
          <p:cNvPr id="16" name="Text 14"/>
          <p:cNvSpPr/>
          <p:nvPr/>
        </p:nvSpPr>
        <p:spPr>
          <a:xfrm>
            <a:off x="11155680" y="6291072"/>
            <a:ext cx="548640" cy="274320"/>
          </a:xfrm>
          <a:prstGeom prst="rect">
            <a:avLst/>
          </a:prstGeom>
          <a:noFill/>
          <a:ln/>
        </p:spPr>
        <p:txBody>
          <a:bodyPr wrap="square" lIns="0" tIns="0" rIns="0" bIns="0" rtlCol="0" anchor="ctr"/>
          <a:lstStyle/>
          <a:p>
            <a:pPr algn="r" indent="0" marL="0">
              <a:buNone/>
            </a:pPr>
            <a:r>
              <a:rPr lang="en-US" sz="1000" dirty="0">
                <a:solidFill>
                  <a:srgbClr val="9AA3B0"/>
                </a:solidFill>
                <a:latin typeface="맑은 고딕" pitchFamily="34" charset="0"/>
                <a:ea typeface="맑은 고딕" pitchFamily="34" charset="-122"/>
                <a:cs typeface="맑은 고딕"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315200" cy="274320"/>
          </a:xfrm>
          <a:prstGeom prst="rect">
            <a:avLst/>
          </a:prstGeom>
          <a:noFill/>
          <a:ln/>
        </p:spPr>
        <p:txBody>
          <a:bodyPr wrap="square" lIns="0" tIns="0" rIns="0" bIns="0" rtlCol="0" anchor="ctr"/>
          <a:lstStyle/>
          <a:p>
            <a:pPr indent="0" marL="0">
              <a:buNone/>
            </a:pPr>
            <a:r>
              <a:rPr lang="en-US" sz="1200" b="1" spc="200" kern="0" dirty="0">
                <a:solidFill>
                  <a:srgbClr val="0075C9"/>
                </a:solidFill>
                <a:latin typeface="맑은 고딕" pitchFamily="34" charset="0"/>
                <a:ea typeface="맑은 고딕" pitchFamily="34" charset="-122"/>
                <a:cs typeface="맑은 고딕" pitchFamily="34" charset="-120"/>
              </a:rPr>
              <a:t>SERVICE 01</a:t>
            </a:r>
            <a:endParaRPr lang="en-US" sz="1200" dirty="0"/>
          </a:p>
        </p:txBody>
      </p:sp>
      <p:sp>
        <p:nvSpPr>
          <p:cNvPr id="3" name="Text 1"/>
          <p:cNvSpPr/>
          <p:nvPr/>
        </p:nvSpPr>
        <p:spPr>
          <a:xfrm>
            <a:off x="640080" y="749808"/>
            <a:ext cx="6035040" cy="932688"/>
          </a:xfrm>
          <a:prstGeom prst="rect">
            <a:avLst/>
          </a:prstGeom>
          <a:noFill/>
          <a:ln/>
        </p:spPr>
        <p:txBody>
          <a:bodyPr wrap="square" lIns="0" tIns="0" rIns="0" bIns="0" rtlCol="0" anchor="t"/>
          <a:lstStyle/>
          <a:p>
            <a:pPr indent="0" marL="0">
              <a:buNone/>
            </a:pPr>
            <a:r>
              <a:rPr lang="en-US" sz="2800" b="1" dirty="0">
                <a:solidFill>
                  <a:srgbClr val="101B33"/>
                </a:solidFill>
                <a:latin typeface="맑은 고딕" pitchFamily="34" charset="0"/>
                <a:ea typeface="맑은 고딕" pitchFamily="34" charset="-122"/>
                <a:cs typeface="맑은 고딕" pitchFamily="34" charset="-120"/>
              </a:rPr>
              <a:t>미디어아트를 코드로 만듭니다</a:t>
            </a:r>
            <a:endParaRPr lang="en-US" sz="2800" dirty="0"/>
          </a:p>
        </p:txBody>
      </p:sp>
      <p:pic>
        <p:nvPicPr>
          <p:cNvPr id="4" name="Image 0" descr="/home/user/oneul-bomnal/assets/deck/flowribbons.jpg">    </p:cNvPr>
          <p:cNvPicPr>
            <a:picLocks noChangeAspect="1"/>
          </p:cNvPicPr>
          <p:nvPr/>
        </p:nvPicPr>
        <p:blipFill>
          <a:blip r:embed="rId1"/>
          <a:stretch>
            <a:fillRect/>
          </a:stretch>
        </p:blipFill>
        <p:spPr>
          <a:xfrm>
            <a:off x="6537960" y="457200"/>
            <a:ext cx="4983480" cy="2807208"/>
          </a:xfrm>
          <a:prstGeom prst="rect">
            <a:avLst/>
          </a:prstGeom>
        </p:spPr>
      </p:pic>
      <p:sp>
        <p:nvSpPr>
          <p:cNvPr id="5" name="Text 2"/>
          <p:cNvSpPr/>
          <p:nvPr/>
        </p:nvSpPr>
        <p:spPr>
          <a:xfrm>
            <a:off x="6537960" y="3364992"/>
            <a:ext cx="4983480" cy="274320"/>
          </a:xfrm>
          <a:prstGeom prst="rect">
            <a:avLst/>
          </a:prstGeom>
          <a:noFill/>
          <a:ln/>
        </p:spPr>
        <p:txBody>
          <a:bodyPr wrap="square" lIns="0" tIns="0" rIns="0" bIns="0" rtlCol="0" anchor="ctr"/>
          <a:lstStyle/>
          <a:p>
            <a:pPr indent="0" marL="0">
              <a:buNone/>
            </a:pPr>
            <a:r>
              <a:rPr lang="en-US" sz="950" dirty="0">
                <a:solidFill>
                  <a:srgbClr val="8A93A3"/>
                </a:solidFill>
                <a:latin typeface="맑은 고딕" pitchFamily="34" charset="0"/>
                <a:ea typeface="맑은 고딕" pitchFamily="34" charset="-122"/>
                <a:cs typeface="맑은 고딕" pitchFamily="34" charset="-120"/>
              </a:rPr>
              <a:t>流帶 · 결결 · 로비 LED 미디어월용 자체 제작 작품</a:t>
            </a:r>
            <a:endParaRPr lang="en-US" sz="950" dirty="0"/>
          </a:p>
        </p:txBody>
      </p:sp>
      <p:sp>
        <p:nvSpPr>
          <p:cNvPr id="6" name="Text 3"/>
          <p:cNvSpPr/>
          <p:nvPr/>
        </p:nvSpPr>
        <p:spPr>
          <a:xfrm>
            <a:off x="640080" y="1783080"/>
            <a:ext cx="5577840" cy="1371600"/>
          </a:xfrm>
          <a:prstGeom prst="rect">
            <a:avLst/>
          </a:prstGeom>
          <a:noFill/>
          <a:ln/>
        </p:spPr>
        <p:txBody>
          <a:bodyPr wrap="square" lIns="0" tIns="0" rIns="0" bIns="0" rtlCol="0" anchor="t"/>
          <a:lstStyle/>
          <a:p>
            <a:pPr indent="0" marL="0">
              <a:lnSpc>
                <a:spcPts val="2200"/>
              </a:lnSpc>
              <a:buNone/>
            </a:pPr>
            <a:r>
              <a:rPr lang="en-US" sz="1300" dirty="0">
                <a:solidFill>
                  <a:srgbClr val="4A5262"/>
                </a:solidFill>
                <a:latin typeface="맑은 고딕" pitchFamily="34" charset="0"/>
                <a:ea typeface="맑은 고딕" pitchFamily="34" charset="-122"/>
                <a:cs typeface="맑은 고딕" pitchFamily="34" charset="-120"/>
              </a:rPr>
              <a:t>미디어아트를 영상 편집기가 아니라 코드로 만듭니다. 화면마다 비율·해상도·길이가 다른 사이니지 현장에서, 코드는 같은 작품을 현장 규격에 맞춰 다시 뽑아낼 수 있습니다. 영상 파일 하나로 끝나는 외주 제작과 다른 점이 여기 있습니다.</a:t>
            </a:r>
            <a:endParaRPr lang="en-US" sz="1300" dirty="0"/>
          </a:p>
        </p:txBody>
      </p:sp>
      <p:sp>
        <p:nvSpPr>
          <p:cNvPr id="7" name="Shape 4"/>
          <p:cNvSpPr/>
          <p:nvPr/>
        </p:nvSpPr>
        <p:spPr>
          <a:xfrm>
            <a:off x="640080" y="3246120"/>
            <a:ext cx="420624" cy="420624"/>
          </a:xfrm>
          <a:prstGeom prst="ellipse">
            <a:avLst/>
          </a:prstGeom>
          <a:solidFill>
            <a:srgbClr val="101B33"/>
          </a:solidFill>
          <a:ln w="12700">
            <a:solidFill>
              <a:srgbClr val="101B33"/>
            </a:solidFill>
            <a:prstDash val="solid"/>
          </a:ln>
        </p:spPr>
        <p:txBody>
          <a:bodyPr/>
          <a:p/>
        </p:txBody>
      </p:sp>
      <p:sp>
        <p:nvSpPr>
          <p:cNvPr id="8" name="Text 5"/>
          <p:cNvSpPr/>
          <p:nvPr/>
        </p:nvSpPr>
        <p:spPr>
          <a:xfrm>
            <a:off x="640080" y="324612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1</a:t>
            </a:r>
            <a:endParaRPr lang="en-US" sz="1300" dirty="0"/>
          </a:p>
        </p:txBody>
      </p:sp>
      <p:sp>
        <p:nvSpPr>
          <p:cNvPr id="9" name="Text 6"/>
          <p:cNvSpPr/>
          <p:nvPr/>
        </p:nvSpPr>
        <p:spPr>
          <a:xfrm>
            <a:off x="1207008" y="3209544"/>
            <a:ext cx="5029200" cy="292608"/>
          </a:xfrm>
          <a:prstGeom prst="rect">
            <a:avLst/>
          </a:prstGeom>
          <a:noFill/>
          <a:ln/>
        </p:spPr>
        <p:txBody>
          <a:bodyPr wrap="square" lIns="0" tIns="0" rIns="0" bIns="0" rtlCol="0" anchor="ctr"/>
          <a:lstStyle/>
          <a:p>
            <a:pPr indent="0" marL="0">
              <a:buNone/>
            </a:pPr>
            <a:r>
              <a:rPr lang="en-US" sz="1300" b="1" dirty="0">
                <a:solidFill>
                  <a:srgbClr val="101B33"/>
                </a:solidFill>
                <a:latin typeface="맑은 고딕" pitchFamily="34" charset="0"/>
                <a:ea typeface="맑은 고딕" pitchFamily="34" charset="-122"/>
                <a:cs typeface="맑은 고딕" pitchFamily="34" charset="-120"/>
              </a:rPr>
              <a:t>같은 작품을 다시 출력</a:t>
            </a:r>
            <a:endParaRPr lang="en-US" sz="1300" dirty="0"/>
          </a:p>
        </p:txBody>
      </p:sp>
      <p:sp>
        <p:nvSpPr>
          <p:cNvPr id="10" name="Text 7"/>
          <p:cNvSpPr/>
          <p:nvPr/>
        </p:nvSpPr>
        <p:spPr>
          <a:xfrm>
            <a:off x="1207008" y="3520440"/>
            <a:ext cx="5029200" cy="658368"/>
          </a:xfrm>
          <a:prstGeom prst="rect">
            <a:avLst/>
          </a:prstGeom>
          <a:noFill/>
          <a:ln/>
        </p:spPr>
        <p:txBody>
          <a:bodyPr wrap="square" lIns="0" tIns="0" rIns="0" bIns="0" rtlCol="0" anchor="t"/>
          <a:lstStyle/>
          <a:p>
            <a:pPr indent="0" marL="0">
              <a:lnSpc>
                <a:spcPts val="1600"/>
              </a:lnSpc>
              <a:buNone/>
            </a:pPr>
            <a:r>
              <a:rPr lang="en-US" sz="1100" dirty="0">
                <a:solidFill>
                  <a:srgbClr val="4A5262"/>
                </a:solidFill>
                <a:latin typeface="맑은 고딕" pitchFamily="34" charset="0"/>
                <a:ea typeface="맑은 고딕" pitchFamily="34" charset="-122"/>
                <a:cs typeface="맑은 고딕" pitchFamily="34" charset="-120"/>
              </a:rPr>
              <a:t>32:9 · 16:9 · 9:16 · 비정형 벽면까지 현장 규격에 맞춰 재출력. 화면이 바뀌어도 새로 만들지 않습니다.</a:t>
            </a:r>
            <a:endParaRPr lang="en-US" sz="1100" dirty="0"/>
          </a:p>
        </p:txBody>
      </p:sp>
      <p:sp>
        <p:nvSpPr>
          <p:cNvPr id="11" name="Shape 8"/>
          <p:cNvSpPr/>
          <p:nvPr/>
        </p:nvSpPr>
        <p:spPr>
          <a:xfrm>
            <a:off x="640080" y="4325112"/>
            <a:ext cx="420624" cy="420624"/>
          </a:xfrm>
          <a:prstGeom prst="ellipse">
            <a:avLst/>
          </a:prstGeom>
          <a:solidFill>
            <a:srgbClr val="101B33"/>
          </a:solidFill>
          <a:ln w="12700">
            <a:solidFill>
              <a:srgbClr val="101B33"/>
            </a:solidFill>
            <a:prstDash val="solid"/>
          </a:ln>
        </p:spPr>
        <p:txBody>
          <a:bodyPr/>
          <a:p/>
        </p:txBody>
      </p:sp>
      <p:sp>
        <p:nvSpPr>
          <p:cNvPr id="12" name="Text 9"/>
          <p:cNvSpPr/>
          <p:nvPr/>
        </p:nvSpPr>
        <p:spPr>
          <a:xfrm>
            <a:off x="640080" y="432511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2</a:t>
            </a:r>
            <a:endParaRPr lang="en-US" sz="1300" dirty="0"/>
          </a:p>
        </p:txBody>
      </p:sp>
      <p:sp>
        <p:nvSpPr>
          <p:cNvPr id="13" name="Text 10"/>
          <p:cNvSpPr/>
          <p:nvPr/>
        </p:nvSpPr>
        <p:spPr>
          <a:xfrm>
            <a:off x="1207008" y="4288536"/>
            <a:ext cx="5029200" cy="292608"/>
          </a:xfrm>
          <a:prstGeom prst="rect">
            <a:avLst/>
          </a:prstGeom>
          <a:noFill/>
          <a:ln/>
        </p:spPr>
        <p:txBody>
          <a:bodyPr wrap="square" lIns="0" tIns="0" rIns="0" bIns="0" rtlCol="0" anchor="ctr"/>
          <a:lstStyle/>
          <a:p>
            <a:pPr indent="0" marL="0">
              <a:buNone/>
            </a:pPr>
            <a:r>
              <a:rPr lang="en-US" sz="1300" b="1" dirty="0">
                <a:solidFill>
                  <a:srgbClr val="101B33"/>
                </a:solidFill>
                <a:latin typeface="맑은 고딕" pitchFamily="34" charset="0"/>
                <a:ea typeface="맑은 고딕" pitchFamily="34" charset="-122"/>
                <a:cs typeface="맑은 고딕" pitchFamily="34" charset="-120"/>
              </a:rPr>
              <a:t>데이터를 연결하면 매일 달라짐</a:t>
            </a:r>
            <a:endParaRPr lang="en-US" sz="1300" dirty="0"/>
          </a:p>
        </p:txBody>
      </p:sp>
      <p:sp>
        <p:nvSpPr>
          <p:cNvPr id="14" name="Text 11"/>
          <p:cNvSpPr/>
          <p:nvPr/>
        </p:nvSpPr>
        <p:spPr>
          <a:xfrm>
            <a:off x="1207008" y="4599432"/>
            <a:ext cx="5029200" cy="658368"/>
          </a:xfrm>
          <a:prstGeom prst="rect">
            <a:avLst/>
          </a:prstGeom>
          <a:noFill/>
          <a:ln/>
        </p:spPr>
        <p:txBody>
          <a:bodyPr wrap="square" lIns="0" tIns="0" rIns="0" bIns="0" rtlCol="0" anchor="t"/>
          <a:lstStyle/>
          <a:p>
            <a:pPr indent="0" marL="0">
              <a:lnSpc>
                <a:spcPts val="1600"/>
              </a:lnSpc>
              <a:buNone/>
            </a:pPr>
            <a:r>
              <a:rPr lang="en-US" sz="1100" dirty="0">
                <a:solidFill>
                  <a:srgbClr val="4A5262"/>
                </a:solidFill>
                <a:latin typeface="맑은 고딕" pitchFamily="34" charset="0"/>
                <a:ea typeface="맑은 고딕" pitchFamily="34" charset="-122"/>
                <a:cs typeface="맑은 고딕" pitchFamily="34" charset="-120"/>
              </a:rPr>
              <a:t>공공 API와 기관 보유 DB를 연결해 날씨·대기질·방문자 수가 화면에 반영됩니다.</a:t>
            </a:r>
            <a:endParaRPr lang="en-US" sz="1100" dirty="0"/>
          </a:p>
        </p:txBody>
      </p:sp>
      <p:sp>
        <p:nvSpPr>
          <p:cNvPr id="15" name="Shape 12"/>
          <p:cNvSpPr/>
          <p:nvPr/>
        </p:nvSpPr>
        <p:spPr>
          <a:xfrm>
            <a:off x="640080" y="5404104"/>
            <a:ext cx="420624" cy="420624"/>
          </a:xfrm>
          <a:prstGeom prst="ellipse">
            <a:avLst/>
          </a:prstGeom>
          <a:solidFill>
            <a:srgbClr val="101B33"/>
          </a:solidFill>
          <a:ln w="12700">
            <a:solidFill>
              <a:srgbClr val="101B33"/>
            </a:solidFill>
            <a:prstDash val="solid"/>
          </a:ln>
        </p:spPr>
        <p:txBody>
          <a:bodyPr/>
          <a:p/>
        </p:txBody>
      </p:sp>
      <p:sp>
        <p:nvSpPr>
          <p:cNvPr id="16" name="Text 13"/>
          <p:cNvSpPr/>
          <p:nvPr/>
        </p:nvSpPr>
        <p:spPr>
          <a:xfrm>
            <a:off x="640080" y="540410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3</a:t>
            </a:r>
            <a:endParaRPr lang="en-US" sz="1300" dirty="0"/>
          </a:p>
        </p:txBody>
      </p:sp>
      <p:sp>
        <p:nvSpPr>
          <p:cNvPr id="17" name="Text 14"/>
          <p:cNvSpPr/>
          <p:nvPr/>
        </p:nvSpPr>
        <p:spPr>
          <a:xfrm>
            <a:off x="1207008" y="5367528"/>
            <a:ext cx="5029200" cy="292608"/>
          </a:xfrm>
          <a:prstGeom prst="rect">
            <a:avLst/>
          </a:prstGeom>
          <a:noFill/>
          <a:ln/>
        </p:spPr>
        <p:txBody>
          <a:bodyPr wrap="square" lIns="0" tIns="0" rIns="0" bIns="0" rtlCol="0" anchor="ctr"/>
          <a:lstStyle/>
          <a:p>
            <a:pPr indent="0" marL="0">
              <a:buNone/>
            </a:pPr>
            <a:r>
              <a:rPr lang="en-US" sz="1300" b="1" dirty="0">
                <a:solidFill>
                  <a:srgbClr val="101B33"/>
                </a:solidFill>
                <a:latin typeface="맑은 고딕" pitchFamily="34" charset="0"/>
                <a:ea typeface="맑은 고딕" pitchFamily="34" charset="-122"/>
                <a:cs typeface="맑은 고딕" pitchFamily="34" charset="-120"/>
              </a:rPr>
              <a:t>승인본과 납품본이 어긋나지 않음</a:t>
            </a:r>
            <a:endParaRPr lang="en-US" sz="1300" dirty="0"/>
          </a:p>
        </p:txBody>
      </p:sp>
      <p:sp>
        <p:nvSpPr>
          <p:cNvPr id="18" name="Text 15"/>
          <p:cNvSpPr/>
          <p:nvPr/>
        </p:nvSpPr>
        <p:spPr>
          <a:xfrm>
            <a:off x="1207008" y="5678424"/>
            <a:ext cx="5029200" cy="658368"/>
          </a:xfrm>
          <a:prstGeom prst="rect">
            <a:avLst/>
          </a:prstGeom>
          <a:noFill/>
          <a:ln/>
        </p:spPr>
        <p:txBody>
          <a:bodyPr wrap="square" lIns="0" tIns="0" rIns="0" bIns="0" rtlCol="0" anchor="t"/>
          <a:lstStyle/>
          <a:p>
            <a:pPr indent="0" marL="0">
              <a:lnSpc>
                <a:spcPts val="1600"/>
              </a:lnSpc>
              <a:buNone/>
            </a:pPr>
            <a:r>
              <a:rPr lang="en-US" sz="1100" dirty="0">
                <a:solidFill>
                  <a:srgbClr val="4A5262"/>
                </a:solidFill>
                <a:latin typeface="맑은 고딕" pitchFamily="34" charset="0"/>
                <a:ea typeface="맑은 고딕" pitchFamily="34" charset="-122"/>
                <a:cs typeface="맑은 고딕" pitchFamily="34" charset="-120"/>
              </a:rPr>
              <a:t>결정론적으로 짜기 때문에 같은 시드·같은 캔버스에서 언제나 같은 결과가 나옵니다.</a:t>
            </a:r>
            <a:endParaRPr lang="en-US" sz="1100" dirty="0"/>
          </a:p>
        </p:txBody>
      </p:sp>
      <p:sp>
        <p:nvSpPr>
          <p:cNvPr id="19" name="Text 16"/>
          <p:cNvSpPr/>
          <p:nvPr/>
        </p:nvSpPr>
        <p:spPr>
          <a:xfrm>
            <a:off x="11155680" y="6291072"/>
            <a:ext cx="548640" cy="274320"/>
          </a:xfrm>
          <a:prstGeom prst="rect">
            <a:avLst/>
          </a:prstGeom>
          <a:noFill/>
          <a:ln/>
        </p:spPr>
        <p:txBody>
          <a:bodyPr wrap="square" lIns="0" tIns="0" rIns="0" bIns="0" rtlCol="0" anchor="ctr"/>
          <a:lstStyle/>
          <a:p>
            <a:pPr algn="r" indent="0" marL="0">
              <a:buNone/>
            </a:pPr>
            <a:r>
              <a:rPr lang="en-US" sz="1000" dirty="0">
                <a:solidFill>
                  <a:srgbClr val="9AA3B0"/>
                </a:solidFill>
                <a:latin typeface="맑은 고딕" pitchFamily="34" charset="0"/>
                <a:ea typeface="맑은 고딕" pitchFamily="34" charset="-122"/>
                <a:cs typeface="맑은 고딕"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315200" cy="274320"/>
          </a:xfrm>
          <a:prstGeom prst="rect">
            <a:avLst/>
          </a:prstGeom>
          <a:noFill/>
          <a:ln/>
        </p:spPr>
        <p:txBody>
          <a:bodyPr wrap="square" lIns="0" tIns="0" rIns="0" bIns="0" rtlCol="0" anchor="ctr"/>
          <a:lstStyle/>
          <a:p>
            <a:pPr indent="0" marL="0">
              <a:buNone/>
            </a:pPr>
            <a:r>
              <a:rPr lang="en-US" sz="1200" b="1" spc="200" kern="0" dirty="0">
                <a:solidFill>
                  <a:srgbClr val="0075C9"/>
                </a:solidFill>
                <a:latin typeface="맑은 고딕" pitchFamily="34" charset="0"/>
                <a:ea typeface="맑은 고딕" pitchFamily="34" charset="-122"/>
                <a:cs typeface="맑은 고딕" pitchFamily="34" charset="-120"/>
              </a:rPr>
              <a:t>SERVICE 02</a:t>
            </a:r>
            <a:endParaRPr lang="en-US" sz="1200" dirty="0"/>
          </a:p>
        </p:txBody>
      </p:sp>
      <p:sp>
        <p:nvSpPr>
          <p:cNvPr id="3" name="Text 1"/>
          <p:cNvSpPr/>
          <p:nvPr/>
        </p:nvSpPr>
        <p:spPr>
          <a:xfrm>
            <a:off x="640080" y="749808"/>
            <a:ext cx="8412480" cy="932688"/>
          </a:xfrm>
          <a:prstGeom prst="rect">
            <a:avLst/>
          </a:prstGeom>
          <a:noFill/>
          <a:ln/>
        </p:spPr>
        <p:txBody>
          <a:bodyPr wrap="square" lIns="0" tIns="0" rIns="0" bIns="0" rtlCol="0" anchor="t"/>
          <a:lstStyle/>
          <a:p>
            <a:pPr indent="0" marL="0">
              <a:buNone/>
            </a:pPr>
            <a:r>
              <a:rPr lang="en-US" sz="3200" b="1" dirty="0">
                <a:solidFill>
                  <a:srgbClr val="101B33"/>
                </a:solidFill>
                <a:latin typeface="맑은 고딕" pitchFamily="34" charset="0"/>
                <a:ea typeface="맑은 고딕" pitchFamily="34" charset="-122"/>
                <a:cs typeface="맑은 고딕" pitchFamily="34" charset="-120"/>
              </a:rPr>
              <a:t>시안 3종이 일주일 안에 나옵니다</a:t>
            </a:r>
            <a:endParaRPr lang="en-US" sz="3200" dirty="0"/>
          </a:p>
        </p:txBody>
      </p:sp>
      <p:sp>
        <p:nvSpPr>
          <p:cNvPr id="4" name="Text 2"/>
          <p:cNvSpPr/>
          <p:nvPr/>
        </p:nvSpPr>
        <p:spPr>
          <a:xfrm>
            <a:off x="640080" y="1737360"/>
            <a:ext cx="10881360" cy="731520"/>
          </a:xfrm>
          <a:prstGeom prst="rect">
            <a:avLst/>
          </a:prstGeom>
          <a:noFill/>
          <a:ln/>
        </p:spPr>
        <p:txBody>
          <a:bodyPr wrap="square" lIns="0" tIns="0" rIns="0" bIns="0" rtlCol="0" anchor="ctr"/>
          <a:lstStyle/>
          <a:p>
            <a:pPr indent="0" marL="0">
              <a:lnSpc>
                <a:spcPts val="2200"/>
              </a:lnSpc>
              <a:buNone/>
            </a:pPr>
            <a:r>
              <a:rPr lang="en-US" sz="1300" dirty="0">
                <a:solidFill>
                  <a:srgbClr val="4A5262"/>
                </a:solidFill>
                <a:latin typeface="맑은 고딕" pitchFamily="34" charset="0"/>
                <a:ea typeface="맑은 고딕" pitchFamily="34" charset="-122"/>
                <a:cs typeface="맑은 고딕" pitchFamily="34" charset="-120"/>
              </a:rPr>
              <a:t>기관 CI·컬러·서체·금기 표현을 제작 기준으로 미리 등록해 두고, 기획·카피·비주얼·송출 코드를 한 번에 만듭니다.</a:t>
            </a:r>
            <a:endParaRPr lang="en-US" sz="1300" dirty="0"/>
          </a:p>
          <a:p>
            <a:pPr indent="0" marL="0">
              <a:lnSpc>
                <a:spcPts val="2200"/>
              </a:lnSpc>
              <a:buNone/>
            </a:pPr>
            <a:r>
              <a:rPr lang="en-US" sz="1300" dirty="0">
                <a:solidFill>
                  <a:srgbClr val="4A5262"/>
                </a:solidFill>
                <a:latin typeface="맑은 고딕" pitchFamily="34" charset="0"/>
                <a:ea typeface="맑은 고딕" pitchFamily="34" charset="-122"/>
                <a:cs typeface="맑은 고딕" pitchFamily="34" charset="-120"/>
              </a:rPr>
              <a:t>원하시는 방향을 자세히 알려주실수록 시안의 디테일이 올라갑니다.</a:t>
            </a:r>
            <a:endParaRPr lang="en-US" sz="1300" dirty="0"/>
          </a:p>
        </p:txBody>
      </p:sp>
      <p:graphicFrame>
        <p:nvGraphicFramePr>
          <p:cNvPr id="5" name="Chart 0" descr=""/>
          <p:cNvGraphicFramePr/>
          <p:nvPr/>
        </p:nvGraphicFramePr>
        <p:xfrm>
          <a:off x="640080" y="2697480"/>
          <a:ext cx="6035040" cy="292608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040880" y="2834640"/>
            <a:ext cx="4480560" cy="841248"/>
          </a:xfrm>
          <a:prstGeom prst="roundRect">
            <a:avLst>
              <a:gd name="adj" fmla="val 6522"/>
            </a:avLst>
          </a:prstGeom>
          <a:solidFill>
            <a:srgbClr val="FFFFFF"/>
          </a:solidFill>
          <a:ln w="12700">
            <a:solidFill>
              <a:srgbClr val="DFE3EA"/>
            </a:solidFill>
            <a:prstDash val="solid"/>
          </a:ln>
          <a:effectLst>
            <a:outerShdw sx="100000" sy="100000" kx="0" ky="0" algn="bl" rotWithShape="0" blurRad="152400" dist="38100" dir="5400000">
              <a:srgbClr val="101B33">
                <a:alpha val="7000"/>
              </a:srgbClr>
            </a:outerShdw>
          </a:effectLst>
        </p:spPr>
        <p:txBody>
          <a:bodyPr/>
          <a:p/>
        </p:txBody>
      </p:sp>
      <p:sp>
        <p:nvSpPr>
          <p:cNvPr id="7" name="Text 4"/>
          <p:cNvSpPr/>
          <p:nvPr/>
        </p:nvSpPr>
        <p:spPr>
          <a:xfrm>
            <a:off x="7360920" y="2962656"/>
            <a:ext cx="3840480" cy="274320"/>
          </a:xfrm>
          <a:prstGeom prst="rect">
            <a:avLst/>
          </a:prstGeom>
          <a:noFill/>
          <a:ln/>
        </p:spPr>
        <p:txBody>
          <a:bodyPr wrap="square" lIns="0" tIns="0" rIns="0" bIns="0" rtlCol="0" anchor="ctr"/>
          <a:lstStyle/>
          <a:p>
            <a:pPr indent="0" marL="0">
              <a:buNone/>
            </a:pPr>
            <a:r>
              <a:rPr lang="en-US" sz="1300" b="1" dirty="0">
                <a:solidFill>
                  <a:srgbClr val="0075C9"/>
                </a:solidFill>
                <a:latin typeface="맑은 고딕" pitchFamily="34" charset="0"/>
                <a:ea typeface="맑은 고딕" pitchFamily="34" charset="-122"/>
                <a:cs typeface="맑은 고딕" pitchFamily="34" charset="-120"/>
              </a:rPr>
              <a:t>시안 3종</a:t>
            </a:r>
            <a:endParaRPr lang="en-US" sz="1300" dirty="0"/>
          </a:p>
        </p:txBody>
      </p:sp>
      <p:sp>
        <p:nvSpPr>
          <p:cNvPr id="8" name="Text 5"/>
          <p:cNvSpPr/>
          <p:nvPr/>
        </p:nvSpPr>
        <p:spPr>
          <a:xfrm>
            <a:off x="7360920" y="3264408"/>
            <a:ext cx="3840480" cy="274320"/>
          </a:xfrm>
          <a:prstGeom prst="rect">
            <a:avLst/>
          </a:prstGeom>
          <a:noFill/>
          <a:ln/>
        </p:spPr>
        <p:txBody>
          <a:bodyPr wrap="square" lIns="0" tIns="0" rIns="0" bIns="0" rtlCol="0" anchor="ctr"/>
          <a:lstStyle/>
          <a:p>
            <a:pPr indent="0" marL="0">
              <a:buNone/>
            </a:pPr>
            <a:r>
              <a:rPr lang="en-US" sz="1100" dirty="0">
                <a:solidFill>
                  <a:srgbClr val="4A5262"/>
                </a:solidFill>
                <a:latin typeface="맑은 고딕" pitchFamily="34" charset="0"/>
                <a:ea typeface="맑은 고딕" pitchFamily="34" charset="-122"/>
                <a:cs typeface="맑은 고딕" pitchFamily="34" charset="-120"/>
              </a:rPr>
              <a:t>요청 후 1주일 이내 제시</a:t>
            </a:r>
            <a:endParaRPr lang="en-US" sz="1100" dirty="0"/>
          </a:p>
        </p:txBody>
      </p:sp>
      <p:sp>
        <p:nvSpPr>
          <p:cNvPr id="9" name="Shape 6"/>
          <p:cNvSpPr/>
          <p:nvPr/>
        </p:nvSpPr>
        <p:spPr>
          <a:xfrm>
            <a:off x="7040880" y="3803904"/>
            <a:ext cx="4480560" cy="841248"/>
          </a:xfrm>
          <a:prstGeom prst="roundRect">
            <a:avLst>
              <a:gd name="adj" fmla="val 6522"/>
            </a:avLst>
          </a:prstGeom>
          <a:solidFill>
            <a:srgbClr val="FFFFFF"/>
          </a:solidFill>
          <a:ln w="12700">
            <a:solidFill>
              <a:srgbClr val="DFE3EA"/>
            </a:solidFill>
            <a:prstDash val="solid"/>
          </a:ln>
          <a:effectLst>
            <a:outerShdw sx="100000" sy="100000" kx="0" ky="0" algn="bl" rotWithShape="0" blurRad="152400" dist="38100" dir="5400000">
              <a:srgbClr val="101B33">
                <a:alpha val="7000"/>
              </a:srgbClr>
            </a:outerShdw>
          </a:effectLst>
        </p:spPr>
        <p:txBody>
          <a:bodyPr/>
          <a:p/>
        </p:txBody>
      </p:sp>
      <p:sp>
        <p:nvSpPr>
          <p:cNvPr id="10" name="Text 7"/>
          <p:cNvSpPr/>
          <p:nvPr/>
        </p:nvSpPr>
        <p:spPr>
          <a:xfrm>
            <a:off x="7360920" y="3931920"/>
            <a:ext cx="3840480" cy="274320"/>
          </a:xfrm>
          <a:prstGeom prst="rect">
            <a:avLst/>
          </a:prstGeom>
          <a:noFill/>
          <a:ln/>
        </p:spPr>
        <p:txBody>
          <a:bodyPr wrap="square" lIns="0" tIns="0" rIns="0" bIns="0" rtlCol="0" anchor="ctr"/>
          <a:lstStyle/>
          <a:p>
            <a:pPr indent="0" marL="0">
              <a:buNone/>
            </a:pPr>
            <a:r>
              <a:rPr lang="en-US" sz="1300" b="1" dirty="0">
                <a:solidFill>
                  <a:srgbClr val="0075C9"/>
                </a:solidFill>
                <a:latin typeface="맑은 고딕" pitchFamily="34" charset="0"/>
                <a:ea typeface="맑은 고딕" pitchFamily="34" charset="-122"/>
                <a:cs typeface="맑은 고딕" pitchFamily="34" charset="-120"/>
              </a:rPr>
              <a:t>재생 PC 세팅</a:t>
            </a:r>
            <a:endParaRPr lang="en-US" sz="1300" dirty="0"/>
          </a:p>
        </p:txBody>
      </p:sp>
      <p:sp>
        <p:nvSpPr>
          <p:cNvPr id="11" name="Text 8"/>
          <p:cNvSpPr/>
          <p:nvPr/>
        </p:nvSpPr>
        <p:spPr>
          <a:xfrm>
            <a:off x="7360920" y="4233672"/>
            <a:ext cx="3840480" cy="274320"/>
          </a:xfrm>
          <a:prstGeom prst="rect">
            <a:avLst/>
          </a:prstGeom>
          <a:noFill/>
          <a:ln/>
        </p:spPr>
        <p:txBody>
          <a:bodyPr wrap="square" lIns="0" tIns="0" rIns="0" bIns="0" rtlCol="0" anchor="ctr"/>
          <a:lstStyle/>
          <a:p>
            <a:pPr indent="0" marL="0">
              <a:buNone/>
            </a:pPr>
            <a:r>
              <a:rPr lang="en-US" sz="1100" dirty="0">
                <a:solidFill>
                  <a:srgbClr val="4A5262"/>
                </a:solidFill>
                <a:latin typeface="맑은 고딕" pitchFamily="34" charset="0"/>
                <a:ea typeface="맑은 고딕" pitchFamily="34" charset="-122"/>
                <a:cs typeface="맑은 고딕" pitchFamily="34" charset="-120"/>
              </a:rPr>
              <a:t>사이니지 재생 장비까지 준비</a:t>
            </a:r>
            <a:endParaRPr lang="en-US" sz="1100" dirty="0"/>
          </a:p>
        </p:txBody>
      </p:sp>
      <p:sp>
        <p:nvSpPr>
          <p:cNvPr id="12" name="Shape 9"/>
          <p:cNvSpPr/>
          <p:nvPr/>
        </p:nvSpPr>
        <p:spPr>
          <a:xfrm>
            <a:off x="7040880" y="4773168"/>
            <a:ext cx="4480560" cy="841248"/>
          </a:xfrm>
          <a:prstGeom prst="roundRect">
            <a:avLst>
              <a:gd name="adj" fmla="val 6522"/>
            </a:avLst>
          </a:prstGeom>
          <a:solidFill>
            <a:srgbClr val="FFFFFF"/>
          </a:solidFill>
          <a:ln w="12700">
            <a:solidFill>
              <a:srgbClr val="DFE3EA"/>
            </a:solidFill>
            <a:prstDash val="solid"/>
          </a:ln>
          <a:effectLst>
            <a:outerShdw sx="100000" sy="100000" kx="0" ky="0" algn="bl" rotWithShape="0" blurRad="152400" dist="38100" dir="5400000">
              <a:srgbClr val="101B33">
                <a:alpha val="7000"/>
              </a:srgbClr>
            </a:outerShdw>
          </a:effectLst>
        </p:spPr>
        <p:txBody>
          <a:bodyPr/>
          <a:p/>
        </p:txBody>
      </p:sp>
      <p:sp>
        <p:nvSpPr>
          <p:cNvPr id="13" name="Text 10"/>
          <p:cNvSpPr/>
          <p:nvPr/>
        </p:nvSpPr>
        <p:spPr>
          <a:xfrm>
            <a:off x="7360920" y="4901184"/>
            <a:ext cx="3840480" cy="274320"/>
          </a:xfrm>
          <a:prstGeom prst="rect">
            <a:avLst/>
          </a:prstGeom>
          <a:noFill/>
          <a:ln/>
        </p:spPr>
        <p:txBody>
          <a:bodyPr wrap="square" lIns="0" tIns="0" rIns="0" bIns="0" rtlCol="0" anchor="ctr"/>
          <a:lstStyle/>
          <a:p>
            <a:pPr indent="0" marL="0">
              <a:buNone/>
            </a:pPr>
            <a:r>
              <a:rPr lang="en-US" sz="1300" b="1" dirty="0">
                <a:solidFill>
                  <a:srgbClr val="0075C9"/>
                </a:solidFill>
                <a:latin typeface="맑은 고딕" pitchFamily="34" charset="0"/>
                <a:ea typeface="맑은 고딕" pitchFamily="34" charset="-122"/>
                <a:cs typeface="맑은 고딕" pitchFamily="34" charset="-120"/>
              </a:rPr>
              <a:t>교체 운영</a:t>
            </a:r>
            <a:endParaRPr lang="en-US" sz="1300" dirty="0"/>
          </a:p>
        </p:txBody>
      </p:sp>
      <p:sp>
        <p:nvSpPr>
          <p:cNvPr id="14" name="Text 11"/>
          <p:cNvSpPr/>
          <p:nvPr/>
        </p:nvSpPr>
        <p:spPr>
          <a:xfrm>
            <a:off x="7360920" y="5202936"/>
            <a:ext cx="3840480" cy="274320"/>
          </a:xfrm>
          <a:prstGeom prst="rect">
            <a:avLst/>
          </a:prstGeom>
          <a:noFill/>
          <a:ln/>
        </p:spPr>
        <p:txBody>
          <a:bodyPr wrap="square" lIns="0" tIns="0" rIns="0" bIns="0" rtlCol="0" anchor="ctr"/>
          <a:lstStyle/>
          <a:p>
            <a:pPr indent="0" marL="0">
              <a:buNone/>
            </a:pPr>
            <a:r>
              <a:rPr lang="en-US" sz="1100" dirty="0">
                <a:solidFill>
                  <a:srgbClr val="4A5262"/>
                </a:solidFill>
                <a:latin typeface="맑은 고딕" pitchFamily="34" charset="0"/>
                <a:ea typeface="맑은 고딕" pitchFamily="34" charset="-122"/>
                <a:cs typeface="맑은 고딕" pitchFamily="34" charset="-120"/>
              </a:rPr>
              <a:t>계절·행사별 콘텐츠 교체</a:t>
            </a:r>
            <a:endParaRPr lang="en-US" sz="1100" dirty="0"/>
          </a:p>
        </p:txBody>
      </p:sp>
      <p:sp>
        <p:nvSpPr>
          <p:cNvPr id="15" name="Text 12"/>
          <p:cNvSpPr/>
          <p:nvPr/>
        </p:nvSpPr>
        <p:spPr>
          <a:xfrm>
            <a:off x="11155680" y="6291072"/>
            <a:ext cx="548640" cy="274320"/>
          </a:xfrm>
          <a:prstGeom prst="rect">
            <a:avLst/>
          </a:prstGeom>
          <a:noFill/>
          <a:ln/>
        </p:spPr>
        <p:txBody>
          <a:bodyPr wrap="square" lIns="0" tIns="0" rIns="0" bIns="0" rtlCol="0" anchor="ctr"/>
          <a:lstStyle/>
          <a:p>
            <a:pPr algn="r" indent="0" marL="0">
              <a:buNone/>
            </a:pPr>
            <a:r>
              <a:rPr lang="en-US" sz="1000" dirty="0">
                <a:solidFill>
                  <a:srgbClr val="9AA3B0"/>
                </a:solidFill>
                <a:latin typeface="맑은 고딕" pitchFamily="34" charset="0"/>
                <a:ea typeface="맑은 고딕" pitchFamily="34" charset="-122"/>
                <a:cs typeface="맑은 고딕"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315200" cy="274320"/>
          </a:xfrm>
          <a:prstGeom prst="rect">
            <a:avLst/>
          </a:prstGeom>
          <a:noFill/>
          <a:ln/>
        </p:spPr>
        <p:txBody>
          <a:bodyPr wrap="square" lIns="0" tIns="0" rIns="0" bIns="0" rtlCol="0" anchor="ctr"/>
          <a:lstStyle/>
          <a:p>
            <a:pPr indent="0" marL="0">
              <a:buNone/>
            </a:pPr>
            <a:r>
              <a:rPr lang="en-US" sz="1200" b="1" spc="200" kern="0" dirty="0">
                <a:solidFill>
                  <a:srgbClr val="0075C9"/>
                </a:solidFill>
                <a:latin typeface="맑은 고딕" pitchFamily="34" charset="0"/>
                <a:ea typeface="맑은 고딕" pitchFamily="34" charset="-122"/>
                <a:cs typeface="맑은 고딕" pitchFamily="34" charset="-120"/>
              </a:rPr>
              <a:t>SERVICE 03</a:t>
            </a:r>
            <a:endParaRPr lang="en-US" sz="1200" dirty="0"/>
          </a:p>
        </p:txBody>
      </p:sp>
      <p:sp>
        <p:nvSpPr>
          <p:cNvPr id="3" name="Text 1"/>
          <p:cNvSpPr/>
          <p:nvPr/>
        </p:nvSpPr>
        <p:spPr>
          <a:xfrm>
            <a:off x="640080" y="749808"/>
            <a:ext cx="6858000" cy="932688"/>
          </a:xfrm>
          <a:prstGeom prst="rect">
            <a:avLst/>
          </a:prstGeom>
          <a:noFill/>
          <a:ln/>
        </p:spPr>
        <p:txBody>
          <a:bodyPr wrap="square" lIns="0" tIns="0" rIns="0" bIns="0" rtlCol="0" anchor="t"/>
          <a:lstStyle/>
          <a:p>
            <a:pPr indent="0" marL="0">
              <a:buNone/>
            </a:pPr>
            <a:r>
              <a:rPr lang="en-US" sz="3200" b="1" dirty="0">
                <a:solidFill>
                  <a:srgbClr val="101B33"/>
                </a:solidFill>
                <a:latin typeface="맑은 고딕" pitchFamily="34" charset="0"/>
                <a:ea typeface="맑은 고딕" pitchFamily="34" charset="-122"/>
                <a:cs typeface="맑은 고딕" pitchFamily="34" charset="-120"/>
              </a:rPr>
              <a:t>LED 전광판을 직접 설치합니다</a:t>
            </a:r>
            <a:endParaRPr lang="en-US" sz="3200" dirty="0"/>
          </a:p>
        </p:txBody>
      </p:sp>
      <p:pic>
        <p:nvPicPr>
          <p:cNvPr id="4" name="Image 0" descr="/home/user/oneul-bomnal/assets/works/gumico-led-outdoor.jpg">    </p:cNvPr>
          <p:cNvPicPr>
            <a:picLocks noChangeAspect="1"/>
          </p:cNvPicPr>
          <p:nvPr/>
        </p:nvPicPr>
        <p:blipFill>
          <a:blip r:embed="rId1"/>
          <a:stretch>
            <a:fillRect/>
          </a:stretch>
        </p:blipFill>
        <p:spPr>
          <a:xfrm>
            <a:off x="7635240" y="1783080"/>
            <a:ext cx="3886200" cy="2916936"/>
          </a:xfrm>
          <a:prstGeom prst="rect">
            <a:avLst/>
          </a:prstGeom>
        </p:spPr>
      </p:pic>
      <p:sp>
        <p:nvSpPr>
          <p:cNvPr id="5" name="Text 2"/>
          <p:cNvSpPr/>
          <p:nvPr/>
        </p:nvSpPr>
        <p:spPr>
          <a:xfrm>
            <a:off x="7635240" y="4773168"/>
            <a:ext cx="3886200" cy="274320"/>
          </a:xfrm>
          <a:prstGeom prst="rect">
            <a:avLst/>
          </a:prstGeom>
          <a:noFill/>
          <a:ln/>
        </p:spPr>
        <p:txBody>
          <a:bodyPr wrap="square" lIns="0" tIns="0" rIns="0" bIns="0" rtlCol="0" anchor="ctr"/>
          <a:lstStyle/>
          <a:p>
            <a:pPr indent="0" marL="0">
              <a:buNone/>
            </a:pPr>
            <a:r>
              <a:rPr lang="en-US" sz="950" dirty="0">
                <a:solidFill>
                  <a:srgbClr val="8A93A3"/>
                </a:solidFill>
                <a:latin typeface="맑은 고딕" pitchFamily="34" charset="0"/>
                <a:ea typeface="맑은 고딕" pitchFamily="34" charset="-122"/>
                <a:cs typeface="맑은 고딕" pitchFamily="34" charset="-120"/>
              </a:rPr>
              <a:t>구미코 외벽 LED · 대형 LED 패널 콘텐츠</a:t>
            </a:r>
            <a:endParaRPr lang="en-US" sz="950" dirty="0"/>
          </a:p>
        </p:txBody>
      </p:sp>
      <p:sp>
        <p:nvSpPr>
          <p:cNvPr id="6" name="Text 3"/>
          <p:cNvSpPr/>
          <p:nvPr/>
        </p:nvSpPr>
        <p:spPr>
          <a:xfrm>
            <a:off x="640080" y="1783080"/>
            <a:ext cx="6675120" cy="868680"/>
          </a:xfrm>
          <a:prstGeom prst="rect">
            <a:avLst/>
          </a:prstGeom>
          <a:noFill/>
          <a:ln/>
        </p:spPr>
        <p:txBody>
          <a:bodyPr wrap="square" lIns="0" tIns="0" rIns="0" bIns="0" rtlCol="0" anchor="ctr"/>
          <a:lstStyle/>
          <a:p>
            <a:pPr indent="0" marL="0">
              <a:lnSpc>
                <a:spcPts val="2100"/>
              </a:lnSpc>
              <a:buNone/>
            </a:pPr>
            <a:r>
              <a:rPr lang="en-US" sz="1250" dirty="0">
                <a:solidFill>
                  <a:srgbClr val="4A5262"/>
                </a:solidFill>
                <a:latin typeface="맑은 고딕" pitchFamily="34" charset="0"/>
                <a:ea typeface="맑은 고딕" pitchFamily="34" charset="-122"/>
                <a:cs typeface="맑은 고딕" pitchFamily="34" charset="-120"/>
              </a:rPr>
              <a:t>LED 전광판 설치는 LED 모듈을 구조물에 고정하고 배선·전원·제어기를 연결해 하나의 화면으로 만드는 공사입니다.</a:t>
            </a:r>
            <a:endParaRPr lang="en-US" sz="1250" dirty="0"/>
          </a:p>
          <a:p>
            <a:pPr indent="0" marL="0">
              <a:lnSpc>
                <a:spcPts val="2100"/>
              </a:lnSpc>
              <a:buNone/>
            </a:pPr>
            <a:r>
              <a:rPr lang="en-US" sz="1250" dirty="0">
                <a:solidFill>
                  <a:srgbClr val="4A5262"/>
                </a:solidFill>
                <a:latin typeface="맑은 고딕" pitchFamily="34" charset="0"/>
                <a:ea typeface="맑은 고딕" pitchFamily="34" charset="-122"/>
                <a:cs typeface="맑은 고딕" pitchFamily="34" charset="-120"/>
              </a:rPr>
              <a:t>화면 크기와 보는 거리에 따라 픽셀 피치와 밝기가 달라지므로 실측 후 사양을 확정합니다.</a:t>
            </a:r>
            <a:endParaRPr lang="en-US" sz="1250" dirty="0"/>
          </a:p>
        </p:txBody>
      </p:sp>
      <p:sp>
        <p:nvSpPr>
          <p:cNvPr id="7" name="Shape 4"/>
          <p:cNvSpPr/>
          <p:nvPr/>
        </p:nvSpPr>
        <p:spPr>
          <a:xfrm>
            <a:off x="640080" y="2834640"/>
            <a:ext cx="6675120" cy="777240"/>
          </a:xfrm>
          <a:prstGeom prst="roundRect">
            <a:avLst>
              <a:gd name="adj" fmla="val 7059"/>
            </a:avLst>
          </a:prstGeom>
          <a:solidFill>
            <a:srgbClr val="FFFFFF"/>
          </a:solidFill>
          <a:ln w="12700">
            <a:solidFill>
              <a:srgbClr val="DFE3EA"/>
            </a:solidFill>
            <a:prstDash val="solid"/>
          </a:ln>
          <a:effectLst>
            <a:outerShdw sx="100000" sy="100000" kx="0" ky="0" algn="bl" rotWithShape="0" blurRad="152400" dist="38100" dir="5400000">
              <a:srgbClr val="101B33">
                <a:alpha val="7000"/>
              </a:srgbClr>
            </a:outerShdw>
          </a:effectLst>
        </p:spPr>
        <p:txBody>
          <a:bodyPr/>
          <a:p/>
        </p:txBody>
      </p:sp>
      <p:sp>
        <p:nvSpPr>
          <p:cNvPr id="8" name="Text 5"/>
          <p:cNvSpPr/>
          <p:nvPr/>
        </p:nvSpPr>
        <p:spPr>
          <a:xfrm>
            <a:off x="914400" y="2944368"/>
            <a:ext cx="6126480" cy="274320"/>
          </a:xfrm>
          <a:prstGeom prst="rect">
            <a:avLst/>
          </a:prstGeom>
          <a:noFill/>
          <a:ln/>
        </p:spPr>
        <p:txBody>
          <a:bodyPr wrap="square" lIns="0" tIns="0" rIns="0" bIns="0" rtlCol="0" anchor="ctr"/>
          <a:lstStyle/>
          <a:p>
            <a:pPr indent="0" marL="0">
              <a:buNone/>
            </a:pPr>
            <a:r>
              <a:rPr lang="en-US" sz="1250" b="1" dirty="0">
                <a:solidFill>
                  <a:srgbClr val="101B33"/>
                </a:solidFill>
                <a:latin typeface="맑은 고딕" pitchFamily="34" charset="0"/>
                <a:ea typeface="맑은 고딕" pitchFamily="34" charset="-122"/>
                <a:cs typeface="맑은 고딕" pitchFamily="34" charset="-120"/>
              </a:rPr>
              <a:t>로비 LED 미디어월</a:t>
            </a:r>
            <a:endParaRPr lang="en-US" sz="1250" dirty="0"/>
          </a:p>
        </p:txBody>
      </p:sp>
      <p:sp>
        <p:nvSpPr>
          <p:cNvPr id="9" name="Text 6"/>
          <p:cNvSpPr/>
          <p:nvPr/>
        </p:nvSpPr>
        <p:spPr>
          <a:xfrm>
            <a:off x="914400" y="3236976"/>
            <a:ext cx="6126480" cy="274320"/>
          </a:xfrm>
          <a:prstGeom prst="rect">
            <a:avLst/>
          </a:prstGeom>
          <a:noFill/>
          <a:ln/>
        </p:spPr>
        <p:txBody>
          <a:bodyPr wrap="square" lIns="0" tIns="0" rIns="0" bIns="0" rtlCol="0" anchor="ctr"/>
          <a:lstStyle/>
          <a:p>
            <a:pPr indent="0" marL="0">
              <a:buNone/>
            </a:pPr>
            <a:r>
              <a:rPr lang="en-US" sz="1050" dirty="0">
                <a:solidFill>
                  <a:srgbClr val="4A5262"/>
                </a:solidFill>
                <a:latin typeface="맑은 고딕" pitchFamily="34" charset="0"/>
                <a:ea typeface="맑은 고딕" pitchFamily="34" charset="-122"/>
                <a:cs typeface="맑은 고딕" pitchFamily="34" charset="-120"/>
              </a:rPr>
              <a:t>관공서·기업 로비 상시 화면. 가까이서 보므로 촘촘한 사양이 필요합니다.</a:t>
            </a:r>
            <a:endParaRPr lang="en-US" sz="1050" dirty="0"/>
          </a:p>
        </p:txBody>
      </p:sp>
      <p:sp>
        <p:nvSpPr>
          <p:cNvPr id="10" name="Shape 7"/>
          <p:cNvSpPr/>
          <p:nvPr/>
        </p:nvSpPr>
        <p:spPr>
          <a:xfrm>
            <a:off x="640080" y="3721608"/>
            <a:ext cx="6675120" cy="777240"/>
          </a:xfrm>
          <a:prstGeom prst="roundRect">
            <a:avLst>
              <a:gd name="adj" fmla="val 7059"/>
            </a:avLst>
          </a:prstGeom>
          <a:solidFill>
            <a:srgbClr val="FFFFFF"/>
          </a:solidFill>
          <a:ln w="12700">
            <a:solidFill>
              <a:srgbClr val="DFE3EA"/>
            </a:solidFill>
            <a:prstDash val="solid"/>
          </a:ln>
          <a:effectLst>
            <a:outerShdw sx="100000" sy="100000" kx="0" ky="0" algn="bl" rotWithShape="0" blurRad="152400" dist="38100" dir="5400000">
              <a:srgbClr val="101B33">
                <a:alpha val="7000"/>
              </a:srgbClr>
            </a:outerShdw>
          </a:effectLst>
        </p:spPr>
        <p:txBody>
          <a:bodyPr/>
          <a:p/>
        </p:txBody>
      </p:sp>
      <p:sp>
        <p:nvSpPr>
          <p:cNvPr id="11" name="Text 8"/>
          <p:cNvSpPr/>
          <p:nvPr/>
        </p:nvSpPr>
        <p:spPr>
          <a:xfrm>
            <a:off x="914400" y="3831336"/>
            <a:ext cx="6126480" cy="274320"/>
          </a:xfrm>
          <a:prstGeom prst="rect">
            <a:avLst/>
          </a:prstGeom>
          <a:noFill/>
          <a:ln/>
        </p:spPr>
        <p:txBody>
          <a:bodyPr wrap="square" lIns="0" tIns="0" rIns="0" bIns="0" rtlCol="0" anchor="ctr"/>
          <a:lstStyle/>
          <a:p>
            <a:pPr indent="0" marL="0">
              <a:buNone/>
            </a:pPr>
            <a:r>
              <a:rPr lang="en-US" sz="1250" b="1" dirty="0">
                <a:solidFill>
                  <a:srgbClr val="101B33"/>
                </a:solidFill>
                <a:latin typeface="맑은 고딕" pitchFamily="34" charset="0"/>
                <a:ea typeface="맑은 고딕" pitchFamily="34" charset="-122"/>
                <a:cs typeface="맑은 고딕" pitchFamily="34" charset="-120"/>
              </a:rPr>
              <a:t>건물 외벽 LED 전광판</a:t>
            </a:r>
            <a:endParaRPr lang="en-US" sz="1250" dirty="0"/>
          </a:p>
        </p:txBody>
      </p:sp>
      <p:sp>
        <p:nvSpPr>
          <p:cNvPr id="12" name="Text 9"/>
          <p:cNvSpPr/>
          <p:nvPr/>
        </p:nvSpPr>
        <p:spPr>
          <a:xfrm>
            <a:off x="914400" y="4123944"/>
            <a:ext cx="6126480" cy="274320"/>
          </a:xfrm>
          <a:prstGeom prst="rect">
            <a:avLst/>
          </a:prstGeom>
          <a:noFill/>
          <a:ln/>
        </p:spPr>
        <p:txBody>
          <a:bodyPr wrap="square" lIns="0" tIns="0" rIns="0" bIns="0" rtlCol="0" anchor="ctr"/>
          <a:lstStyle/>
          <a:p>
            <a:pPr indent="0" marL="0">
              <a:buNone/>
            </a:pPr>
            <a:r>
              <a:rPr lang="en-US" sz="1050" dirty="0">
                <a:solidFill>
                  <a:srgbClr val="4A5262"/>
                </a:solidFill>
                <a:latin typeface="맑은 고딕" pitchFamily="34" charset="0"/>
                <a:ea typeface="맑은 고딕" pitchFamily="34" charset="-122"/>
                <a:cs typeface="맑은 고딕" pitchFamily="34" charset="-120"/>
              </a:rPr>
              <a:t>주간 시인성 밝기, 옥외 방수·방진, 구조 보강이 관건입니다.</a:t>
            </a:r>
            <a:endParaRPr lang="en-US" sz="1050" dirty="0"/>
          </a:p>
        </p:txBody>
      </p:sp>
      <p:sp>
        <p:nvSpPr>
          <p:cNvPr id="13" name="Shape 10"/>
          <p:cNvSpPr/>
          <p:nvPr/>
        </p:nvSpPr>
        <p:spPr>
          <a:xfrm>
            <a:off x="640080" y="4608576"/>
            <a:ext cx="6675120" cy="777240"/>
          </a:xfrm>
          <a:prstGeom prst="roundRect">
            <a:avLst>
              <a:gd name="adj" fmla="val 7059"/>
            </a:avLst>
          </a:prstGeom>
          <a:solidFill>
            <a:srgbClr val="FFFFFF"/>
          </a:solidFill>
          <a:ln w="12700">
            <a:solidFill>
              <a:srgbClr val="DFE3EA"/>
            </a:solidFill>
            <a:prstDash val="solid"/>
          </a:ln>
          <a:effectLst>
            <a:outerShdw sx="100000" sy="100000" kx="0" ky="0" algn="bl" rotWithShape="0" blurRad="152400" dist="38100" dir="5400000">
              <a:srgbClr val="101B33">
                <a:alpha val="7000"/>
              </a:srgbClr>
            </a:outerShdw>
          </a:effectLst>
        </p:spPr>
        <p:txBody>
          <a:bodyPr/>
          <a:p/>
        </p:txBody>
      </p:sp>
      <p:sp>
        <p:nvSpPr>
          <p:cNvPr id="14" name="Text 11"/>
          <p:cNvSpPr/>
          <p:nvPr/>
        </p:nvSpPr>
        <p:spPr>
          <a:xfrm>
            <a:off x="914400" y="4718304"/>
            <a:ext cx="6126480" cy="274320"/>
          </a:xfrm>
          <a:prstGeom prst="rect">
            <a:avLst/>
          </a:prstGeom>
          <a:noFill/>
          <a:ln/>
        </p:spPr>
        <p:txBody>
          <a:bodyPr wrap="square" lIns="0" tIns="0" rIns="0" bIns="0" rtlCol="0" anchor="ctr"/>
          <a:lstStyle/>
          <a:p>
            <a:pPr indent="0" marL="0">
              <a:buNone/>
            </a:pPr>
            <a:r>
              <a:rPr lang="en-US" sz="1250" b="1" dirty="0">
                <a:solidFill>
                  <a:srgbClr val="101B33"/>
                </a:solidFill>
                <a:latin typeface="맑은 고딕" pitchFamily="34" charset="0"/>
                <a:ea typeface="맑은 고딕" pitchFamily="34" charset="-122"/>
                <a:cs typeface="맑은 고딕" pitchFamily="34" charset="-120"/>
              </a:rPr>
              <a:t>세로형 LED 사이니지</a:t>
            </a:r>
            <a:endParaRPr lang="en-US" sz="1250" dirty="0"/>
          </a:p>
        </p:txBody>
      </p:sp>
      <p:sp>
        <p:nvSpPr>
          <p:cNvPr id="15" name="Text 12"/>
          <p:cNvSpPr/>
          <p:nvPr/>
        </p:nvSpPr>
        <p:spPr>
          <a:xfrm>
            <a:off x="914400" y="5010912"/>
            <a:ext cx="6126480" cy="274320"/>
          </a:xfrm>
          <a:prstGeom prst="rect">
            <a:avLst/>
          </a:prstGeom>
          <a:noFill/>
          <a:ln/>
        </p:spPr>
        <p:txBody>
          <a:bodyPr wrap="square" lIns="0" tIns="0" rIns="0" bIns="0" rtlCol="0" anchor="ctr"/>
          <a:lstStyle/>
          <a:p>
            <a:pPr indent="0" marL="0">
              <a:buNone/>
            </a:pPr>
            <a:r>
              <a:rPr lang="en-US" sz="1050" dirty="0">
                <a:solidFill>
                  <a:srgbClr val="4A5262"/>
                </a:solidFill>
                <a:latin typeface="맑은 고딕" pitchFamily="34" charset="0"/>
                <a:ea typeface="맑은 고딕" pitchFamily="34" charset="-122"/>
                <a:cs typeface="맑은 고딕" pitchFamily="34" charset="-120"/>
              </a:rPr>
              <a:t>안내 사이니지와 겸용. 기존 화면을 미디어아트 화면으로 함께 운용합니다.</a:t>
            </a:r>
            <a:endParaRPr lang="en-US" sz="1050" dirty="0"/>
          </a:p>
        </p:txBody>
      </p:sp>
      <p:sp>
        <p:nvSpPr>
          <p:cNvPr id="16" name="Shape 13"/>
          <p:cNvSpPr/>
          <p:nvPr/>
        </p:nvSpPr>
        <p:spPr>
          <a:xfrm>
            <a:off x="640080" y="5495544"/>
            <a:ext cx="6675120" cy="777240"/>
          </a:xfrm>
          <a:prstGeom prst="roundRect">
            <a:avLst>
              <a:gd name="adj" fmla="val 7059"/>
            </a:avLst>
          </a:prstGeom>
          <a:solidFill>
            <a:srgbClr val="F7F8FA"/>
          </a:solidFill>
          <a:ln w="12700">
            <a:solidFill>
              <a:srgbClr val="DFE3EA"/>
            </a:solidFill>
            <a:prstDash val="solid"/>
          </a:ln>
          <a:effectLst>
            <a:outerShdw sx="100000" sy="100000" kx="0" ky="0" algn="bl" rotWithShape="0" blurRad="152400" dist="38100" dir="5400000">
              <a:srgbClr val="101B33">
                <a:alpha val="7000"/>
              </a:srgbClr>
            </a:outerShdw>
          </a:effectLst>
        </p:spPr>
        <p:txBody>
          <a:bodyPr/>
          <a:p/>
        </p:txBody>
      </p:sp>
      <p:sp>
        <p:nvSpPr>
          <p:cNvPr id="17" name="Text 14"/>
          <p:cNvSpPr/>
          <p:nvPr/>
        </p:nvSpPr>
        <p:spPr>
          <a:xfrm>
            <a:off x="914400" y="5605272"/>
            <a:ext cx="6126480" cy="274320"/>
          </a:xfrm>
          <a:prstGeom prst="rect">
            <a:avLst/>
          </a:prstGeom>
          <a:noFill/>
          <a:ln/>
        </p:spPr>
        <p:txBody>
          <a:bodyPr wrap="square" lIns="0" tIns="0" rIns="0" bIns="0" rtlCol="0" anchor="ctr"/>
          <a:lstStyle/>
          <a:p>
            <a:pPr indent="0" marL="0">
              <a:buNone/>
            </a:pPr>
            <a:r>
              <a:rPr lang="en-US" sz="1250" b="1" dirty="0">
                <a:solidFill>
                  <a:srgbClr val="101B33"/>
                </a:solidFill>
                <a:latin typeface="맑은 고딕" pitchFamily="34" charset="0"/>
                <a:ea typeface="맑은 고딕" pitchFamily="34" charset="-122"/>
                <a:cs typeface="맑은 고딕" pitchFamily="34" charset="-120"/>
              </a:rPr>
              <a:t>기존 패널 활용</a:t>
            </a:r>
            <a:endParaRPr lang="en-US" sz="1250" dirty="0"/>
          </a:p>
        </p:txBody>
      </p:sp>
      <p:sp>
        <p:nvSpPr>
          <p:cNvPr id="18" name="Text 15"/>
          <p:cNvSpPr/>
          <p:nvPr/>
        </p:nvSpPr>
        <p:spPr>
          <a:xfrm>
            <a:off x="914400" y="5897880"/>
            <a:ext cx="6126480" cy="274320"/>
          </a:xfrm>
          <a:prstGeom prst="rect">
            <a:avLst/>
          </a:prstGeom>
          <a:noFill/>
          <a:ln/>
        </p:spPr>
        <p:txBody>
          <a:bodyPr wrap="square" lIns="0" tIns="0" rIns="0" bIns="0" rtlCol="0" anchor="ctr"/>
          <a:lstStyle/>
          <a:p>
            <a:pPr indent="0" marL="0">
              <a:buNone/>
            </a:pPr>
            <a:r>
              <a:rPr lang="en-US" sz="1050" dirty="0">
                <a:solidFill>
                  <a:srgbClr val="4A5262"/>
                </a:solidFill>
                <a:latin typeface="맑은 고딕" pitchFamily="34" charset="0"/>
                <a:ea typeface="맑은 고딕" pitchFamily="34" charset="-122"/>
                <a:cs typeface="맑은 고딕" pitchFamily="34" charset="-120"/>
              </a:rPr>
              <a:t>이미 설치된 화면이 있으면 해상도·입력 규격에 맞춰 콘텐츠만 제작합니다.</a:t>
            </a:r>
            <a:endParaRPr lang="en-US" sz="1050" dirty="0"/>
          </a:p>
        </p:txBody>
      </p:sp>
      <p:sp>
        <p:nvSpPr>
          <p:cNvPr id="19" name="Text 16"/>
          <p:cNvSpPr/>
          <p:nvPr/>
        </p:nvSpPr>
        <p:spPr>
          <a:xfrm>
            <a:off x="11155680" y="6291072"/>
            <a:ext cx="548640" cy="274320"/>
          </a:xfrm>
          <a:prstGeom prst="rect">
            <a:avLst/>
          </a:prstGeom>
          <a:noFill/>
          <a:ln/>
        </p:spPr>
        <p:txBody>
          <a:bodyPr wrap="square" lIns="0" tIns="0" rIns="0" bIns="0" rtlCol="0" anchor="ctr"/>
          <a:lstStyle/>
          <a:p>
            <a:pPr algn="r" indent="0" marL="0">
              <a:buNone/>
            </a:pPr>
            <a:r>
              <a:rPr lang="en-US" sz="1000" dirty="0">
                <a:solidFill>
                  <a:srgbClr val="9AA3B0"/>
                </a:solidFill>
                <a:latin typeface="맑은 고딕" pitchFamily="34" charset="0"/>
                <a:ea typeface="맑은 고딕" pitchFamily="34" charset="-122"/>
                <a:cs typeface="맑은 고딕"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01B33"/>
        </a:solidFill>
      </p:bgPr>
    </p:bg>
    <p:spTree>
      <p:nvGrpSpPr>
        <p:cNvPr id="1" name=""/>
        <p:cNvGrpSpPr/>
        <p:nvPr/>
      </p:nvGrpSpPr>
      <p:grpSpPr>
        <a:xfrm>
          <a:off x="0" y="0"/>
          <a:ext cx="0" cy="0"/>
          <a:chOff x="0" y="0"/>
          <a:chExt cx="0" cy="0"/>
        </a:xfrm>
      </p:grpSpPr>
      <p:pic>
        <p:nvPicPr>
          <p:cNvPr id="2" name="Image 0" descr="/home/user/oneul-bomnal/assets/works/andong-station-facade.jpg">    </p:cNvPr>
          <p:cNvPicPr>
            <a:picLocks noChangeAspect="1"/>
          </p:cNvPicPr>
          <p:nvPr/>
        </p:nvPicPr>
        <p:blipFill>
          <a:blip r:embed="rId1"/>
          <a:srcRect l="0" r="0" t="0" b="0"/>
          <a:stretch/>
        </p:blipFill>
        <p:spPr>
          <a:xfrm>
            <a:off x="0" y="0"/>
            <a:ext cx="5669280" cy="6858000"/>
          </a:xfrm>
          <a:prstGeom prst="rect">
            <a:avLst/>
          </a:prstGeom>
        </p:spPr>
      </p:pic>
      <p:sp>
        <p:nvSpPr>
          <p:cNvPr id="3" name="Text 0"/>
          <p:cNvSpPr/>
          <p:nvPr/>
        </p:nvSpPr>
        <p:spPr>
          <a:xfrm>
            <a:off x="6309360" y="1051560"/>
            <a:ext cx="5212080" cy="274320"/>
          </a:xfrm>
          <a:prstGeom prst="rect">
            <a:avLst/>
          </a:prstGeom>
          <a:noFill/>
          <a:ln/>
        </p:spPr>
        <p:txBody>
          <a:bodyPr wrap="square" lIns="0" tIns="0" rIns="0" bIns="0" rtlCol="0" anchor="ctr"/>
          <a:lstStyle/>
          <a:p>
            <a:pPr indent="0" marL="0">
              <a:buNone/>
            </a:pPr>
            <a:r>
              <a:rPr lang="en-US" sz="1200" b="1" spc="200" kern="0" dirty="0">
                <a:solidFill>
                  <a:srgbClr val="0075C9"/>
                </a:solidFill>
                <a:latin typeface="맑은 고딕" pitchFamily="34" charset="0"/>
                <a:ea typeface="맑은 고딕" pitchFamily="34" charset="-122"/>
                <a:cs typeface="맑은 고딕" pitchFamily="34" charset="-120"/>
              </a:rPr>
              <a:t>SERVICE 04</a:t>
            </a:r>
            <a:endParaRPr lang="en-US" sz="1200" dirty="0"/>
          </a:p>
        </p:txBody>
      </p:sp>
      <p:sp>
        <p:nvSpPr>
          <p:cNvPr id="4" name="Text 1"/>
          <p:cNvSpPr/>
          <p:nvPr/>
        </p:nvSpPr>
        <p:spPr>
          <a:xfrm>
            <a:off x="6309360" y="1371600"/>
            <a:ext cx="5212080" cy="1371600"/>
          </a:xfrm>
          <a:prstGeom prst="rect">
            <a:avLst/>
          </a:prstGeom>
          <a:noFill/>
          <a:ln/>
        </p:spPr>
        <p:txBody>
          <a:bodyPr wrap="square" lIns="0" tIns="0" rIns="0" bIns="0" rtlCol="0" anchor="ctr"/>
          <a:lstStyle/>
          <a:p>
            <a:pPr indent="0" marL="0">
              <a:lnSpc>
                <a:spcPts val="3800"/>
              </a:lnSpc>
              <a:buNone/>
            </a:pPr>
            <a:r>
              <a:rPr lang="en-US" sz="2800" b="1" dirty="0">
                <a:solidFill>
                  <a:srgbClr val="FFFFFF"/>
                </a:solidFill>
                <a:latin typeface="맑은 고딕" pitchFamily="34" charset="0"/>
                <a:ea typeface="맑은 고딕" pitchFamily="34" charset="-122"/>
                <a:cs typeface="맑은 고딕" pitchFamily="34" charset="-120"/>
              </a:rPr>
              <a:t>빔프로젝터로</a:t>
            </a:r>
            <a:endParaRPr lang="en-US" sz="2800" dirty="0"/>
          </a:p>
          <a:p>
            <a:pPr indent="0" marL="0">
              <a:lnSpc>
                <a:spcPts val="3800"/>
              </a:lnSpc>
              <a:buNone/>
            </a:pPr>
            <a:r>
              <a:rPr lang="en-US" sz="2800" b="1" dirty="0">
                <a:solidFill>
                  <a:srgbClr val="FFFFFF"/>
                </a:solidFill>
                <a:latin typeface="맑은 고딕" pitchFamily="34" charset="0"/>
                <a:ea typeface="맑은 고딕" pitchFamily="34" charset="-122"/>
                <a:cs typeface="맑은 고딕" pitchFamily="34" charset="-120"/>
              </a:rPr>
              <a:t>건물을 화면으로 바꿉니다</a:t>
            </a:r>
            <a:endParaRPr lang="en-US" sz="2800" dirty="0"/>
          </a:p>
        </p:txBody>
      </p:sp>
      <p:sp>
        <p:nvSpPr>
          <p:cNvPr id="5" name="Text 2"/>
          <p:cNvSpPr/>
          <p:nvPr/>
        </p:nvSpPr>
        <p:spPr>
          <a:xfrm>
            <a:off x="6309360" y="2880360"/>
            <a:ext cx="5212080" cy="1280160"/>
          </a:xfrm>
          <a:prstGeom prst="rect">
            <a:avLst/>
          </a:prstGeom>
          <a:noFill/>
          <a:ln/>
        </p:spPr>
        <p:txBody>
          <a:bodyPr wrap="square" lIns="0" tIns="0" rIns="0" bIns="0" rtlCol="0" anchor="ctr"/>
          <a:lstStyle/>
          <a:p>
            <a:pPr indent="0" marL="0">
              <a:lnSpc>
                <a:spcPts val="2000"/>
              </a:lnSpc>
              <a:buNone/>
            </a:pPr>
            <a:r>
              <a:rPr lang="en-US" sz="1200" dirty="0">
                <a:solidFill>
                  <a:srgbClr val="CFD6E4"/>
                </a:solidFill>
                <a:latin typeface="맑은 고딕" pitchFamily="34" charset="0"/>
                <a:ea typeface="맑은 고딕" pitchFamily="34" charset="-122"/>
                <a:cs typeface="맑은 고딕" pitchFamily="34" charset="-120"/>
              </a:rPr>
              <a:t>미디어파사드는 건물 외벽이나 전시장 벽면 자체를 하나의 큰 화면으로 쓰는 방식입니다. 화면 장치를 새로 달지 않고 빔프로젝터로 쏘기 때문에, 건물을 손대지 않고 밤에만 화면으로 바꿀 수 있습니다.</a:t>
            </a:r>
            <a:endParaRPr lang="en-US" sz="1200" dirty="0"/>
          </a:p>
        </p:txBody>
      </p:sp>
      <p:sp>
        <p:nvSpPr>
          <p:cNvPr id="6" name="Text 3"/>
          <p:cNvSpPr/>
          <p:nvPr/>
        </p:nvSpPr>
        <p:spPr>
          <a:xfrm>
            <a:off x="6309360" y="4206240"/>
            <a:ext cx="5212080" cy="1463040"/>
          </a:xfrm>
          <a:prstGeom prst="rect">
            <a:avLst/>
          </a:prstGeom>
          <a:noFill/>
          <a:ln/>
        </p:spPr>
        <p:txBody>
          <a:bodyPr wrap="square" lIns="0" tIns="0" rIns="0" bIns="0" rtlCol="0" anchor="ctr"/>
          <a:lstStyle/>
          <a:p>
            <a:pPr marL="342900" indent="-342900">
              <a:spcAft>
                <a:spcPts val="800"/>
              </a:spcAft>
              <a:buSzPct val="100000"/>
              <a:buChar char="•"/>
            </a:pPr>
            <a:r>
              <a:rPr lang="en-US" sz="1200" dirty="0">
                <a:solidFill>
                  <a:srgbClr val="FFFFFF"/>
                </a:solidFill>
                <a:latin typeface="맑은 고딕" pitchFamily="34" charset="0"/>
                <a:ea typeface="맑은 고딕" pitchFamily="34" charset="-122"/>
                <a:cs typeface="맑은 고딕" pitchFamily="34" charset="-120"/>
              </a:rPr>
              <a:t>현장 실측 · 프로젝터 대수와 밝기 산정</a:t>
            </a:r>
            <a:endParaRPr lang="en-US" sz="1200" dirty="0"/>
          </a:p>
          <a:p>
            <a:pPr marL="342900" indent="-342900">
              <a:spcAft>
                <a:spcPts val="800"/>
              </a:spcAft>
              <a:buSzPct val="100000"/>
              <a:buChar char="•"/>
            </a:pPr>
            <a:r>
              <a:rPr lang="en-US" sz="1200" dirty="0">
                <a:solidFill>
                  <a:srgbClr val="FFFFFF"/>
                </a:solidFill>
                <a:latin typeface="맑은 고딕" pitchFamily="34" charset="0"/>
                <a:ea typeface="맑은 고딕" pitchFamily="34" charset="-122"/>
                <a:cs typeface="맑은 고딕" pitchFamily="34" charset="-120"/>
              </a:rPr>
              <a:t>벽면 형태에 맞춘 프로젝션 매핑</a:t>
            </a:r>
            <a:endParaRPr lang="en-US" sz="1200" dirty="0"/>
          </a:p>
          <a:p>
            <a:pPr marL="342900" indent="-342900">
              <a:spcAft>
                <a:spcPts val="800"/>
              </a:spcAft>
              <a:buSzPct val="100000"/>
              <a:buChar char="•"/>
            </a:pPr>
            <a:r>
              <a:rPr lang="en-US" sz="1200" dirty="0">
                <a:solidFill>
                  <a:srgbClr val="FFFFFF"/>
                </a:solidFill>
                <a:latin typeface="맑은 고딕" pitchFamily="34" charset="0"/>
                <a:ea typeface="맑은 고딕" pitchFamily="34" charset="-122"/>
                <a:cs typeface="맑은 고딕" pitchFamily="34" charset="-120"/>
              </a:rPr>
              <a:t>축제 · 개관 · 전시 단기 설치와 철거</a:t>
            </a:r>
            <a:endParaRPr lang="en-US" sz="1200" dirty="0"/>
          </a:p>
          <a:p>
            <a:pPr marL="342900" indent="-342900">
              <a:spcAft>
                <a:spcPts val="800"/>
              </a:spcAft>
              <a:buSzPct val="100000"/>
              <a:buChar char="•"/>
            </a:pPr>
            <a:r>
              <a:rPr lang="en-US" sz="1200" dirty="0">
                <a:solidFill>
                  <a:srgbClr val="FFFFFF"/>
                </a:solidFill>
                <a:latin typeface="맑은 고딕" pitchFamily="34" charset="0"/>
                <a:ea typeface="맑은 고딕" pitchFamily="34" charset="-122"/>
                <a:cs typeface="맑은 고딕" pitchFamily="34" charset="-120"/>
              </a:rPr>
              <a:t>일몰 기준 상시 상영 스케줄 운영</a:t>
            </a:r>
            <a:endParaRPr lang="en-US" sz="1200" dirty="0"/>
          </a:p>
        </p:txBody>
      </p:sp>
      <p:sp>
        <p:nvSpPr>
          <p:cNvPr id="7" name="Text 4"/>
          <p:cNvSpPr/>
          <p:nvPr/>
        </p:nvSpPr>
        <p:spPr>
          <a:xfrm>
            <a:off x="320040" y="6355080"/>
            <a:ext cx="5029200" cy="274320"/>
          </a:xfrm>
          <a:prstGeom prst="rect">
            <a:avLst/>
          </a:prstGeom>
          <a:noFill/>
          <a:ln/>
        </p:spPr>
        <p:txBody>
          <a:bodyPr wrap="square" lIns="0" tIns="0" rIns="0" bIns="0" rtlCol="0" anchor="ctr"/>
          <a:lstStyle/>
          <a:p>
            <a:pPr indent="0" marL="0">
              <a:buNone/>
            </a:pPr>
            <a:r>
              <a:rPr lang="en-US" sz="950" dirty="0">
                <a:solidFill>
                  <a:srgbClr val="DDE3EE"/>
                </a:solidFill>
                <a:latin typeface="맑은 고딕" pitchFamily="34" charset="0"/>
                <a:ea typeface="맑은 고딕" pitchFamily="34" charset="-122"/>
                <a:cs typeface="맑은 고딕" pitchFamily="34" charset="-120"/>
              </a:rPr>
              <a:t>안동 문화플랫폼 모디684 · 야외 건물 미디어파사드</a:t>
            </a:r>
            <a:endParaRPr lang="en-US" sz="950" dirty="0"/>
          </a:p>
        </p:txBody>
      </p:sp>
      <p:sp>
        <p:nvSpPr>
          <p:cNvPr id="8" name="Text 5"/>
          <p:cNvSpPr/>
          <p:nvPr/>
        </p:nvSpPr>
        <p:spPr>
          <a:xfrm>
            <a:off x="11155680" y="6291072"/>
            <a:ext cx="548640" cy="274320"/>
          </a:xfrm>
          <a:prstGeom prst="rect">
            <a:avLst/>
          </a:prstGeom>
          <a:noFill/>
          <a:ln/>
        </p:spPr>
        <p:txBody>
          <a:bodyPr wrap="square" lIns="0" tIns="0" rIns="0" bIns="0" rtlCol="0" anchor="ctr"/>
          <a:lstStyle/>
          <a:p>
            <a:pPr algn="r" indent="0" marL="0">
              <a:buNone/>
            </a:pPr>
            <a:r>
              <a:rPr lang="en-US" sz="1000" dirty="0">
                <a:solidFill>
                  <a:srgbClr val="9AA3B0"/>
                </a:solidFill>
                <a:latin typeface="맑은 고딕" pitchFamily="34" charset="0"/>
                <a:ea typeface="맑은 고딕" pitchFamily="34" charset="-122"/>
                <a:cs typeface="맑은 고딕"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640080" y="457200"/>
            <a:ext cx="7315200" cy="274320"/>
          </a:xfrm>
          <a:prstGeom prst="rect">
            <a:avLst/>
          </a:prstGeom>
          <a:noFill/>
          <a:ln/>
        </p:spPr>
        <p:txBody>
          <a:bodyPr wrap="square" lIns="0" tIns="0" rIns="0" bIns="0" rtlCol="0" anchor="ctr"/>
          <a:lstStyle/>
          <a:p>
            <a:pPr indent="0" marL="0">
              <a:buNone/>
            </a:pPr>
            <a:r>
              <a:rPr lang="en-US" sz="1200" b="1" spc="200" kern="0" dirty="0">
                <a:solidFill>
                  <a:srgbClr val="0075C9"/>
                </a:solidFill>
                <a:latin typeface="맑은 고딕" pitchFamily="34" charset="0"/>
                <a:ea typeface="맑은 고딕" pitchFamily="34" charset="-122"/>
                <a:cs typeface="맑은 고딕" pitchFamily="34" charset="-120"/>
              </a:rPr>
              <a:t>WHAT FITS WHERE</a:t>
            </a:r>
            <a:endParaRPr lang="en-US" sz="1200" dirty="0"/>
          </a:p>
        </p:txBody>
      </p:sp>
      <p:sp>
        <p:nvSpPr>
          <p:cNvPr id="3" name="Text 1"/>
          <p:cNvSpPr/>
          <p:nvPr/>
        </p:nvSpPr>
        <p:spPr>
          <a:xfrm>
            <a:off x="640080" y="749808"/>
            <a:ext cx="8412480" cy="932688"/>
          </a:xfrm>
          <a:prstGeom prst="rect">
            <a:avLst/>
          </a:prstGeom>
          <a:noFill/>
          <a:ln/>
        </p:spPr>
        <p:txBody>
          <a:bodyPr wrap="square" lIns="0" tIns="0" rIns="0" bIns="0" rtlCol="0" anchor="t"/>
          <a:lstStyle/>
          <a:p>
            <a:pPr indent="0" marL="0">
              <a:buNone/>
            </a:pPr>
            <a:r>
              <a:rPr lang="en-US" sz="3200" b="1" dirty="0">
                <a:solidFill>
                  <a:srgbClr val="101B33"/>
                </a:solidFill>
                <a:latin typeface="맑은 고딕" pitchFamily="34" charset="0"/>
                <a:ea typeface="맑은 고딕" pitchFamily="34" charset="-122"/>
                <a:cs typeface="맑은 고딕" pitchFamily="34" charset="-120"/>
              </a:rPr>
              <a:t>화면 종류가 다르면 영상도 달라집니다</a:t>
            </a:r>
            <a:endParaRPr lang="en-US" sz="3200" dirty="0"/>
          </a:p>
        </p:txBody>
      </p:sp>
      <p:sp>
        <p:nvSpPr>
          <p:cNvPr id="4" name="Text 2"/>
          <p:cNvSpPr/>
          <p:nvPr/>
        </p:nvSpPr>
        <p:spPr>
          <a:xfrm>
            <a:off x="640080" y="1691640"/>
            <a:ext cx="10881360" cy="320040"/>
          </a:xfrm>
          <a:prstGeom prst="rect">
            <a:avLst/>
          </a:prstGeom>
          <a:noFill/>
          <a:ln/>
        </p:spPr>
        <p:txBody>
          <a:bodyPr wrap="square" lIns="0" tIns="0" rIns="0" bIns="0" rtlCol="0" anchor="ctr"/>
          <a:lstStyle/>
          <a:p>
            <a:pPr indent="0" marL="0">
              <a:buNone/>
            </a:pPr>
            <a:r>
              <a:rPr lang="en-US" sz="1250" dirty="0">
                <a:solidFill>
                  <a:srgbClr val="4A5262"/>
                </a:solidFill>
                <a:latin typeface="맑은 고딕" pitchFamily="34" charset="0"/>
                <a:ea typeface="맑은 고딕" pitchFamily="34" charset="-122"/>
                <a:cs typeface="맑은 고딕" pitchFamily="34" charset="-120"/>
              </a:rPr>
              <a:t>16:9로 만든 영상을 32:9 화면에 올리면 좌우가 비거나 위아래가 잘립니다. 보는 거리도 다릅니다.</a:t>
            </a:r>
            <a:endParaRPr lang="en-US" sz="1250" dirty="0"/>
          </a:p>
        </p:txBody>
      </p:sp>
      <p:sp>
        <p:nvSpPr>
          <p:cNvPr id="5" name="Shape 3"/>
          <p:cNvSpPr/>
          <p:nvPr/>
        </p:nvSpPr>
        <p:spPr>
          <a:xfrm>
            <a:off x="640080" y="2286000"/>
            <a:ext cx="2697480" cy="3566160"/>
          </a:xfrm>
          <a:prstGeom prst="roundRect">
            <a:avLst>
              <a:gd name="adj" fmla="val 2034"/>
            </a:avLst>
          </a:prstGeom>
          <a:solidFill>
            <a:srgbClr val="FFFFFF"/>
          </a:solidFill>
          <a:ln w="12700">
            <a:solidFill>
              <a:srgbClr val="DFE3EA"/>
            </a:solidFill>
            <a:prstDash val="solid"/>
          </a:ln>
          <a:effectLst>
            <a:outerShdw sx="100000" sy="100000" kx="0" ky="0" algn="bl" rotWithShape="0" blurRad="152400" dist="38100" dir="5400000">
              <a:srgbClr val="101B33">
                <a:alpha val="7000"/>
              </a:srgbClr>
            </a:outerShdw>
          </a:effectLst>
        </p:spPr>
        <p:txBody>
          <a:bodyPr/>
          <a:p/>
        </p:txBody>
      </p:sp>
      <p:pic>
        <p:nvPicPr>
          <p:cNvPr id="6" name="Image 0" descr="/home/user/oneul-bomnal/assets/deck/eyewall.jpg">    </p:cNvPr>
          <p:cNvPicPr>
            <a:picLocks noChangeAspect="1"/>
          </p:cNvPicPr>
          <p:nvPr/>
        </p:nvPicPr>
        <p:blipFill>
          <a:blip r:embed="rId1"/>
          <a:srcRect l="0" r="0" t="0" b="0"/>
          <a:stretch/>
        </p:blipFill>
        <p:spPr>
          <a:xfrm>
            <a:off x="804672" y="2450592"/>
            <a:ext cx="2368296" cy="1325880"/>
          </a:xfrm>
          <a:prstGeom prst="rect">
            <a:avLst/>
          </a:prstGeom>
        </p:spPr>
      </p:pic>
      <p:sp>
        <p:nvSpPr>
          <p:cNvPr id="7" name="Text 4"/>
          <p:cNvSpPr/>
          <p:nvPr/>
        </p:nvSpPr>
        <p:spPr>
          <a:xfrm>
            <a:off x="896112" y="3913632"/>
            <a:ext cx="2185416" cy="548640"/>
          </a:xfrm>
          <a:prstGeom prst="rect">
            <a:avLst/>
          </a:prstGeom>
          <a:noFill/>
          <a:ln/>
        </p:spPr>
        <p:txBody>
          <a:bodyPr wrap="square" lIns="0" tIns="0" rIns="0" bIns="0" rtlCol="0" anchor="t"/>
          <a:lstStyle/>
          <a:p>
            <a:pPr indent="0" marL="0">
              <a:buNone/>
            </a:pPr>
            <a:r>
              <a:rPr lang="en-US" sz="1250" b="1" dirty="0">
                <a:solidFill>
                  <a:srgbClr val="101B33"/>
                </a:solidFill>
                <a:latin typeface="맑은 고딕" pitchFamily="34" charset="0"/>
                <a:ea typeface="맑은 고딕" pitchFamily="34" charset="-122"/>
                <a:cs typeface="맑은 고딕" pitchFamily="34" charset="-120"/>
              </a:rPr>
              <a:t>건물 외벽 대형 LED 전광판</a:t>
            </a:r>
            <a:endParaRPr lang="en-US" sz="1250" dirty="0"/>
          </a:p>
        </p:txBody>
      </p:sp>
      <p:sp>
        <p:nvSpPr>
          <p:cNvPr id="8" name="Text 5"/>
          <p:cNvSpPr/>
          <p:nvPr/>
        </p:nvSpPr>
        <p:spPr>
          <a:xfrm>
            <a:off x="896112" y="4480560"/>
            <a:ext cx="2185416" cy="320040"/>
          </a:xfrm>
          <a:prstGeom prst="rect">
            <a:avLst/>
          </a:prstGeom>
          <a:noFill/>
          <a:ln/>
        </p:spPr>
        <p:txBody>
          <a:bodyPr wrap="square" lIns="0" tIns="0" rIns="0" bIns="0" rtlCol="0" anchor="ctr"/>
          <a:lstStyle/>
          <a:p>
            <a:pPr indent="0" marL="0">
              <a:buNone/>
            </a:pPr>
            <a:r>
              <a:rPr lang="en-US" sz="1000" b="1" dirty="0">
                <a:solidFill>
                  <a:srgbClr val="0075C9"/>
                </a:solidFill>
                <a:latin typeface="맑은 고딕" pitchFamily="34" charset="0"/>
                <a:ea typeface="맑은 고딕" pitchFamily="34" charset="-122"/>
                <a:cs typeface="맑은 고딕" pitchFamily="34" charset="-120"/>
              </a:rPr>
              <a:t>가로로 긴 띠형 화면 (예: 32:9)</a:t>
            </a:r>
            <a:endParaRPr lang="en-US" sz="1000" dirty="0"/>
          </a:p>
        </p:txBody>
      </p:sp>
      <p:sp>
        <p:nvSpPr>
          <p:cNvPr id="9" name="Text 6"/>
          <p:cNvSpPr/>
          <p:nvPr/>
        </p:nvSpPr>
        <p:spPr>
          <a:xfrm>
            <a:off x="896112" y="4828032"/>
            <a:ext cx="2185416" cy="868680"/>
          </a:xfrm>
          <a:prstGeom prst="rect">
            <a:avLst/>
          </a:prstGeom>
          <a:noFill/>
          <a:ln/>
        </p:spPr>
        <p:txBody>
          <a:bodyPr wrap="square" lIns="0" tIns="0" rIns="0" bIns="0" rtlCol="0" anchor="t"/>
          <a:lstStyle/>
          <a:p>
            <a:pPr indent="0" marL="0">
              <a:lnSpc>
                <a:spcPts val="1500"/>
              </a:lnSpc>
              <a:buNone/>
            </a:pPr>
            <a:r>
              <a:rPr lang="en-US" sz="1000" dirty="0">
                <a:solidFill>
                  <a:srgbClr val="4A5262"/>
                </a:solidFill>
                <a:latin typeface="맑은 고딕" pitchFamily="34" charset="0"/>
                <a:ea typeface="맑은 고딕" pitchFamily="34" charset="-122"/>
                <a:cs typeface="맑은 고딕" pitchFamily="34" charset="-120"/>
              </a:rPr>
              <a:t>멀리서 스쳐 보는 화면. 글자보다 색과 움직임으로 읽히는 추상 영상이 맞습니다.</a:t>
            </a:r>
            <a:endParaRPr lang="en-US" sz="1000" dirty="0"/>
          </a:p>
        </p:txBody>
      </p:sp>
      <p:sp>
        <p:nvSpPr>
          <p:cNvPr id="10" name="Shape 7"/>
          <p:cNvSpPr/>
          <p:nvPr/>
        </p:nvSpPr>
        <p:spPr>
          <a:xfrm>
            <a:off x="3547872" y="2286000"/>
            <a:ext cx="2697480" cy="3566160"/>
          </a:xfrm>
          <a:prstGeom prst="roundRect">
            <a:avLst>
              <a:gd name="adj" fmla="val 2034"/>
            </a:avLst>
          </a:prstGeom>
          <a:solidFill>
            <a:srgbClr val="FFFFFF"/>
          </a:solidFill>
          <a:ln w="12700">
            <a:solidFill>
              <a:srgbClr val="DFE3EA"/>
            </a:solidFill>
            <a:prstDash val="solid"/>
          </a:ln>
          <a:effectLst>
            <a:outerShdw sx="100000" sy="100000" kx="0" ky="0" algn="bl" rotWithShape="0" blurRad="152400" dist="38100" dir="5400000">
              <a:srgbClr val="101B33">
                <a:alpha val="7000"/>
              </a:srgbClr>
            </a:outerShdw>
          </a:effectLst>
        </p:spPr>
        <p:txBody>
          <a:bodyPr/>
          <a:p/>
        </p:txBody>
      </p:sp>
      <p:pic>
        <p:nvPicPr>
          <p:cNvPr id="11" name="Image 1" descr="/home/user/oneul-bomnal/assets/deck/flowribbons.jpg">    </p:cNvPr>
          <p:cNvPicPr>
            <a:picLocks noChangeAspect="1"/>
          </p:cNvPicPr>
          <p:nvPr/>
        </p:nvPicPr>
        <p:blipFill>
          <a:blip r:embed="rId2"/>
          <a:srcRect l="0" r="0" t="0" b="0"/>
          <a:stretch/>
        </p:blipFill>
        <p:spPr>
          <a:xfrm>
            <a:off x="3712464" y="2450592"/>
            <a:ext cx="2368296" cy="1325880"/>
          </a:xfrm>
          <a:prstGeom prst="rect">
            <a:avLst/>
          </a:prstGeom>
        </p:spPr>
      </p:pic>
      <p:sp>
        <p:nvSpPr>
          <p:cNvPr id="12" name="Text 8"/>
          <p:cNvSpPr/>
          <p:nvPr/>
        </p:nvSpPr>
        <p:spPr>
          <a:xfrm>
            <a:off x="3803904" y="3913632"/>
            <a:ext cx="2185416" cy="548640"/>
          </a:xfrm>
          <a:prstGeom prst="rect">
            <a:avLst/>
          </a:prstGeom>
          <a:noFill/>
          <a:ln/>
        </p:spPr>
        <p:txBody>
          <a:bodyPr wrap="square" lIns="0" tIns="0" rIns="0" bIns="0" rtlCol="0" anchor="t"/>
          <a:lstStyle/>
          <a:p>
            <a:pPr indent="0" marL="0">
              <a:buNone/>
            </a:pPr>
            <a:r>
              <a:rPr lang="en-US" sz="1250" b="1" dirty="0">
                <a:solidFill>
                  <a:srgbClr val="101B33"/>
                </a:solidFill>
                <a:latin typeface="맑은 고딕" pitchFamily="34" charset="0"/>
                <a:ea typeface="맑은 고딕" pitchFamily="34" charset="-122"/>
                <a:cs typeface="맑은 고딕" pitchFamily="34" charset="-120"/>
              </a:rPr>
              <a:t>관공서·기업 로비 LED 미디어월</a:t>
            </a:r>
            <a:endParaRPr lang="en-US" sz="1250" dirty="0"/>
          </a:p>
        </p:txBody>
      </p:sp>
      <p:sp>
        <p:nvSpPr>
          <p:cNvPr id="13" name="Text 9"/>
          <p:cNvSpPr/>
          <p:nvPr/>
        </p:nvSpPr>
        <p:spPr>
          <a:xfrm>
            <a:off x="3803904" y="4480560"/>
            <a:ext cx="2185416" cy="320040"/>
          </a:xfrm>
          <a:prstGeom prst="rect">
            <a:avLst/>
          </a:prstGeom>
          <a:noFill/>
          <a:ln/>
        </p:spPr>
        <p:txBody>
          <a:bodyPr wrap="square" lIns="0" tIns="0" rIns="0" bIns="0" rtlCol="0" anchor="ctr"/>
          <a:lstStyle/>
          <a:p>
            <a:pPr indent="0" marL="0">
              <a:buNone/>
            </a:pPr>
            <a:r>
              <a:rPr lang="en-US" sz="1000" b="1" dirty="0">
                <a:solidFill>
                  <a:srgbClr val="0075C9"/>
                </a:solidFill>
                <a:latin typeface="맑은 고딕" pitchFamily="34" charset="0"/>
                <a:ea typeface="맑은 고딕" pitchFamily="34" charset="-122"/>
                <a:cs typeface="맑은 고딕" pitchFamily="34" charset="-120"/>
              </a:rPr>
              <a:t>16:9 대형 화면 상시 재생</a:t>
            </a:r>
            <a:endParaRPr lang="en-US" sz="1000" dirty="0"/>
          </a:p>
        </p:txBody>
      </p:sp>
      <p:sp>
        <p:nvSpPr>
          <p:cNvPr id="14" name="Text 10"/>
          <p:cNvSpPr/>
          <p:nvPr/>
        </p:nvSpPr>
        <p:spPr>
          <a:xfrm>
            <a:off x="3803904" y="4828032"/>
            <a:ext cx="2185416" cy="868680"/>
          </a:xfrm>
          <a:prstGeom prst="rect">
            <a:avLst/>
          </a:prstGeom>
          <a:noFill/>
          <a:ln/>
        </p:spPr>
        <p:txBody>
          <a:bodyPr wrap="square" lIns="0" tIns="0" rIns="0" bIns="0" rtlCol="0" anchor="t"/>
          <a:lstStyle/>
          <a:p>
            <a:pPr indent="0" marL="0">
              <a:lnSpc>
                <a:spcPts val="1500"/>
              </a:lnSpc>
              <a:buNone/>
            </a:pPr>
            <a:r>
              <a:rPr lang="en-US" sz="1000" dirty="0">
                <a:solidFill>
                  <a:srgbClr val="4A5262"/>
                </a:solidFill>
                <a:latin typeface="맑은 고딕" pitchFamily="34" charset="0"/>
                <a:ea typeface="맑은 고딕" pitchFamily="34" charset="-122"/>
                <a:cs typeface="맑은 고딕" pitchFamily="34" charset="-120"/>
              </a:rPr>
              <a:t>머무는 사람이 보는 화면. 천천히 흐르는 컬러 무빙과 기관 데이터 시각화가 맞습니다.</a:t>
            </a:r>
            <a:endParaRPr lang="en-US" sz="1000" dirty="0"/>
          </a:p>
        </p:txBody>
      </p:sp>
      <p:sp>
        <p:nvSpPr>
          <p:cNvPr id="15" name="Shape 11"/>
          <p:cNvSpPr/>
          <p:nvPr/>
        </p:nvSpPr>
        <p:spPr>
          <a:xfrm>
            <a:off x="6455664" y="2286000"/>
            <a:ext cx="2697480" cy="3566160"/>
          </a:xfrm>
          <a:prstGeom prst="roundRect">
            <a:avLst>
              <a:gd name="adj" fmla="val 2034"/>
            </a:avLst>
          </a:prstGeom>
          <a:solidFill>
            <a:srgbClr val="FFFFFF"/>
          </a:solidFill>
          <a:ln w="12700">
            <a:solidFill>
              <a:srgbClr val="DFE3EA"/>
            </a:solidFill>
            <a:prstDash val="solid"/>
          </a:ln>
          <a:effectLst>
            <a:outerShdw sx="100000" sy="100000" kx="0" ky="0" algn="bl" rotWithShape="0" blurRad="152400" dist="38100" dir="5400000">
              <a:srgbClr val="101B33">
                <a:alpha val="7000"/>
              </a:srgbClr>
            </a:outerShdw>
          </a:effectLst>
        </p:spPr>
        <p:txBody>
          <a:bodyPr/>
          <a:p/>
        </p:txBody>
      </p:sp>
      <p:pic>
        <p:nvPicPr>
          <p:cNvPr id="16" name="Image 2" descr="/home/user/oneul-bomnal/assets/works/gumico-signage-yeongchae.jpg">    </p:cNvPr>
          <p:cNvPicPr>
            <a:picLocks noChangeAspect="1"/>
          </p:cNvPicPr>
          <p:nvPr/>
        </p:nvPicPr>
        <p:blipFill>
          <a:blip r:embed="rId3"/>
          <a:srcRect l="0" r="0" t="0" b="0"/>
          <a:stretch/>
        </p:blipFill>
        <p:spPr>
          <a:xfrm>
            <a:off x="6620256" y="2450592"/>
            <a:ext cx="2368296" cy="1325880"/>
          </a:xfrm>
          <a:prstGeom prst="rect">
            <a:avLst/>
          </a:prstGeom>
        </p:spPr>
      </p:pic>
      <p:sp>
        <p:nvSpPr>
          <p:cNvPr id="17" name="Text 12"/>
          <p:cNvSpPr/>
          <p:nvPr/>
        </p:nvSpPr>
        <p:spPr>
          <a:xfrm>
            <a:off x="6711696" y="3913632"/>
            <a:ext cx="2185416" cy="548640"/>
          </a:xfrm>
          <a:prstGeom prst="rect">
            <a:avLst/>
          </a:prstGeom>
          <a:noFill/>
          <a:ln/>
        </p:spPr>
        <p:txBody>
          <a:bodyPr wrap="square" lIns="0" tIns="0" rIns="0" bIns="0" rtlCol="0" anchor="t"/>
          <a:lstStyle/>
          <a:p>
            <a:pPr indent="0" marL="0">
              <a:buNone/>
            </a:pPr>
            <a:r>
              <a:rPr lang="en-US" sz="1250" b="1" dirty="0">
                <a:solidFill>
                  <a:srgbClr val="101B33"/>
                </a:solidFill>
                <a:latin typeface="맑은 고딕" pitchFamily="34" charset="0"/>
                <a:ea typeface="맑은 고딕" pitchFamily="34" charset="-122"/>
                <a:cs typeface="맑은 고딕" pitchFamily="34" charset="-120"/>
              </a:rPr>
              <a:t>세로형 LED 사이니지</a:t>
            </a:r>
            <a:endParaRPr lang="en-US" sz="1250" dirty="0"/>
          </a:p>
        </p:txBody>
      </p:sp>
      <p:sp>
        <p:nvSpPr>
          <p:cNvPr id="18" name="Text 13"/>
          <p:cNvSpPr/>
          <p:nvPr/>
        </p:nvSpPr>
        <p:spPr>
          <a:xfrm>
            <a:off x="6711696" y="4480560"/>
            <a:ext cx="2185416" cy="320040"/>
          </a:xfrm>
          <a:prstGeom prst="rect">
            <a:avLst/>
          </a:prstGeom>
          <a:noFill/>
          <a:ln/>
        </p:spPr>
        <p:txBody>
          <a:bodyPr wrap="square" lIns="0" tIns="0" rIns="0" bIns="0" rtlCol="0" anchor="ctr"/>
          <a:lstStyle/>
          <a:p>
            <a:pPr indent="0" marL="0">
              <a:buNone/>
            </a:pPr>
            <a:r>
              <a:rPr lang="en-US" sz="1000" b="1" dirty="0">
                <a:solidFill>
                  <a:srgbClr val="0075C9"/>
                </a:solidFill>
                <a:latin typeface="맑은 고딕" pitchFamily="34" charset="0"/>
                <a:ea typeface="맑은 고딕" pitchFamily="34" charset="-122"/>
                <a:cs typeface="맑은 고딕" pitchFamily="34" charset="-120"/>
              </a:rPr>
              <a:t>9:16 세로 화면 · 안내 사이니지 겸용</a:t>
            </a:r>
            <a:endParaRPr lang="en-US" sz="1000" dirty="0"/>
          </a:p>
        </p:txBody>
      </p:sp>
      <p:sp>
        <p:nvSpPr>
          <p:cNvPr id="19" name="Text 14"/>
          <p:cNvSpPr/>
          <p:nvPr/>
        </p:nvSpPr>
        <p:spPr>
          <a:xfrm>
            <a:off x="6711696" y="4828032"/>
            <a:ext cx="2185416" cy="868680"/>
          </a:xfrm>
          <a:prstGeom prst="rect">
            <a:avLst/>
          </a:prstGeom>
          <a:noFill/>
          <a:ln/>
        </p:spPr>
        <p:txBody>
          <a:bodyPr wrap="square" lIns="0" tIns="0" rIns="0" bIns="0" rtlCol="0" anchor="t"/>
          <a:lstStyle/>
          <a:p>
            <a:pPr indent="0" marL="0">
              <a:lnSpc>
                <a:spcPts val="1500"/>
              </a:lnSpc>
              <a:buNone/>
            </a:pPr>
            <a:r>
              <a:rPr lang="en-US" sz="1000" dirty="0">
                <a:solidFill>
                  <a:srgbClr val="4A5262"/>
                </a:solidFill>
                <a:latin typeface="맑은 고딕" pitchFamily="34" charset="0"/>
                <a:ea typeface="맑은 고딕" pitchFamily="34" charset="-122"/>
                <a:cs typeface="맑은 고딕" pitchFamily="34" charset="-120"/>
              </a:rPr>
              <a:t>안내 화면과 번갈아 트는 짧은 작품. 세로 구도로 다시 출력합니다.</a:t>
            </a:r>
            <a:endParaRPr lang="en-US" sz="1000" dirty="0"/>
          </a:p>
        </p:txBody>
      </p:sp>
      <p:sp>
        <p:nvSpPr>
          <p:cNvPr id="20" name="Shape 15"/>
          <p:cNvSpPr/>
          <p:nvPr/>
        </p:nvSpPr>
        <p:spPr>
          <a:xfrm>
            <a:off x="9363456" y="2286000"/>
            <a:ext cx="2697480" cy="3566160"/>
          </a:xfrm>
          <a:prstGeom prst="roundRect">
            <a:avLst>
              <a:gd name="adj" fmla="val 2034"/>
            </a:avLst>
          </a:prstGeom>
          <a:solidFill>
            <a:srgbClr val="FFFFFF"/>
          </a:solidFill>
          <a:ln w="12700">
            <a:solidFill>
              <a:srgbClr val="DFE3EA"/>
            </a:solidFill>
            <a:prstDash val="solid"/>
          </a:ln>
          <a:effectLst>
            <a:outerShdw sx="100000" sy="100000" kx="0" ky="0" algn="bl" rotWithShape="0" blurRad="152400" dist="38100" dir="5400000">
              <a:srgbClr val="101B33">
                <a:alpha val="7000"/>
              </a:srgbClr>
            </a:outerShdw>
          </a:effectLst>
        </p:spPr>
        <p:txBody>
          <a:bodyPr/>
          <a:p/>
        </p:txBody>
      </p:sp>
      <p:pic>
        <p:nvPicPr>
          <p:cNvPr id="21" name="Image 3" descr="/home/user/oneul-bomnal/assets/works/gbe-gumico-exhibition.jpg">    </p:cNvPr>
          <p:cNvPicPr>
            <a:picLocks noChangeAspect="1"/>
          </p:cNvPicPr>
          <p:nvPr/>
        </p:nvPicPr>
        <p:blipFill>
          <a:blip r:embed="rId4"/>
          <a:srcRect l="0" r="0" t="0" b="0"/>
          <a:stretch/>
        </p:blipFill>
        <p:spPr>
          <a:xfrm>
            <a:off x="9528048" y="2450592"/>
            <a:ext cx="2368296" cy="1325880"/>
          </a:xfrm>
          <a:prstGeom prst="rect">
            <a:avLst/>
          </a:prstGeom>
        </p:spPr>
      </p:pic>
      <p:sp>
        <p:nvSpPr>
          <p:cNvPr id="22" name="Text 16"/>
          <p:cNvSpPr/>
          <p:nvPr/>
        </p:nvSpPr>
        <p:spPr>
          <a:xfrm>
            <a:off x="9619488" y="3913632"/>
            <a:ext cx="2185416" cy="548640"/>
          </a:xfrm>
          <a:prstGeom prst="rect">
            <a:avLst/>
          </a:prstGeom>
          <a:noFill/>
          <a:ln/>
        </p:spPr>
        <p:txBody>
          <a:bodyPr wrap="square" lIns="0" tIns="0" rIns="0" bIns="0" rtlCol="0" anchor="t"/>
          <a:lstStyle/>
          <a:p>
            <a:pPr indent="0" marL="0">
              <a:buNone/>
            </a:pPr>
            <a:r>
              <a:rPr lang="en-US" sz="1250" b="1" dirty="0">
                <a:solidFill>
                  <a:srgbClr val="101B33"/>
                </a:solidFill>
                <a:latin typeface="맑은 고딕" pitchFamily="34" charset="0"/>
                <a:ea typeface="맑은 고딕" pitchFamily="34" charset="-122"/>
                <a:cs typeface="맑은 고딕" pitchFamily="34" charset="-120"/>
              </a:rPr>
              <a:t>건물 외벽 빔프로젝터 미디어파사드</a:t>
            </a:r>
            <a:endParaRPr lang="en-US" sz="1250" dirty="0"/>
          </a:p>
        </p:txBody>
      </p:sp>
      <p:sp>
        <p:nvSpPr>
          <p:cNvPr id="23" name="Text 17"/>
          <p:cNvSpPr/>
          <p:nvPr/>
        </p:nvSpPr>
        <p:spPr>
          <a:xfrm>
            <a:off x="9619488" y="4480560"/>
            <a:ext cx="2185416" cy="320040"/>
          </a:xfrm>
          <a:prstGeom prst="rect">
            <a:avLst/>
          </a:prstGeom>
          <a:noFill/>
          <a:ln/>
        </p:spPr>
        <p:txBody>
          <a:bodyPr wrap="square" lIns="0" tIns="0" rIns="0" bIns="0" rtlCol="0" anchor="ctr"/>
          <a:lstStyle/>
          <a:p>
            <a:pPr indent="0" marL="0">
              <a:buNone/>
            </a:pPr>
            <a:r>
              <a:rPr lang="en-US" sz="1000" b="1" dirty="0">
                <a:solidFill>
                  <a:srgbClr val="0075C9"/>
                </a:solidFill>
                <a:latin typeface="맑은 고딕" pitchFamily="34" charset="0"/>
                <a:ea typeface="맑은 고딕" pitchFamily="34" charset="-122"/>
                <a:cs typeface="맑은 고딕" pitchFamily="34" charset="-120"/>
              </a:rPr>
              <a:t>벽면 형태에 맞춘 프로젝션 매핑</a:t>
            </a:r>
            <a:endParaRPr lang="en-US" sz="1000" dirty="0"/>
          </a:p>
        </p:txBody>
      </p:sp>
      <p:sp>
        <p:nvSpPr>
          <p:cNvPr id="24" name="Text 18"/>
          <p:cNvSpPr/>
          <p:nvPr/>
        </p:nvSpPr>
        <p:spPr>
          <a:xfrm>
            <a:off x="9619488" y="4828032"/>
            <a:ext cx="2185416" cy="868680"/>
          </a:xfrm>
          <a:prstGeom prst="rect">
            <a:avLst/>
          </a:prstGeom>
          <a:noFill/>
          <a:ln/>
        </p:spPr>
        <p:txBody>
          <a:bodyPr wrap="square" lIns="0" tIns="0" rIns="0" bIns="0" rtlCol="0" anchor="t"/>
          <a:lstStyle/>
          <a:p>
            <a:pPr indent="0" marL="0">
              <a:lnSpc>
                <a:spcPts val="1500"/>
              </a:lnSpc>
              <a:buNone/>
            </a:pPr>
            <a:r>
              <a:rPr lang="en-US" sz="1000" dirty="0">
                <a:solidFill>
                  <a:srgbClr val="4A5262"/>
                </a:solidFill>
                <a:latin typeface="맑은 고딕" pitchFamily="34" charset="0"/>
                <a:ea typeface="맑은 고딕" pitchFamily="34" charset="-122"/>
                <a:cs typeface="맑은 고딕" pitchFamily="34" charset="-120"/>
              </a:rPr>
              <a:t>야간 상영. 건물 창·기둥 위치를 피해 매핑한 대형 영상.</a:t>
            </a:r>
            <a:endParaRPr lang="en-US" sz="1000" dirty="0"/>
          </a:p>
        </p:txBody>
      </p:sp>
      <p:sp>
        <p:nvSpPr>
          <p:cNvPr id="25" name="Text 19"/>
          <p:cNvSpPr/>
          <p:nvPr/>
        </p:nvSpPr>
        <p:spPr>
          <a:xfrm>
            <a:off x="11155680" y="6291072"/>
            <a:ext cx="548640" cy="274320"/>
          </a:xfrm>
          <a:prstGeom prst="rect">
            <a:avLst/>
          </a:prstGeom>
          <a:noFill/>
          <a:ln/>
        </p:spPr>
        <p:txBody>
          <a:bodyPr wrap="square" lIns="0" tIns="0" rIns="0" bIns="0" rtlCol="0" anchor="ctr"/>
          <a:lstStyle/>
          <a:p>
            <a:pPr algn="r" indent="0" marL="0">
              <a:buNone/>
            </a:pPr>
            <a:r>
              <a:rPr lang="en-US" sz="1000" dirty="0">
                <a:solidFill>
                  <a:srgbClr val="9AA3B0"/>
                </a:solidFill>
                <a:latin typeface="맑은 고딕" pitchFamily="34" charset="0"/>
                <a:ea typeface="맑은 고딕" pitchFamily="34" charset="-122"/>
                <a:cs typeface="맑은 고딕"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315200" cy="274320"/>
          </a:xfrm>
          <a:prstGeom prst="rect">
            <a:avLst/>
          </a:prstGeom>
          <a:noFill/>
          <a:ln/>
        </p:spPr>
        <p:txBody>
          <a:bodyPr wrap="square" lIns="0" tIns="0" rIns="0" bIns="0" rtlCol="0" anchor="ctr"/>
          <a:lstStyle/>
          <a:p>
            <a:pPr indent="0" marL="0">
              <a:buNone/>
            </a:pPr>
            <a:r>
              <a:rPr lang="en-US" sz="1200" b="1" spc="200" kern="0" dirty="0">
                <a:solidFill>
                  <a:srgbClr val="0075C9"/>
                </a:solidFill>
                <a:latin typeface="맑은 고딕" pitchFamily="34" charset="0"/>
                <a:ea typeface="맑은 고딕" pitchFamily="34" charset="-122"/>
                <a:cs typeface="맑은 고딕" pitchFamily="34" charset="-120"/>
              </a:rPr>
              <a:t>PROCESS</a:t>
            </a:r>
            <a:endParaRPr lang="en-US" sz="1200" dirty="0"/>
          </a:p>
        </p:txBody>
      </p:sp>
      <p:sp>
        <p:nvSpPr>
          <p:cNvPr id="3" name="Text 1"/>
          <p:cNvSpPr/>
          <p:nvPr/>
        </p:nvSpPr>
        <p:spPr>
          <a:xfrm>
            <a:off x="640080" y="749808"/>
            <a:ext cx="8412480" cy="932688"/>
          </a:xfrm>
          <a:prstGeom prst="rect">
            <a:avLst/>
          </a:prstGeom>
          <a:noFill/>
          <a:ln/>
        </p:spPr>
        <p:txBody>
          <a:bodyPr wrap="square" lIns="0" tIns="0" rIns="0" bIns="0" rtlCol="0" anchor="t"/>
          <a:lstStyle/>
          <a:p>
            <a:pPr indent="0" marL="0">
              <a:buNone/>
            </a:pPr>
            <a:r>
              <a:rPr lang="en-US" sz="3200" b="1" dirty="0">
                <a:solidFill>
                  <a:srgbClr val="101B33"/>
                </a:solidFill>
                <a:latin typeface="맑은 고딕" pitchFamily="34" charset="0"/>
                <a:ea typeface="맑은 고딕" pitchFamily="34" charset="-122"/>
                <a:cs typeface="맑은 고딕" pitchFamily="34" charset="-120"/>
              </a:rPr>
              <a:t>실측에서 상영까지, 같은 계약 안에서</a:t>
            </a:r>
            <a:endParaRPr lang="en-US" sz="3200" dirty="0"/>
          </a:p>
        </p:txBody>
      </p:sp>
      <p:sp>
        <p:nvSpPr>
          <p:cNvPr id="4" name="Shape 2"/>
          <p:cNvSpPr/>
          <p:nvPr/>
        </p:nvSpPr>
        <p:spPr>
          <a:xfrm>
            <a:off x="640080" y="2103120"/>
            <a:ext cx="2606040" cy="3291840"/>
          </a:xfrm>
          <a:prstGeom prst="roundRect">
            <a:avLst>
              <a:gd name="adj" fmla="val 2105"/>
            </a:avLst>
          </a:prstGeom>
          <a:solidFill>
            <a:srgbClr val="FFFFFF"/>
          </a:solidFill>
          <a:ln w="12700">
            <a:solidFill>
              <a:srgbClr val="DFE3EA"/>
            </a:solidFill>
            <a:prstDash val="solid"/>
          </a:ln>
          <a:effectLst>
            <a:outerShdw sx="100000" sy="100000" kx="0" ky="0" algn="bl" rotWithShape="0" blurRad="152400" dist="38100" dir="5400000">
              <a:srgbClr val="101B33">
                <a:alpha val="7000"/>
              </a:srgbClr>
            </a:outerShdw>
          </a:effectLst>
        </p:spPr>
        <p:txBody>
          <a:bodyPr/>
          <a:p/>
        </p:txBody>
      </p:sp>
      <p:sp>
        <p:nvSpPr>
          <p:cNvPr id="5" name="Shape 3"/>
          <p:cNvSpPr/>
          <p:nvPr/>
        </p:nvSpPr>
        <p:spPr>
          <a:xfrm>
            <a:off x="960120" y="2468880"/>
            <a:ext cx="420624" cy="420624"/>
          </a:xfrm>
          <a:prstGeom prst="ellipse">
            <a:avLst/>
          </a:prstGeom>
          <a:solidFill>
            <a:srgbClr val="0075C9"/>
          </a:solidFill>
          <a:ln w="12700">
            <a:solidFill>
              <a:srgbClr val="0075C9"/>
            </a:solidFill>
            <a:prstDash val="solid"/>
          </a:ln>
        </p:spPr>
        <p:txBody>
          <a:bodyPr/>
          <a:p/>
        </p:txBody>
      </p:sp>
      <p:sp>
        <p:nvSpPr>
          <p:cNvPr id="6" name="Text 4"/>
          <p:cNvSpPr/>
          <p:nvPr/>
        </p:nvSpPr>
        <p:spPr>
          <a:xfrm>
            <a:off x="960120" y="246888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01</a:t>
            </a:r>
            <a:endParaRPr lang="en-US" sz="1300" dirty="0"/>
          </a:p>
        </p:txBody>
      </p:sp>
      <p:sp>
        <p:nvSpPr>
          <p:cNvPr id="7" name="Text 5"/>
          <p:cNvSpPr/>
          <p:nvPr/>
        </p:nvSpPr>
        <p:spPr>
          <a:xfrm>
            <a:off x="960120" y="3035808"/>
            <a:ext cx="1965960" cy="365760"/>
          </a:xfrm>
          <a:prstGeom prst="rect">
            <a:avLst/>
          </a:prstGeom>
          <a:noFill/>
          <a:ln/>
        </p:spPr>
        <p:txBody>
          <a:bodyPr wrap="square" lIns="0" tIns="0" rIns="0" bIns="0" rtlCol="0" anchor="ctr"/>
          <a:lstStyle/>
          <a:p>
            <a:pPr indent="0" marL="0">
              <a:buNone/>
            </a:pPr>
            <a:r>
              <a:rPr lang="en-US" sz="1600" b="1" dirty="0">
                <a:solidFill>
                  <a:srgbClr val="101B33"/>
                </a:solidFill>
                <a:latin typeface="맑은 고딕" pitchFamily="34" charset="0"/>
                <a:ea typeface="맑은 고딕" pitchFamily="34" charset="-122"/>
                <a:cs typeface="맑은 고딕" pitchFamily="34" charset="-120"/>
              </a:rPr>
              <a:t>현장 실측</a:t>
            </a:r>
            <a:endParaRPr lang="en-US" sz="1600" dirty="0"/>
          </a:p>
        </p:txBody>
      </p:sp>
      <p:sp>
        <p:nvSpPr>
          <p:cNvPr id="8" name="Text 6"/>
          <p:cNvSpPr/>
          <p:nvPr/>
        </p:nvSpPr>
        <p:spPr>
          <a:xfrm>
            <a:off x="960120" y="3520440"/>
            <a:ext cx="1965960" cy="1600200"/>
          </a:xfrm>
          <a:prstGeom prst="rect">
            <a:avLst/>
          </a:prstGeom>
          <a:noFill/>
          <a:ln/>
        </p:spPr>
        <p:txBody>
          <a:bodyPr wrap="square" lIns="0" tIns="0" rIns="0" bIns="0" rtlCol="0" anchor="t"/>
          <a:lstStyle/>
          <a:p>
            <a:pPr indent="0" marL="0">
              <a:lnSpc>
                <a:spcPts val="1600"/>
              </a:lnSpc>
              <a:buNone/>
            </a:pPr>
            <a:r>
              <a:rPr lang="en-US" sz="1050" dirty="0">
                <a:solidFill>
                  <a:srgbClr val="4A5262"/>
                </a:solidFill>
                <a:latin typeface="맑은 고딕" pitchFamily="34" charset="0"/>
                <a:ea typeface="맑은 고딕" pitchFamily="34" charset="-122"/>
                <a:cs typeface="맑은 고딕" pitchFamily="34" charset="-120"/>
              </a:rPr>
              <a:t>벽면 크기와 굴곡, 주변 조도, 관람 동선, 전기 용량, 설치면 하중을 잽니다. 여기서 프로젝터 대수 또는 LED 사양이 정해집니다.</a:t>
            </a:r>
            <a:endParaRPr lang="en-US" sz="1050" dirty="0"/>
          </a:p>
        </p:txBody>
      </p:sp>
      <p:sp>
        <p:nvSpPr>
          <p:cNvPr id="9" name="Text 7"/>
          <p:cNvSpPr/>
          <p:nvPr/>
        </p:nvSpPr>
        <p:spPr>
          <a:xfrm>
            <a:off x="3264408" y="3474720"/>
            <a:ext cx="192024" cy="365760"/>
          </a:xfrm>
          <a:prstGeom prst="rect">
            <a:avLst/>
          </a:prstGeom>
          <a:noFill/>
          <a:ln/>
        </p:spPr>
        <p:txBody>
          <a:bodyPr wrap="square" lIns="0" tIns="0" rIns="0" bIns="0" rtlCol="0" anchor="ctr"/>
          <a:lstStyle/>
          <a:p>
            <a:pPr algn="ctr" indent="0" marL="0">
              <a:buNone/>
            </a:pPr>
            <a:r>
              <a:rPr lang="en-US" sz="2000" b="1" dirty="0">
                <a:solidFill>
                  <a:srgbClr val="C6CCD8"/>
                </a:solidFill>
                <a:latin typeface="맑은 고딕" pitchFamily="34" charset="0"/>
                <a:ea typeface="맑은 고딕" pitchFamily="34" charset="-122"/>
                <a:cs typeface="맑은 고딕" pitchFamily="34" charset="-120"/>
              </a:rPr>
              <a:t>›</a:t>
            </a:r>
            <a:endParaRPr lang="en-US" sz="2000" dirty="0"/>
          </a:p>
        </p:txBody>
      </p:sp>
      <p:sp>
        <p:nvSpPr>
          <p:cNvPr id="10" name="Shape 8"/>
          <p:cNvSpPr/>
          <p:nvPr/>
        </p:nvSpPr>
        <p:spPr>
          <a:xfrm>
            <a:off x="3474720" y="2103120"/>
            <a:ext cx="2606040" cy="3291840"/>
          </a:xfrm>
          <a:prstGeom prst="roundRect">
            <a:avLst>
              <a:gd name="adj" fmla="val 2105"/>
            </a:avLst>
          </a:prstGeom>
          <a:solidFill>
            <a:srgbClr val="FFFFFF"/>
          </a:solidFill>
          <a:ln w="12700">
            <a:solidFill>
              <a:srgbClr val="DFE3EA"/>
            </a:solidFill>
            <a:prstDash val="solid"/>
          </a:ln>
          <a:effectLst>
            <a:outerShdw sx="100000" sy="100000" kx="0" ky="0" algn="bl" rotWithShape="0" blurRad="152400" dist="38100" dir="5400000">
              <a:srgbClr val="101B33">
                <a:alpha val="7000"/>
              </a:srgbClr>
            </a:outerShdw>
          </a:effectLst>
        </p:spPr>
        <p:txBody>
          <a:bodyPr/>
          <a:p/>
        </p:txBody>
      </p:sp>
      <p:sp>
        <p:nvSpPr>
          <p:cNvPr id="11" name="Shape 9"/>
          <p:cNvSpPr/>
          <p:nvPr/>
        </p:nvSpPr>
        <p:spPr>
          <a:xfrm>
            <a:off x="3794760" y="2468880"/>
            <a:ext cx="420624" cy="420624"/>
          </a:xfrm>
          <a:prstGeom prst="ellipse">
            <a:avLst/>
          </a:prstGeom>
          <a:solidFill>
            <a:srgbClr val="0075C9"/>
          </a:solidFill>
          <a:ln w="12700">
            <a:solidFill>
              <a:srgbClr val="0075C9"/>
            </a:solidFill>
            <a:prstDash val="solid"/>
          </a:ln>
        </p:spPr>
        <p:txBody>
          <a:bodyPr/>
          <a:p/>
        </p:txBody>
      </p:sp>
      <p:sp>
        <p:nvSpPr>
          <p:cNvPr id="12" name="Text 10"/>
          <p:cNvSpPr/>
          <p:nvPr/>
        </p:nvSpPr>
        <p:spPr>
          <a:xfrm>
            <a:off x="3794760" y="246888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02</a:t>
            </a:r>
            <a:endParaRPr lang="en-US" sz="1300" dirty="0"/>
          </a:p>
        </p:txBody>
      </p:sp>
      <p:sp>
        <p:nvSpPr>
          <p:cNvPr id="13" name="Text 11"/>
          <p:cNvSpPr/>
          <p:nvPr/>
        </p:nvSpPr>
        <p:spPr>
          <a:xfrm>
            <a:off x="3794760" y="3035808"/>
            <a:ext cx="1965960" cy="365760"/>
          </a:xfrm>
          <a:prstGeom prst="rect">
            <a:avLst/>
          </a:prstGeom>
          <a:noFill/>
          <a:ln/>
        </p:spPr>
        <p:txBody>
          <a:bodyPr wrap="square" lIns="0" tIns="0" rIns="0" bIns="0" rtlCol="0" anchor="ctr"/>
          <a:lstStyle/>
          <a:p>
            <a:pPr indent="0" marL="0">
              <a:buNone/>
            </a:pPr>
            <a:r>
              <a:rPr lang="en-US" sz="1600" b="1" dirty="0">
                <a:solidFill>
                  <a:srgbClr val="101B33"/>
                </a:solidFill>
                <a:latin typeface="맑은 고딕" pitchFamily="34" charset="0"/>
                <a:ea typeface="맑은 고딕" pitchFamily="34" charset="-122"/>
                <a:cs typeface="맑은 고딕" pitchFamily="34" charset="-120"/>
              </a:rPr>
              <a:t>설계 · 시안</a:t>
            </a:r>
            <a:endParaRPr lang="en-US" sz="1600" dirty="0"/>
          </a:p>
        </p:txBody>
      </p:sp>
      <p:sp>
        <p:nvSpPr>
          <p:cNvPr id="14" name="Text 12"/>
          <p:cNvSpPr/>
          <p:nvPr/>
        </p:nvSpPr>
        <p:spPr>
          <a:xfrm>
            <a:off x="3794760" y="3520440"/>
            <a:ext cx="1965960" cy="1600200"/>
          </a:xfrm>
          <a:prstGeom prst="rect">
            <a:avLst/>
          </a:prstGeom>
          <a:noFill/>
          <a:ln/>
        </p:spPr>
        <p:txBody>
          <a:bodyPr wrap="square" lIns="0" tIns="0" rIns="0" bIns="0" rtlCol="0" anchor="t"/>
          <a:lstStyle/>
          <a:p>
            <a:pPr indent="0" marL="0">
              <a:lnSpc>
                <a:spcPts val="1600"/>
              </a:lnSpc>
              <a:buNone/>
            </a:pPr>
            <a:r>
              <a:rPr lang="en-US" sz="1050" dirty="0">
                <a:solidFill>
                  <a:srgbClr val="4A5262"/>
                </a:solidFill>
                <a:latin typeface="맑은 고딕" pitchFamily="34" charset="0"/>
                <a:ea typeface="맑은 고딕" pitchFamily="34" charset="-122"/>
                <a:cs typeface="맑은 고딕" pitchFamily="34" charset="-120"/>
              </a:rPr>
              <a:t>매핑 면 또는 화면 규격을 확정하고, 기관 CI를 반영한 시안 3종을 1주일 이내에 제시합니다.</a:t>
            </a:r>
            <a:endParaRPr lang="en-US" sz="1050" dirty="0"/>
          </a:p>
        </p:txBody>
      </p:sp>
      <p:sp>
        <p:nvSpPr>
          <p:cNvPr id="15" name="Text 13"/>
          <p:cNvSpPr/>
          <p:nvPr/>
        </p:nvSpPr>
        <p:spPr>
          <a:xfrm>
            <a:off x="6099048" y="3474720"/>
            <a:ext cx="192024" cy="365760"/>
          </a:xfrm>
          <a:prstGeom prst="rect">
            <a:avLst/>
          </a:prstGeom>
          <a:noFill/>
          <a:ln/>
        </p:spPr>
        <p:txBody>
          <a:bodyPr wrap="square" lIns="0" tIns="0" rIns="0" bIns="0" rtlCol="0" anchor="ctr"/>
          <a:lstStyle/>
          <a:p>
            <a:pPr algn="ctr" indent="0" marL="0">
              <a:buNone/>
            </a:pPr>
            <a:r>
              <a:rPr lang="en-US" sz="2000" b="1" dirty="0">
                <a:solidFill>
                  <a:srgbClr val="C6CCD8"/>
                </a:solidFill>
                <a:latin typeface="맑은 고딕" pitchFamily="34" charset="0"/>
                <a:ea typeface="맑은 고딕" pitchFamily="34" charset="-122"/>
                <a:cs typeface="맑은 고딕" pitchFamily="34" charset="-120"/>
              </a:rPr>
              <a:t>›</a:t>
            </a:r>
            <a:endParaRPr lang="en-US" sz="2000" dirty="0"/>
          </a:p>
        </p:txBody>
      </p:sp>
      <p:sp>
        <p:nvSpPr>
          <p:cNvPr id="16" name="Shape 14"/>
          <p:cNvSpPr/>
          <p:nvPr/>
        </p:nvSpPr>
        <p:spPr>
          <a:xfrm>
            <a:off x="6309360" y="2103120"/>
            <a:ext cx="2606040" cy="3291840"/>
          </a:xfrm>
          <a:prstGeom prst="roundRect">
            <a:avLst>
              <a:gd name="adj" fmla="val 2105"/>
            </a:avLst>
          </a:prstGeom>
          <a:solidFill>
            <a:srgbClr val="FFFFFF"/>
          </a:solidFill>
          <a:ln w="12700">
            <a:solidFill>
              <a:srgbClr val="DFE3EA"/>
            </a:solidFill>
            <a:prstDash val="solid"/>
          </a:ln>
          <a:effectLst>
            <a:outerShdw sx="100000" sy="100000" kx="0" ky="0" algn="bl" rotWithShape="0" blurRad="152400" dist="38100" dir="5400000">
              <a:srgbClr val="101B33">
                <a:alpha val="7000"/>
              </a:srgbClr>
            </a:outerShdw>
          </a:effectLst>
        </p:spPr>
        <p:txBody>
          <a:bodyPr/>
          <a:p/>
        </p:txBody>
      </p:sp>
      <p:sp>
        <p:nvSpPr>
          <p:cNvPr id="17" name="Shape 15"/>
          <p:cNvSpPr/>
          <p:nvPr/>
        </p:nvSpPr>
        <p:spPr>
          <a:xfrm>
            <a:off x="6629400" y="2468880"/>
            <a:ext cx="420624" cy="420624"/>
          </a:xfrm>
          <a:prstGeom prst="ellipse">
            <a:avLst/>
          </a:prstGeom>
          <a:solidFill>
            <a:srgbClr val="0075C9"/>
          </a:solidFill>
          <a:ln w="12700">
            <a:solidFill>
              <a:srgbClr val="0075C9"/>
            </a:solidFill>
            <a:prstDash val="solid"/>
          </a:ln>
        </p:spPr>
        <p:txBody>
          <a:bodyPr/>
          <a:p/>
        </p:txBody>
      </p:sp>
      <p:sp>
        <p:nvSpPr>
          <p:cNvPr id="18" name="Text 16"/>
          <p:cNvSpPr/>
          <p:nvPr/>
        </p:nvSpPr>
        <p:spPr>
          <a:xfrm>
            <a:off x="6629400" y="246888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03</a:t>
            </a:r>
            <a:endParaRPr lang="en-US" sz="1300" dirty="0"/>
          </a:p>
        </p:txBody>
      </p:sp>
      <p:sp>
        <p:nvSpPr>
          <p:cNvPr id="19" name="Text 17"/>
          <p:cNvSpPr/>
          <p:nvPr/>
        </p:nvSpPr>
        <p:spPr>
          <a:xfrm>
            <a:off x="6629400" y="3035808"/>
            <a:ext cx="1965960" cy="365760"/>
          </a:xfrm>
          <a:prstGeom prst="rect">
            <a:avLst/>
          </a:prstGeom>
          <a:noFill/>
          <a:ln/>
        </p:spPr>
        <p:txBody>
          <a:bodyPr wrap="square" lIns="0" tIns="0" rIns="0" bIns="0" rtlCol="0" anchor="ctr"/>
          <a:lstStyle/>
          <a:p>
            <a:pPr indent="0" marL="0">
              <a:buNone/>
            </a:pPr>
            <a:r>
              <a:rPr lang="en-US" sz="1600" b="1" dirty="0">
                <a:solidFill>
                  <a:srgbClr val="101B33"/>
                </a:solidFill>
                <a:latin typeface="맑은 고딕" pitchFamily="34" charset="0"/>
                <a:ea typeface="맑은 고딕" pitchFamily="34" charset="-122"/>
                <a:cs typeface="맑은 고딕" pitchFamily="34" charset="-120"/>
              </a:rPr>
              <a:t>시공 · 제작</a:t>
            </a:r>
            <a:endParaRPr lang="en-US" sz="1600" dirty="0"/>
          </a:p>
        </p:txBody>
      </p:sp>
      <p:sp>
        <p:nvSpPr>
          <p:cNvPr id="20" name="Text 18"/>
          <p:cNvSpPr/>
          <p:nvPr/>
        </p:nvSpPr>
        <p:spPr>
          <a:xfrm>
            <a:off x="6629400" y="3520440"/>
            <a:ext cx="1965960" cy="1600200"/>
          </a:xfrm>
          <a:prstGeom prst="rect">
            <a:avLst/>
          </a:prstGeom>
          <a:noFill/>
          <a:ln/>
        </p:spPr>
        <p:txBody>
          <a:bodyPr wrap="square" lIns="0" tIns="0" rIns="0" bIns="0" rtlCol="0" anchor="t"/>
          <a:lstStyle/>
          <a:p>
            <a:pPr indent="0" marL="0">
              <a:lnSpc>
                <a:spcPts val="1600"/>
              </a:lnSpc>
              <a:buNone/>
            </a:pPr>
            <a:r>
              <a:rPr lang="en-US" sz="1050" dirty="0">
                <a:solidFill>
                  <a:srgbClr val="4A5262"/>
                </a:solidFill>
                <a:latin typeface="맑은 고딕" pitchFamily="34" charset="0"/>
                <a:ea typeface="맑은 고딕" pitchFamily="34" charset="-122"/>
                <a:cs typeface="맑은 고딕" pitchFamily="34" charset="-120"/>
              </a:rPr>
              <a:t>프로젝터 설치와 매핑, 또는 LED 구조 보강·모듈 설치·배선을 진행하고 확정 화면 규격으로 콘텐츠를 출력합니다.</a:t>
            </a:r>
            <a:endParaRPr lang="en-US" sz="1050" dirty="0"/>
          </a:p>
        </p:txBody>
      </p:sp>
      <p:sp>
        <p:nvSpPr>
          <p:cNvPr id="21" name="Text 19"/>
          <p:cNvSpPr/>
          <p:nvPr/>
        </p:nvSpPr>
        <p:spPr>
          <a:xfrm>
            <a:off x="8933688" y="3474720"/>
            <a:ext cx="192024" cy="365760"/>
          </a:xfrm>
          <a:prstGeom prst="rect">
            <a:avLst/>
          </a:prstGeom>
          <a:noFill/>
          <a:ln/>
        </p:spPr>
        <p:txBody>
          <a:bodyPr wrap="square" lIns="0" tIns="0" rIns="0" bIns="0" rtlCol="0" anchor="ctr"/>
          <a:lstStyle/>
          <a:p>
            <a:pPr algn="ctr" indent="0" marL="0">
              <a:buNone/>
            </a:pPr>
            <a:r>
              <a:rPr lang="en-US" sz="2000" b="1" dirty="0">
                <a:solidFill>
                  <a:srgbClr val="C6CCD8"/>
                </a:solidFill>
                <a:latin typeface="맑은 고딕" pitchFamily="34" charset="0"/>
                <a:ea typeface="맑은 고딕" pitchFamily="34" charset="-122"/>
                <a:cs typeface="맑은 고딕" pitchFamily="34" charset="-120"/>
              </a:rPr>
              <a:t>›</a:t>
            </a:r>
            <a:endParaRPr lang="en-US" sz="2000" dirty="0"/>
          </a:p>
        </p:txBody>
      </p:sp>
      <p:sp>
        <p:nvSpPr>
          <p:cNvPr id="22" name="Shape 20"/>
          <p:cNvSpPr/>
          <p:nvPr/>
        </p:nvSpPr>
        <p:spPr>
          <a:xfrm>
            <a:off x="9144000" y="2103120"/>
            <a:ext cx="2606040" cy="3291840"/>
          </a:xfrm>
          <a:prstGeom prst="roundRect">
            <a:avLst>
              <a:gd name="adj" fmla="val 2105"/>
            </a:avLst>
          </a:prstGeom>
          <a:solidFill>
            <a:srgbClr val="FFFFFF"/>
          </a:solidFill>
          <a:ln w="12700">
            <a:solidFill>
              <a:srgbClr val="DFE3EA"/>
            </a:solidFill>
            <a:prstDash val="solid"/>
          </a:ln>
          <a:effectLst>
            <a:outerShdw sx="100000" sy="100000" kx="0" ky="0" algn="bl" rotWithShape="0" blurRad="152400" dist="38100" dir="5400000">
              <a:srgbClr val="101B33">
                <a:alpha val="7000"/>
              </a:srgbClr>
            </a:outerShdw>
          </a:effectLst>
        </p:spPr>
        <p:txBody>
          <a:bodyPr/>
          <a:p/>
        </p:txBody>
      </p:sp>
      <p:sp>
        <p:nvSpPr>
          <p:cNvPr id="23" name="Shape 21"/>
          <p:cNvSpPr/>
          <p:nvPr/>
        </p:nvSpPr>
        <p:spPr>
          <a:xfrm>
            <a:off x="9464040" y="2468880"/>
            <a:ext cx="420624" cy="420624"/>
          </a:xfrm>
          <a:prstGeom prst="ellipse">
            <a:avLst/>
          </a:prstGeom>
          <a:solidFill>
            <a:srgbClr val="101B33"/>
          </a:solidFill>
          <a:ln w="12700">
            <a:solidFill>
              <a:srgbClr val="101B33"/>
            </a:solidFill>
            <a:prstDash val="solid"/>
          </a:ln>
        </p:spPr>
        <p:txBody>
          <a:bodyPr/>
          <a:p/>
        </p:txBody>
      </p:sp>
      <p:sp>
        <p:nvSpPr>
          <p:cNvPr id="24" name="Text 22"/>
          <p:cNvSpPr/>
          <p:nvPr/>
        </p:nvSpPr>
        <p:spPr>
          <a:xfrm>
            <a:off x="9464040" y="246888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04</a:t>
            </a:r>
            <a:endParaRPr lang="en-US" sz="1300" dirty="0"/>
          </a:p>
        </p:txBody>
      </p:sp>
      <p:sp>
        <p:nvSpPr>
          <p:cNvPr id="25" name="Text 23"/>
          <p:cNvSpPr/>
          <p:nvPr/>
        </p:nvSpPr>
        <p:spPr>
          <a:xfrm>
            <a:off x="9464040" y="3035808"/>
            <a:ext cx="1965960" cy="365760"/>
          </a:xfrm>
          <a:prstGeom prst="rect">
            <a:avLst/>
          </a:prstGeom>
          <a:noFill/>
          <a:ln/>
        </p:spPr>
        <p:txBody>
          <a:bodyPr wrap="square" lIns="0" tIns="0" rIns="0" bIns="0" rtlCol="0" anchor="ctr"/>
          <a:lstStyle/>
          <a:p>
            <a:pPr indent="0" marL="0">
              <a:buNone/>
            </a:pPr>
            <a:r>
              <a:rPr lang="en-US" sz="1600" b="1" dirty="0">
                <a:solidFill>
                  <a:srgbClr val="101B33"/>
                </a:solidFill>
                <a:latin typeface="맑은 고딕" pitchFamily="34" charset="0"/>
                <a:ea typeface="맑은 고딕" pitchFamily="34" charset="-122"/>
                <a:cs typeface="맑은 고딕" pitchFamily="34" charset="-120"/>
              </a:rPr>
              <a:t>상영 · 운영</a:t>
            </a:r>
            <a:endParaRPr lang="en-US" sz="1600" dirty="0"/>
          </a:p>
        </p:txBody>
      </p:sp>
      <p:sp>
        <p:nvSpPr>
          <p:cNvPr id="26" name="Text 24"/>
          <p:cNvSpPr/>
          <p:nvPr/>
        </p:nvSpPr>
        <p:spPr>
          <a:xfrm>
            <a:off x="9464040" y="3520440"/>
            <a:ext cx="1965960" cy="1600200"/>
          </a:xfrm>
          <a:prstGeom prst="rect">
            <a:avLst/>
          </a:prstGeom>
          <a:noFill/>
          <a:ln/>
        </p:spPr>
        <p:txBody>
          <a:bodyPr wrap="square" lIns="0" tIns="0" rIns="0" bIns="0" rtlCol="0" anchor="t"/>
          <a:lstStyle/>
          <a:p>
            <a:pPr indent="0" marL="0">
              <a:lnSpc>
                <a:spcPts val="1600"/>
              </a:lnSpc>
              <a:buNone/>
            </a:pPr>
            <a:r>
              <a:rPr lang="en-US" sz="1050" dirty="0">
                <a:solidFill>
                  <a:srgbClr val="4A5262"/>
                </a:solidFill>
                <a:latin typeface="맑은 고딕" pitchFamily="34" charset="0"/>
                <a:ea typeface="맑은 고딕" pitchFamily="34" charset="-122"/>
                <a:cs typeface="맑은 고딕" pitchFamily="34" charset="-120"/>
              </a:rPr>
              <a:t>상영 스케줄을 관리하고 계절·행사별로 콘텐츠를 교체합니다. 이상이 생기면 원격으로 조치합니다.</a:t>
            </a:r>
            <a:endParaRPr lang="en-US" sz="1050" dirty="0"/>
          </a:p>
        </p:txBody>
      </p:sp>
      <p:sp>
        <p:nvSpPr>
          <p:cNvPr id="27" name="Text 25"/>
          <p:cNvSpPr/>
          <p:nvPr/>
        </p:nvSpPr>
        <p:spPr>
          <a:xfrm>
            <a:off x="640080" y="5715000"/>
            <a:ext cx="10881360" cy="320040"/>
          </a:xfrm>
          <a:prstGeom prst="rect">
            <a:avLst/>
          </a:prstGeom>
          <a:noFill/>
          <a:ln/>
        </p:spPr>
        <p:txBody>
          <a:bodyPr wrap="square" lIns="0" tIns="0" rIns="0" bIns="0" rtlCol="0" anchor="ctr"/>
          <a:lstStyle/>
          <a:p>
            <a:pPr indent="0" marL="0">
              <a:buNone/>
            </a:pPr>
            <a:r>
              <a:rPr lang="en-US" sz="1150" i="1" dirty="0">
                <a:solidFill>
                  <a:srgbClr val="8A93A3"/>
                </a:solidFill>
                <a:latin typeface="맑은 고딕" pitchFamily="34" charset="0"/>
                <a:ea typeface="맑은 고딕" pitchFamily="34" charset="-122"/>
                <a:cs typeface="맑은 고딕" pitchFamily="34" charset="-120"/>
              </a:rPr>
              <a:t>현장 실측 없이 산정한 견적은 대부분 틀립니다. 현장을 먼저 보고 확정한 뒤 회계연도 기준 견적서를 발행합니다.</a:t>
            </a:r>
            <a:endParaRPr lang="en-US" sz="1150" dirty="0"/>
          </a:p>
        </p:txBody>
      </p:sp>
      <p:sp>
        <p:nvSpPr>
          <p:cNvPr id="28" name="Text 26"/>
          <p:cNvSpPr/>
          <p:nvPr/>
        </p:nvSpPr>
        <p:spPr>
          <a:xfrm>
            <a:off x="11155680" y="6291072"/>
            <a:ext cx="548640" cy="274320"/>
          </a:xfrm>
          <a:prstGeom prst="rect">
            <a:avLst/>
          </a:prstGeom>
          <a:noFill/>
          <a:ln/>
        </p:spPr>
        <p:txBody>
          <a:bodyPr wrap="square" lIns="0" tIns="0" rIns="0" bIns="0" rtlCol="0" anchor="ctr"/>
          <a:lstStyle/>
          <a:p>
            <a:pPr algn="r" indent="0" marL="0">
              <a:buNone/>
            </a:pPr>
            <a:r>
              <a:rPr lang="en-US" sz="1000" dirty="0">
                <a:solidFill>
                  <a:srgbClr val="9AA3B0"/>
                </a:solidFill>
                <a:latin typeface="맑은 고딕" pitchFamily="34" charset="0"/>
                <a:ea typeface="맑은 고딕" pitchFamily="34" charset="-122"/>
                <a:cs typeface="맑은 고딕"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640080" y="457200"/>
            <a:ext cx="7315200" cy="274320"/>
          </a:xfrm>
          <a:prstGeom prst="rect">
            <a:avLst/>
          </a:prstGeom>
          <a:noFill/>
          <a:ln/>
        </p:spPr>
        <p:txBody>
          <a:bodyPr wrap="square" lIns="0" tIns="0" rIns="0" bIns="0" rtlCol="0" anchor="ctr"/>
          <a:lstStyle/>
          <a:p>
            <a:pPr indent="0" marL="0">
              <a:buNone/>
            </a:pPr>
            <a:r>
              <a:rPr lang="en-US" sz="1200" b="1" spc="200" kern="0" dirty="0">
                <a:solidFill>
                  <a:srgbClr val="0075C9"/>
                </a:solidFill>
                <a:latin typeface="맑은 고딕" pitchFamily="34" charset="0"/>
                <a:ea typeface="맑은 고딕" pitchFamily="34" charset="-122"/>
                <a:cs typeface="맑은 고딕" pitchFamily="34" charset="-120"/>
              </a:rPr>
              <a:t>DELIVERABLES</a:t>
            </a:r>
            <a:endParaRPr lang="en-US" sz="1200" dirty="0"/>
          </a:p>
        </p:txBody>
      </p:sp>
      <p:sp>
        <p:nvSpPr>
          <p:cNvPr id="3" name="Text 1"/>
          <p:cNvSpPr/>
          <p:nvPr/>
        </p:nvSpPr>
        <p:spPr>
          <a:xfrm>
            <a:off x="640080" y="749808"/>
            <a:ext cx="8412480" cy="932688"/>
          </a:xfrm>
          <a:prstGeom prst="rect">
            <a:avLst/>
          </a:prstGeom>
          <a:noFill/>
          <a:ln/>
        </p:spPr>
        <p:txBody>
          <a:bodyPr wrap="square" lIns="0" tIns="0" rIns="0" bIns="0" rtlCol="0" anchor="t"/>
          <a:lstStyle/>
          <a:p>
            <a:pPr indent="0" marL="0">
              <a:buNone/>
            </a:pPr>
            <a:r>
              <a:rPr lang="en-US" sz="3200" b="1" dirty="0">
                <a:solidFill>
                  <a:srgbClr val="101B33"/>
                </a:solidFill>
                <a:latin typeface="맑은 고딕" pitchFamily="34" charset="0"/>
                <a:ea typeface="맑은 고딕" pitchFamily="34" charset="-122"/>
                <a:cs typeface="맑은 고딕" pitchFamily="34" charset="-120"/>
              </a:rPr>
              <a:t>원하시는 형태로 드립니다</a:t>
            </a:r>
            <a:endParaRPr lang="en-US" sz="3200" dirty="0"/>
          </a:p>
        </p:txBody>
      </p:sp>
      <p:sp>
        <p:nvSpPr>
          <p:cNvPr id="4" name="Text 2"/>
          <p:cNvSpPr/>
          <p:nvPr/>
        </p:nvSpPr>
        <p:spPr>
          <a:xfrm>
            <a:off x="640080" y="1719072"/>
            <a:ext cx="10881360" cy="320040"/>
          </a:xfrm>
          <a:prstGeom prst="rect">
            <a:avLst/>
          </a:prstGeom>
          <a:noFill/>
          <a:ln/>
        </p:spPr>
        <p:txBody>
          <a:bodyPr wrap="square" lIns="0" tIns="0" rIns="0" bIns="0" rtlCol="0" anchor="ctr"/>
          <a:lstStyle/>
          <a:p>
            <a:pPr indent="0" marL="0">
              <a:buNone/>
            </a:pPr>
            <a:r>
              <a:rPr lang="en-US" sz="1300" dirty="0">
                <a:solidFill>
                  <a:srgbClr val="4A5262"/>
                </a:solidFill>
                <a:latin typeface="맑은 고딕" pitchFamily="34" charset="0"/>
                <a:ea typeface="맑은 고딕" pitchFamily="34" charset="-122"/>
                <a:cs typeface="맑은 고딕" pitchFamily="34" charset="-120"/>
              </a:rPr>
              <a:t>같은 작품이라도 현장 사정에 따라 필요한 형태가 다릅니다. 세 가지 중에 고르시면 됩니다.</a:t>
            </a:r>
            <a:endParaRPr lang="en-US" sz="1300" dirty="0"/>
          </a:p>
        </p:txBody>
      </p:sp>
      <p:sp>
        <p:nvSpPr>
          <p:cNvPr id="5" name="Shape 3"/>
          <p:cNvSpPr/>
          <p:nvPr/>
        </p:nvSpPr>
        <p:spPr>
          <a:xfrm>
            <a:off x="640080" y="2331720"/>
            <a:ext cx="3520440" cy="3200400"/>
          </a:xfrm>
          <a:prstGeom prst="roundRect">
            <a:avLst>
              <a:gd name="adj" fmla="val 1714"/>
            </a:avLst>
          </a:prstGeom>
          <a:solidFill>
            <a:srgbClr val="FFFFFF"/>
          </a:solidFill>
          <a:ln w="12700">
            <a:solidFill>
              <a:srgbClr val="DFE3EA"/>
            </a:solidFill>
            <a:prstDash val="solid"/>
          </a:ln>
          <a:effectLst>
            <a:outerShdw sx="100000" sy="100000" kx="0" ky="0" algn="bl" rotWithShape="0" blurRad="152400" dist="38100" dir="5400000">
              <a:srgbClr val="101B33">
                <a:alpha val="7000"/>
              </a:srgbClr>
            </a:outerShdw>
          </a:effectLst>
        </p:spPr>
        <p:txBody>
          <a:bodyPr/>
          <a:p/>
        </p:txBody>
      </p:sp>
      <p:sp>
        <p:nvSpPr>
          <p:cNvPr id="6" name="Shape 4"/>
          <p:cNvSpPr/>
          <p:nvPr/>
        </p:nvSpPr>
        <p:spPr>
          <a:xfrm>
            <a:off x="1005840" y="2715768"/>
            <a:ext cx="420624" cy="420624"/>
          </a:xfrm>
          <a:prstGeom prst="ellipse">
            <a:avLst/>
          </a:prstGeom>
          <a:solidFill>
            <a:srgbClr val="0075C9"/>
          </a:solidFill>
          <a:ln w="12700">
            <a:solidFill>
              <a:srgbClr val="0075C9"/>
            </a:solidFill>
            <a:prstDash val="solid"/>
          </a:ln>
        </p:spPr>
        <p:txBody>
          <a:bodyPr/>
          <a:p/>
        </p:txBody>
      </p:sp>
      <p:sp>
        <p:nvSpPr>
          <p:cNvPr id="7" name="Text 5"/>
          <p:cNvSpPr/>
          <p:nvPr/>
        </p:nvSpPr>
        <p:spPr>
          <a:xfrm>
            <a:off x="1005840" y="271576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1</a:t>
            </a:r>
            <a:endParaRPr lang="en-US" sz="1300" dirty="0"/>
          </a:p>
        </p:txBody>
      </p:sp>
      <p:sp>
        <p:nvSpPr>
          <p:cNvPr id="8" name="Text 6"/>
          <p:cNvSpPr/>
          <p:nvPr/>
        </p:nvSpPr>
        <p:spPr>
          <a:xfrm>
            <a:off x="1005840" y="3291840"/>
            <a:ext cx="2788920" cy="457200"/>
          </a:xfrm>
          <a:prstGeom prst="rect">
            <a:avLst/>
          </a:prstGeom>
          <a:noFill/>
          <a:ln/>
        </p:spPr>
        <p:txBody>
          <a:bodyPr wrap="square" lIns="0" tIns="0" rIns="0" bIns="0" rtlCol="0" anchor="ctr"/>
          <a:lstStyle/>
          <a:p>
            <a:pPr indent="0" marL="0">
              <a:buNone/>
            </a:pPr>
            <a:r>
              <a:rPr lang="en-US" sz="1700" b="1" dirty="0">
                <a:solidFill>
                  <a:srgbClr val="101B33"/>
                </a:solidFill>
                <a:latin typeface="맑은 고딕" pitchFamily="34" charset="0"/>
                <a:ea typeface="맑은 고딕" pitchFamily="34" charset="-122"/>
                <a:cs typeface="맑은 고딕" pitchFamily="34" charset="-120"/>
              </a:rPr>
              <a:t>4K 영상 파일</a:t>
            </a:r>
            <a:endParaRPr lang="en-US" sz="1700" dirty="0"/>
          </a:p>
        </p:txBody>
      </p:sp>
      <p:sp>
        <p:nvSpPr>
          <p:cNvPr id="9" name="Text 7"/>
          <p:cNvSpPr/>
          <p:nvPr/>
        </p:nvSpPr>
        <p:spPr>
          <a:xfrm>
            <a:off x="1005840" y="3886200"/>
            <a:ext cx="2788920" cy="1371600"/>
          </a:xfrm>
          <a:prstGeom prst="rect">
            <a:avLst/>
          </a:prstGeom>
          <a:noFill/>
          <a:ln/>
        </p:spPr>
        <p:txBody>
          <a:bodyPr wrap="square" lIns="0" tIns="0" rIns="0" bIns="0" rtlCol="0" anchor="t"/>
          <a:lstStyle/>
          <a:p>
            <a:pPr indent="0" marL="0">
              <a:lnSpc>
                <a:spcPts val="1800"/>
              </a:lnSpc>
              <a:buNone/>
            </a:pPr>
            <a:r>
              <a:rPr lang="en-US" sz="1150" dirty="0">
                <a:solidFill>
                  <a:srgbClr val="4A5262"/>
                </a:solidFill>
                <a:latin typeface="맑은 고딕" pitchFamily="34" charset="0"/>
                <a:ea typeface="맑은 고딕" pitchFamily="34" charset="-122"/>
                <a:cs typeface="맑은 고딕" pitchFamily="34" charset="-120"/>
              </a:rPr>
              <a:t>기존 재생 장비에 그대로 올리는 mp4. 화면 비율과 길이를 현장 규격에 맞춰 출력합니다.</a:t>
            </a:r>
            <a:endParaRPr lang="en-US" sz="1150" dirty="0"/>
          </a:p>
        </p:txBody>
      </p:sp>
      <p:sp>
        <p:nvSpPr>
          <p:cNvPr id="10" name="Shape 8"/>
          <p:cNvSpPr/>
          <p:nvPr/>
        </p:nvSpPr>
        <p:spPr>
          <a:xfrm>
            <a:off x="4434840" y="2331720"/>
            <a:ext cx="3520440" cy="3200400"/>
          </a:xfrm>
          <a:prstGeom prst="roundRect">
            <a:avLst>
              <a:gd name="adj" fmla="val 1714"/>
            </a:avLst>
          </a:prstGeom>
          <a:solidFill>
            <a:srgbClr val="FFFFFF"/>
          </a:solidFill>
          <a:ln w="12700">
            <a:solidFill>
              <a:srgbClr val="DFE3EA"/>
            </a:solidFill>
            <a:prstDash val="solid"/>
          </a:ln>
          <a:effectLst>
            <a:outerShdw sx="100000" sy="100000" kx="0" ky="0" algn="bl" rotWithShape="0" blurRad="152400" dist="38100" dir="5400000">
              <a:srgbClr val="101B33">
                <a:alpha val="7000"/>
              </a:srgbClr>
            </a:outerShdw>
          </a:effectLst>
        </p:spPr>
        <p:txBody>
          <a:bodyPr/>
          <a:p/>
        </p:txBody>
      </p:sp>
      <p:sp>
        <p:nvSpPr>
          <p:cNvPr id="11" name="Shape 9"/>
          <p:cNvSpPr/>
          <p:nvPr/>
        </p:nvSpPr>
        <p:spPr>
          <a:xfrm>
            <a:off x="4800600" y="2715768"/>
            <a:ext cx="420624" cy="420624"/>
          </a:xfrm>
          <a:prstGeom prst="ellipse">
            <a:avLst/>
          </a:prstGeom>
          <a:solidFill>
            <a:srgbClr val="0075C9"/>
          </a:solidFill>
          <a:ln w="12700">
            <a:solidFill>
              <a:srgbClr val="0075C9"/>
            </a:solidFill>
            <a:prstDash val="solid"/>
          </a:ln>
        </p:spPr>
        <p:txBody>
          <a:bodyPr/>
          <a:p/>
        </p:txBody>
      </p:sp>
      <p:sp>
        <p:nvSpPr>
          <p:cNvPr id="12" name="Text 10"/>
          <p:cNvSpPr/>
          <p:nvPr/>
        </p:nvSpPr>
        <p:spPr>
          <a:xfrm>
            <a:off x="4800600" y="271576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2</a:t>
            </a:r>
            <a:endParaRPr lang="en-US" sz="1300" dirty="0"/>
          </a:p>
        </p:txBody>
      </p:sp>
      <p:sp>
        <p:nvSpPr>
          <p:cNvPr id="13" name="Text 11"/>
          <p:cNvSpPr/>
          <p:nvPr/>
        </p:nvSpPr>
        <p:spPr>
          <a:xfrm>
            <a:off x="4800600" y="3291840"/>
            <a:ext cx="2788920" cy="457200"/>
          </a:xfrm>
          <a:prstGeom prst="rect">
            <a:avLst/>
          </a:prstGeom>
          <a:noFill/>
          <a:ln/>
        </p:spPr>
        <p:txBody>
          <a:bodyPr wrap="square" lIns="0" tIns="0" rIns="0" bIns="0" rtlCol="0" anchor="ctr"/>
          <a:lstStyle/>
          <a:p>
            <a:pPr indent="0" marL="0">
              <a:buNone/>
            </a:pPr>
            <a:r>
              <a:rPr lang="en-US" sz="1700" b="1" dirty="0">
                <a:solidFill>
                  <a:srgbClr val="101B33"/>
                </a:solidFill>
                <a:latin typeface="맑은 고딕" pitchFamily="34" charset="0"/>
                <a:ea typeface="맑은 고딕" pitchFamily="34" charset="-122"/>
                <a:cs typeface="맑은 고딕" pitchFamily="34" charset="-120"/>
              </a:rPr>
              <a:t>실시간 구동 코드</a:t>
            </a:r>
            <a:endParaRPr lang="en-US" sz="1700" dirty="0"/>
          </a:p>
        </p:txBody>
      </p:sp>
      <p:sp>
        <p:nvSpPr>
          <p:cNvPr id="14" name="Text 12"/>
          <p:cNvSpPr/>
          <p:nvPr/>
        </p:nvSpPr>
        <p:spPr>
          <a:xfrm>
            <a:off x="4800600" y="3886200"/>
            <a:ext cx="2788920" cy="1371600"/>
          </a:xfrm>
          <a:prstGeom prst="rect">
            <a:avLst/>
          </a:prstGeom>
          <a:noFill/>
          <a:ln/>
        </p:spPr>
        <p:txBody>
          <a:bodyPr wrap="square" lIns="0" tIns="0" rIns="0" bIns="0" rtlCol="0" anchor="t"/>
          <a:lstStyle/>
          <a:p>
            <a:pPr indent="0" marL="0">
              <a:lnSpc>
                <a:spcPts val="1800"/>
              </a:lnSpc>
              <a:buNone/>
            </a:pPr>
            <a:r>
              <a:rPr lang="en-US" sz="1150" dirty="0">
                <a:solidFill>
                  <a:srgbClr val="4A5262"/>
                </a:solidFill>
                <a:latin typeface="맑은 고딕" pitchFamily="34" charset="0"/>
                <a:ea typeface="맑은 고딕" pitchFamily="34" charset="-122"/>
                <a:cs typeface="맑은 고딕" pitchFamily="34" charset="-120"/>
              </a:rPr>
              <a:t>현장 플레이어에서 코드가 직접 돌아, 날씨·대기질·기관 데이터에 따라 화면이 매일 달라집니다.</a:t>
            </a:r>
            <a:endParaRPr lang="en-US" sz="1150" dirty="0"/>
          </a:p>
        </p:txBody>
      </p:sp>
      <p:sp>
        <p:nvSpPr>
          <p:cNvPr id="15" name="Shape 13"/>
          <p:cNvSpPr/>
          <p:nvPr/>
        </p:nvSpPr>
        <p:spPr>
          <a:xfrm>
            <a:off x="8229600" y="2331720"/>
            <a:ext cx="3520440" cy="3200400"/>
          </a:xfrm>
          <a:prstGeom prst="roundRect">
            <a:avLst>
              <a:gd name="adj" fmla="val 1714"/>
            </a:avLst>
          </a:prstGeom>
          <a:solidFill>
            <a:srgbClr val="FFFFFF"/>
          </a:solidFill>
          <a:ln w="12700">
            <a:solidFill>
              <a:srgbClr val="DFE3EA"/>
            </a:solidFill>
            <a:prstDash val="solid"/>
          </a:ln>
          <a:effectLst>
            <a:outerShdw sx="100000" sy="100000" kx="0" ky="0" algn="bl" rotWithShape="0" blurRad="152400" dist="38100" dir="5400000">
              <a:srgbClr val="101B33">
                <a:alpha val="7000"/>
              </a:srgbClr>
            </a:outerShdw>
          </a:effectLst>
        </p:spPr>
        <p:txBody>
          <a:bodyPr/>
          <a:p/>
        </p:txBody>
      </p:sp>
      <p:sp>
        <p:nvSpPr>
          <p:cNvPr id="16" name="Shape 14"/>
          <p:cNvSpPr/>
          <p:nvPr/>
        </p:nvSpPr>
        <p:spPr>
          <a:xfrm>
            <a:off x="8595360" y="2715768"/>
            <a:ext cx="420624" cy="420624"/>
          </a:xfrm>
          <a:prstGeom prst="ellipse">
            <a:avLst/>
          </a:prstGeom>
          <a:solidFill>
            <a:srgbClr val="101B33"/>
          </a:solidFill>
          <a:ln w="12700">
            <a:solidFill>
              <a:srgbClr val="101B33"/>
            </a:solidFill>
            <a:prstDash val="solid"/>
          </a:ln>
        </p:spPr>
        <p:txBody>
          <a:bodyPr/>
          <a:p/>
        </p:txBody>
      </p:sp>
      <p:sp>
        <p:nvSpPr>
          <p:cNvPr id="17" name="Text 15"/>
          <p:cNvSpPr/>
          <p:nvPr/>
        </p:nvSpPr>
        <p:spPr>
          <a:xfrm>
            <a:off x="8595360" y="271576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3</a:t>
            </a:r>
            <a:endParaRPr lang="en-US" sz="1300" dirty="0"/>
          </a:p>
        </p:txBody>
      </p:sp>
      <p:sp>
        <p:nvSpPr>
          <p:cNvPr id="18" name="Text 16"/>
          <p:cNvSpPr/>
          <p:nvPr/>
        </p:nvSpPr>
        <p:spPr>
          <a:xfrm>
            <a:off x="8595360" y="3291840"/>
            <a:ext cx="2788920" cy="457200"/>
          </a:xfrm>
          <a:prstGeom prst="rect">
            <a:avLst/>
          </a:prstGeom>
          <a:noFill/>
          <a:ln/>
        </p:spPr>
        <p:txBody>
          <a:bodyPr wrap="square" lIns="0" tIns="0" rIns="0" bIns="0" rtlCol="0" anchor="ctr"/>
          <a:lstStyle/>
          <a:p>
            <a:pPr indent="0" marL="0">
              <a:buNone/>
            </a:pPr>
            <a:r>
              <a:rPr lang="en-US" sz="1700" b="1" dirty="0">
                <a:solidFill>
                  <a:srgbClr val="101B33"/>
                </a:solidFill>
                <a:latin typeface="맑은 고딕" pitchFamily="34" charset="0"/>
                <a:ea typeface="맑은 고딕" pitchFamily="34" charset="-122"/>
                <a:cs typeface="맑은 고딕" pitchFamily="34" charset="-120"/>
              </a:rPr>
              <a:t>화면까지 포함한 설치</a:t>
            </a:r>
            <a:endParaRPr lang="en-US" sz="1700" dirty="0"/>
          </a:p>
        </p:txBody>
      </p:sp>
      <p:sp>
        <p:nvSpPr>
          <p:cNvPr id="19" name="Text 17"/>
          <p:cNvSpPr/>
          <p:nvPr/>
        </p:nvSpPr>
        <p:spPr>
          <a:xfrm>
            <a:off x="8595360" y="3886200"/>
            <a:ext cx="2788920" cy="1371600"/>
          </a:xfrm>
          <a:prstGeom prst="rect">
            <a:avLst/>
          </a:prstGeom>
          <a:noFill/>
          <a:ln/>
        </p:spPr>
        <p:txBody>
          <a:bodyPr wrap="square" lIns="0" tIns="0" rIns="0" bIns="0" rtlCol="0" anchor="t"/>
          <a:lstStyle/>
          <a:p>
            <a:pPr indent="0" marL="0">
              <a:lnSpc>
                <a:spcPts val="1800"/>
              </a:lnSpc>
              <a:buNone/>
            </a:pPr>
            <a:r>
              <a:rPr lang="en-US" sz="1150" dirty="0">
                <a:solidFill>
                  <a:srgbClr val="4A5262"/>
                </a:solidFill>
                <a:latin typeface="맑은 고딕" pitchFamily="34" charset="0"/>
                <a:ea typeface="맑은 고딕" pitchFamily="34" charset="-122"/>
                <a:cs typeface="맑은 고딕" pitchFamily="34" charset="-120"/>
              </a:rPr>
              <a:t>LED 패널·전광판 설치 또는 빔프로젝터 미디어파사드 시공과 콘텐츠를 한 계약으로 납품합니다.</a:t>
            </a:r>
            <a:endParaRPr lang="en-US" sz="1150" dirty="0"/>
          </a:p>
        </p:txBody>
      </p:sp>
      <p:sp>
        <p:nvSpPr>
          <p:cNvPr id="20" name="Text 18"/>
          <p:cNvSpPr/>
          <p:nvPr/>
        </p:nvSpPr>
        <p:spPr>
          <a:xfrm>
            <a:off x="640080" y="5806440"/>
            <a:ext cx="10881360" cy="320040"/>
          </a:xfrm>
          <a:prstGeom prst="rect">
            <a:avLst/>
          </a:prstGeom>
          <a:noFill/>
          <a:ln/>
        </p:spPr>
        <p:txBody>
          <a:bodyPr wrap="square" lIns="0" tIns="0" rIns="0" bIns="0" rtlCol="0" anchor="ctr"/>
          <a:lstStyle/>
          <a:p>
            <a:pPr indent="0" marL="0">
              <a:buNone/>
            </a:pPr>
            <a:r>
              <a:rPr lang="en-US" sz="1150" i="1" dirty="0">
                <a:solidFill>
                  <a:srgbClr val="8A93A3"/>
                </a:solidFill>
                <a:latin typeface="맑은 고딕" pitchFamily="34" charset="0"/>
                <a:ea typeface="맑은 고딕" pitchFamily="34" charset="-122"/>
                <a:cs typeface="맑은 고딕" pitchFamily="34" charset="-120"/>
              </a:rPr>
              <a:t>화면이 아직 없는 현장은 LED 설치 또는 빔프로젝터 시공까지 한 계약으로 진행합니다.</a:t>
            </a:r>
            <a:endParaRPr lang="en-US" sz="1150" dirty="0"/>
          </a:p>
        </p:txBody>
      </p:sp>
      <p:sp>
        <p:nvSpPr>
          <p:cNvPr id="21" name="Text 19"/>
          <p:cNvSpPr/>
          <p:nvPr/>
        </p:nvSpPr>
        <p:spPr>
          <a:xfrm>
            <a:off x="11155680" y="6291072"/>
            <a:ext cx="548640" cy="274320"/>
          </a:xfrm>
          <a:prstGeom prst="rect">
            <a:avLst/>
          </a:prstGeom>
          <a:noFill/>
          <a:ln/>
        </p:spPr>
        <p:txBody>
          <a:bodyPr wrap="square" lIns="0" tIns="0" rIns="0" bIns="0" rtlCol="0" anchor="ctr"/>
          <a:lstStyle/>
          <a:p>
            <a:pPr algn="r" indent="0" marL="0">
              <a:buNone/>
            </a:pPr>
            <a:r>
              <a:rPr lang="en-US" sz="1000" dirty="0">
                <a:solidFill>
                  <a:srgbClr val="9AA3B0"/>
                </a:solidFill>
                <a:latin typeface="맑은 고딕" pitchFamily="34" charset="0"/>
                <a:ea typeface="맑은 고딕" pitchFamily="34" charset="-122"/>
                <a:cs typeface="맑은 고딕"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315200" cy="274320"/>
          </a:xfrm>
          <a:prstGeom prst="rect">
            <a:avLst/>
          </a:prstGeom>
          <a:noFill/>
          <a:ln/>
        </p:spPr>
        <p:txBody>
          <a:bodyPr wrap="square" lIns="0" tIns="0" rIns="0" bIns="0" rtlCol="0" anchor="ctr"/>
          <a:lstStyle/>
          <a:p>
            <a:pPr indent="0" marL="0">
              <a:buNone/>
            </a:pPr>
            <a:r>
              <a:rPr lang="en-US" sz="1200" b="1" spc="200" kern="0" dirty="0">
                <a:solidFill>
                  <a:srgbClr val="0075C9"/>
                </a:solidFill>
                <a:latin typeface="맑은 고딕" pitchFamily="34" charset="0"/>
                <a:ea typeface="맑은 고딕" pitchFamily="34" charset="-122"/>
                <a:cs typeface="맑은 고딕" pitchFamily="34" charset="-120"/>
              </a:rPr>
              <a:t>WHAT YOU ASKED</a:t>
            </a:r>
            <a:endParaRPr lang="en-US" sz="1200" dirty="0"/>
          </a:p>
        </p:txBody>
      </p:sp>
      <p:sp>
        <p:nvSpPr>
          <p:cNvPr id="3" name="Text 1"/>
          <p:cNvSpPr/>
          <p:nvPr/>
        </p:nvSpPr>
        <p:spPr>
          <a:xfrm>
            <a:off x="640080" y="749808"/>
            <a:ext cx="8412480" cy="932688"/>
          </a:xfrm>
          <a:prstGeom prst="rect">
            <a:avLst/>
          </a:prstGeom>
          <a:noFill/>
          <a:ln/>
        </p:spPr>
        <p:txBody>
          <a:bodyPr wrap="square" lIns="0" tIns="0" rIns="0" bIns="0" rtlCol="0" anchor="t"/>
          <a:lstStyle/>
          <a:p>
            <a:pPr indent="0" marL="0">
              <a:buNone/>
            </a:pPr>
            <a:r>
              <a:rPr lang="en-US" sz="3200" b="1" dirty="0">
                <a:solidFill>
                  <a:srgbClr val="101B33"/>
                </a:solidFill>
                <a:latin typeface="맑은 고딕" pitchFamily="34" charset="0"/>
                <a:ea typeface="맑은 고딕" pitchFamily="34" charset="-122"/>
                <a:cs typeface="맑은 고딕" pitchFamily="34" charset="-120"/>
              </a:rPr>
              <a:t>이런 것까지 해드립니다</a:t>
            </a:r>
            <a:endParaRPr lang="en-US" sz="3200" dirty="0"/>
          </a:p>
        </p:txBody>
      </p:sp>
      <p:sp>
        <p:nvSpPr>
          <p:cNvPr id="4" name="Text 2"/>
          <p:cNvSpPr/>
          <p:nvPr/>
        </p:nvSpPr>
        <p:spPr>
          <a:xfrm>
            <a:off x="640080" y="1719072"/>
            <a:ext cx="10881360" cy="320040"/>
          </a:xfrm>
          <a:prstGeom prst="rect">
            <a:avLst/>
          </a:prstGeom>
          <a:noFill/>
          <a:ln/>
        </p:spPr>
        <p:txBody>
          <a:bodyPr wrap="square" lIns="0" tIns="0" rIns="0" bIns="0" rtlCol="0" anchor="ctr"/>
          <a:lstStyle/>
          <a:p>
            <a:pPr indent="0" marL="0">
              <a:buNone/>
            </a:pPr>
            <a:r>
              <a:rPr lang="en-US" sz="1300" dirty="0">
                <a:solidFill>
                  <a:srgbClr val="4A5262"/>
                </a:solidFill>
                <a:latin typeface="맑은 고딕" pitchFamily="34" charset="0"/>
                <a:ea typeface="맑은 고딕" pitchFamily="34" charset="-122"/>
                <a:cs typeface="맑은 고딕" pitchFamily="34" charset="-120"/>
              </a:rPr>
              <a:t>담당자분들이 발주 전에 가장 많이 확인하시는 네 가지입니다.</a:t>
            </a:r>
            <a:endParaRPr lang="en-US" sz="1300" dirty="0"/>
          </a:p>
        </p:txBody>
      </p:sp>
      <p:sp>
        <p:nvSpPr>
          <p:cNvPr id="5" name="Shape 3"/>
          <p:cNvSpPr/>
          <p:nvPr/>
        </p:nvSpPr>
        <p:spPr>
          <a:xfrm>
            <a:off x="640080" y="2240280"/>
            <a:ext cx="5349240" cy="1965960"/>
          </a:xfrm>
          <a:prstGeom prst="roundRect">
            <a:avLst>
              <a:gd name="adj" fmla="val 2791"/>
            </a:avLst>
          </a:prstGeom>
          <a:solidFill>
            <a:srgbClr val="FFFFFF"/>
          </a:solidFill>
          <a:ln w="12700">
            <a:solidFill>
              <a:srgbClr val="DFE3EA"/>
            </a:solidFill>
            <a:prstDash val="solid"/>
          </a:ln>
          <a:effectLst>
            <a:outerShdw sx="100000" sy="100000" kx="0" ky="0" algn="bl" rotWithShape="0" blurRad="152400" dist="38100" dir="5400000">
              <a:srgbClr val="101B33">
                <a:alpha val="7000"/>
              </a:srgbClr>
            </a:outerShdw>
          </a:effectLst>
        </p:spPr>
        <p:txBody>
          <a:bodyPr/>
          <a:p/>
        </p:txBody>
      </p:sp>
      <p:sp>
        <p:nvSpPr>
          <p:cNvPr id="6" name="Shape 4"/>
          <p:cNvSpPr/>
          <p:nvPr/>
        </p:nvSpPr>
        <p:spPr>
          <a:xfrm>
            <a:off x="987552" y="2532888"/>
            <a:ext cx="420624" cy="420624"/>
          </a:xfrm>
          <a:prstGeom prst="ellipse">
            <a:avLst/>
          </a:prstGeom>
          <a:solidFill>
            <a:srgbClr val="0075C9"/>
          </a:solidFill>
          <a:ln w="12700">
            <a:solidFill>
              <a:srgbClr val="0075C9"/>
            </a:solidFill>
            <a:prstDash val="solid"/>
          </a:ln>
        </p:spPr>
        <p:txBody>
          <a:bodyPr/>
          <a:p/>
        </p:txBody>
      </p:sp>
      <p:sp>
        <p:nvSpPr>
          <p:cNvPr id="7" name="Text 5"/>
          <p:cNvSpPr/>
          <p:nvPr/>
        </p:nvSpPr>
        <p:spPr>
          <a:xfrm>
            <a:off x="987552" y="253288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1</a:t>
            </a:r>
            <a:endParaRPr lang="en-US" sz="1300" dirty="0"/>
          </a:p>
        </p:txBody>
      </p:sp>
      <p:sp>
        <p:nvSpPr>
          <p:cNvPr id="8" name="Text 6"/>
          <p:cNvSpPr/>
          <p:nvPr/>
        </p:nvSpPr>
        <p:spPr>
          <a:xfrm>
            <a:off x="1554480" y="2514600"/>
            <a:ext cx="4069080" cy="457200"/>
          </a:xfrm>
          <a:prstGeom prst="rect">
            <a:avLst/>
          </a:prstGeom>
          <a:noFill/>
          <a:ln/>
        </p:spPr>
        <p:txBody>
          <a:bodyPr wrap="square" lIns="0" tIns="0" rIns="0" bIns="0" rtlCol="0" anchor="ctr"/>
          <a:lstStyle/>
          <a:p>
            <a:pPr indent="0" marL="0">
              <a:buNone/>
            </a:pPr>
            <a:r>
              <a:rPr lang="en-US" sz="1450" b="1" dirty="0">
                <a:solidFill>
                  <a:srgbClr val="101B33"/>
                </a:solidFill>
                <a:latin typeface="맑은 고딕" pitchFamily="34" charset="0"/>
                <a:ea typeface="맑은 고딕" pitchFamily="34" charset="-122"/>
                <a:cs typeface="맑은 고딕" pitchFamily="34" charset="-120"/>
              </a:rPr>
              <a:t>원하시는 이미지만 주시면 만듭니다</a:t>
            </a:r>
            <a:endParaRPr lang="en-US" sz="1450" dirty="0"/>
          </a:p>
        </p:txBody>
      </p:sp>
      <p:sp>
        <p:nvSpPr>
          <p:cNvPr id="9" name="Text 7"/>
          <p:cNvSpPr/>
          <p:nvPr/>
        </p:nvSpPr>
        <p:spPr>
          <a:xfrm>
            <a:off x="987552" y="3044952"/>
            <a:ext cx="4654296" cy="1060704"/>
          </a:xfrm>
          <a:prstGeom prst="rect">
            <a:avLst/>
          </a:prstGeom>
          <a:noFill/>
          <a:ln/>
        </p:spPr>
        <p:txBody>
          <a:bodyPr wrap="square" lIns="0" tIns="0" rIns="0" bIns="0" rtlCol="0" anchor="t"/>
          <a:lstStyle/>
          <a:p>
            <a:pPr indent="0" marL="0">
              <a:lnSpc>
                <a:spcPts val="1450"/>
              </a:lnSpc>
              <a:buNone/>
            </a:pPr>
            <a:r>
              <a:rPr lang="en-US" sz="1000" dirty="0">
                <a:solidFill>
                  <a:srgbClr val="4A5262"/>
                </a:solidFill>
                <a:latin typeface="맑은 고딕" pitchFamily="34" charset="0"/>
                <a:ea typeface="맑은 고딕" pitchFamily="34" charset="-122"/>
                <a:cs typeface="맑은 고딕" pitchFamily="34" charset="-120"/>
              </a:rPr>
              <a:t>기관이 원하는 이미지나 참고 예시가 있으면 그것을 재료로 여러 방식으로 뽑아냅니다. 같은 소재를 흐름·입자·타이포·물리 등 다른 방법으로 풀어 시안으로 보여드리고, 고르신 방향으로 완성합니다. 처음부터 무엇을 만들지 정해두지 않으셔도 됩니다. 다만 원하시는 것을 자세히 알려주실수록 시안의 디테일이 올라갑니다.</a:t>
            </a:r>
            <a:endParaRPr lang="en-US" sz="1000" dirty="0"/>
          </a:p>
        </p:txBody>
      </p:sp>
      <p:sp>
        <p:nvSpPr>
          <p:cNvPr id="10" name="Shape 8"/>
          <p:cNvSpPr/>
          <p:nvPr/>
        </p:nvSpPr>
        <p:spPr>
          <a:xfrm>
            <a:off x="6309360" y="2240280"/>
            <a:ext cx="5349240" cy="1965960"/>
          </a:xfrm>
          <a:prstGeom prst="roundRect">
            <a:avLst>
              <a:gd name="adj" fmla="val 2791"/>
            </a:avLst>
          </a:prstGeom>
          <a:solidFill>
            <a:srgbClr val="FFFFFF"/>
          </a:solidFill>
          <a:ln w="12700">
            <a:solidFill>
              <a:srgbClr val="DFE3EA"/>
            </a:solidFill>
            <a:prstDash val="solid"/>
          </a:ln>
          <a:effectLst>
            <a:outerShdw sx="100000" sy="100000" kx="0" ky="0" algn="bl" rotWithShape="0" blurRad="152400" dist="38100" dir="5400000">
              <a:srgbClr val="101B33">
                <a:alpha val="7000"/>
              </a:srgbClr>
            </a:outerShdw>
          </a:effectLst>
        </p:spPr>
        <p:txBody>
          <a:bodyPr/>
          <a:p/>
        </p:txBody>
      </p:sp>
      <p:sp>
        <p:nvSpPr>
          <p:cNvPr id="11" name="Shape 9"/>
          <p:cNvSpPr/>
          <p:nvPr/>
        </p:nvSpPr>
        <p:spPr>
          <a:xfrm>
            <a:off x="6656832" y="2532888"/>
            <a:ext cx="420624" cy="420624"/>
          </a:xfrm>
          <a:prstGeom prst="ellipse">
            <a:avLst/>
          </a:prstGeom>
          <a:solidFill>
            <a:srgbClr val="0075C9"/>
          </a:solidFill>
          <a:ln w="12700">
            <a:solidFill>
              <a:srgbClr val="0075C9"/>
            </a:solidFill>
            <a:prstDash val="solid"/>
          </a:ln>
        </p:spPr>
        <p:txBody>
          <a:bodyPr/>
          <a:p/>
        </p:txBody>
      </p:sp>
      <p:sp>
        <p:nvSpPr>
          <p:cNvPr id="12" name="Text 10"/>
          <p:cNvSpPr/>
          <p:nvPr/>
        </p:nvSpPr>
        <p:spPr>
          <a:xfrm>
            <a:off x="6656832" y="253288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2</a:t>
            </a:r>
            <a:endParaRPr lang="en-US" sz="1300" dirty="0"/>
          </a:p>
        </p:txBody>
      </p:sp>
      <p:sp>
        <p:nvSpPr>
          <p:cNvPr id="13" name="Text 11"/>
          <p:cNvSpPr/>
          <p:nvPr/>
        </p:nvSpPr>
        <p:spPr>
          <a:xfrm>
            <a:off x="7223760" y="2514600"/>
            <a:ext cx="4069080" cy="457200"/>
          </a:xfrm>
          <a:prstGeom prst="rect">
            <a:avLst/>
          </a:prstGeom>
          <a:noFill/>
          <a:ln/>
        </p:spPr>
        <p:txBody>
          <a:bodyPr wrap="square" lIns="0" tIns="0" rIns="0" bIns="0" rtlCol="0" anchor="ctr"/>
          <a:lstStyle/>
          <a:p>
            <a:pPr indent="0" marL="0">
              <a:buNone/>
            </a:pPr>
            <a:r>
              <a:rPr lang="en-US" sz="1450" b="1" dirty="0">
                <a:solidFill>
                  <a:srgbClr val="101B33"/>
                </a:solidFill>
                <a:latin typeface="맑은 고딕" pitchFamily="34" charset="0"/>
                <a:ea typeface="맑은 고딕" pitchFamily="34" charset="-122"/>
                <a:cs typeface="맑은 고딕" pitchFamily="34" charset="-120"/>
              </a:rPr>
              <a:t>사이니지 재생 PC 세팅까지 해드립니다</a:t>
            </a:r>
            <a:endParaRPr lang="en-US" sz="1450" dirty="0"/>
          </a:p>
        </p:txBody>
      </p:sp>
      <p:sp>
        <p:nvSpPr>
          <p:cNvPr id="14" name="Text 12"/>
          <p:cNvSpPr/>
          <p:nvPr/>
        </p:nvSpPr>
        <p:spPr>
          <a:xfrm>
            <a:off x="6656832" y="3044952"/>
            <a:ext cx="4654296" cy="1060704"/>
          </a:xfrm>
          <a:prstGeom prst="rect">
            <a:avLst/>
          </a:prstGeom>
          <a:noFill/>
          <a:ln/>
        </p:spPr>
        <p:txBody>
          <a:bodyPr wrap="square" lIns="0" tIns="0" rIns="0" bIns="0" rtlCol="0" anchor="t"/>
          <a:lstStyle/>
          <a:p>
            <a:pPr indent="0" marL="0">
              <a:lnSpc>
                <a:spcPts val="1450"/>
              </a:lnSpc>
              <a:buNone/>
            </a:pPr>
            <a:r>
              <a:rPr lang="en-US" sz="1000" dirty="0">
                <a:solidFill>
                  <a:srgbClr val="4A5262"/>
                </a:solidFill>
                <a:latin typeface="맑은 고딕" pitchFamily="34" charset="0"/>
                <a:ea typeface="맑은 고딕" pitchFamily="34" charset="-122"/>
                <a:cs typeface="맑은 고딕" pitchFamily="34" charset="-120"/>
              </a:rPr>
              <a:t>화면만 있고 무엇으로 틀지 정해지지 않은 현장이 많습니다. 콘텐츠를 안정적으로 상시 재생할 재생 PC를 현장 화면 규격에 맞춰 세팅해 전달합니다. 담당자가 별도로 장비를 알아보실 필요가 없습니다.</a:t>
            </a:r>
            <a:endParaRPr lang="en-US" sz="1000" dirty="0"/>
          </a:p>
        </p:txBody>
      </p:sp>
      <p:sp>
        <p:nvSpPr>
          <p:cNvPr id="15" name="Shape 13"/>
          <p:cNvSpPr/>
          <p:nvPr/>
        </p:nvSpPr>
        <p:spPr>
          <a:xfrm>
            <a:off x="640080" y="4480560"/>
            <a:ext cx="5349240" cy="1965960"/>
          </a:xfrm>
          <a:prstGeom prst="roundRect">
            <a:avLst>
              <a:gd name="adj" fmla="val 2791"/>
            </a:avLst>
          </a:prstGeom>
          <a:solidFill>
            <a:srgbClr val="F0F6FC"/>
          </a:solidFill>
          <a:ln w="12700">
            <a:solidFill>
              <a:srgbClr val="DFE3EA"/>
            </a:solidFill>
            <a:prstDash val="solid"/>
          </a:ln>
          <a:effectLst>
            <a:outerShdw sx="100000" sy="100000" kx="0" ky="0" algn="bl" rotWithShape="0" blurRad="152400" dist="38100" dir="5400000">
              <a:srgbClr val="101B33">
                <a:alpha val="7000"/>
              </a:srgbClr>
            </a:outerShdw>
          </a:effectLst>
        </p:spPr>
        <p:txBody>
          <a:bodyPr/>
          <a:p/>
        </p:txBody>
      </p:sp>
      <p:sp>
        <p:nvSpPr>
          <p:cNvPr id="16" name="Shape 14"/>
          <p:cNvSpPr/>
          <p:nvPr/>
        </p:nvSpPr>
        <p:spPr>
          <a:xfrm>
            <a:off x="987552" y="4773168"/>
            <a:ext cx="420624" cy="420624"/>
          </a:xfrm>
          <a:prstGeom prst="ellipse">
            <a:avLst/>
          </a:prstGeom>
          <a:solidFill>
            <a:srgbClr val="101B33"/>
          </a:solidFill>
          <a:ln w="12700">
            <a:solidFill>
              <a:srgbClr val="101B33"/>
            </a:solidFill>
            <a:prstDash val="solid"/>
          </a:ln>
        </p:spPr>
        <p:txBody>
          <a:bodyPr/>
          <a:p/>
        </p:txBody>
      </p:sp>
      <p:sp>
        <p:nvSpPr>
          <p:cNvPr id="17" name="Text 15"/>
          <p:cNvSpPr/>
          <p:nvPr/>
        </p:nvSpPr>
        <p:spPr>
          <a:xfrm>
            <a:off x="987552" y="477316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3</a:t>
            </a:r>
            <a:endParaRPr lang="en-US" sz="1300" dirty="0"/>
          </a:p>
        </p:txBody>
      </p:sp>
      <p:sp>
        <p:nvSpPr>
          <p:cNvPr id="18" name="Text 16"/>
          <p:cNvSpPr/>
          <p:nvPr/>
        </p:nvSpPr>
        <p:spPr>
          <a:xfrm>
            <a:off x="1554480" y="4754880"/>
            <a:ext cx="4069080" cy="457200"/>
          </a:xfrm>
          <a:prstGeom prst="rect">
            <a:avLst/>
          </a:prstGeom>
          <a:noFill/>
          <a:ln/>
        </p:spPr>
        <p:txBody>
          <a:bodyPr wrap="square" lIns="0" tIns="0" rIns="0" bIns="0" rtlCol="0" anchor="ctr"/>
          <a:lstStyle/>
          <a:p>
            <a:pPr indent="0" marL="0">
              <a:buNone/>
            </a:pPr>
            <a:r>
              <a:rPr lang="en-US" sz="1450" b="1" dirty="0">
                <a:solidFill>
                  <a:srgbClr val="101B33"/>
                </a:solidFill>
                <a:latin typeface="맑은 고딕" pitchFamily="34" charset="0"/>
                <a:ea typeface="맑은 고딕" pitchFamily="34" charset="-122"/>
                <a:cs typeface="맑은 고딕" pitchFamily="34" charset="-120"/>
              </a:rPr>
              <a:t>공공 API를 대형 사이니지에서 돌립니다</a:t>
            </a:r>
            <a:endParaRPr lang="en-US" sz="1450" dirty="0"/>
          </a:p>
        </p:txBody>
      </p:sp>
      <p:sp>
        <p:nvSpPr>
          <p:cNvPr id="19" name="Text 17"/>
          <p:cNvSpPr/>
          <p:nvPr/>
        </p:nvSpPr>
        <p:spPr>
          <a:xfrm>
            <a:off x="987552" y="5285232"/>
            <a:ext cx="4654296" cy="1060704"/>
          </a:xfrm>
          <a:prstGeom prst="rect">
            <a:avLst/>
          </a:prstGeom>
          <a:noFill/>
          <a:ln/>
        </p:spPr>
        <p:txBody>
          <a:bodyPr wrap="square" lIns="0" tIns="0" rIns="0" bIns="0" rtlCol="0" anchor="t"/>
          <a:lstStyle/>
          <a:p>
            <a:pPr indent="0" marL="0">
              <a:lnSpc>
                <a:spcPts val="1450"/>
              </a:lnSpc>
              <a:buNone/>
            </a:pPr>
            <a:r>
              <a:rPr lang="en-US" sz="1000" dirty="0">
                <a:solidFill>
                  <a:srgbClr val="4A5262"/>
                </a:solidFill>
                <a:latin typeface="맑은 고딕" pitchFamily="34" charset="0"/>
                <a:ea typeface="맑은 고딕" pitchFamily="34" charset="-122"/>
                <a:cs typeface="맑은 고딕" pitchFamily="34" charset="-120"/>
              </a:rPr>
              <a:t>기존 사이니지 재생 프로그램은 공공 API를 직접 받아 화면에 반영하지 못합니다. 정해진 영상 파일을 순서대로 트는 구조이기 때문입니다. 오늘은 봄날은 자체 개발한 방식으로 공공 API를 실시간으로 읽어 화면에 반영하며, 대형 사이니지에서도 같은 방식이 돌아갑니다. 날씨·대기질·기관 데이터가 바뀌면 화면이 따라 바뀝니다.</a:t>
            </a:r>
            <a:endParaRPr lang="en-US" sz="1000" dirty="0"/>
          </a:p>
        </p:txBody>
      </p:sp>
      <p:sp>
        <p:nvSpPr>
          <p:cNvPr id="20" name="Shape 18"/>
          <p:cNvSpPr/>
          <p:nvPr/>
        </p:nvSpPr>
        <p:spPr>
          <a:xfrm>
            <a:off x="6309360" y="4480560"/>
            <a:ext cx="5349240" cy="1965960"/>
          </a:xfrm>
          <a:prstGeom prst="roundRect">
            <a:avLst>
              <a:gd name="adj" fmla="val 2791"/>
            </a:avLst>
          </a:prstGeom>
          <a:solidFill>
            <a:srgbClr val="FFFFFF"/>
          </a:solidFill>
          <a:ln w="12700">
            <a:solidFill>
              <a:srgbClr val="DFE3EA"/>
            </a:solidFill>
            <a:prstDash val="solid"/>
          </a:ln>
          <a:effectLst>
            <a:outerShdw sx="100000" sy="100000" kx="0" ky="0" algn="bl" rotWithShape="0" blurRad="152400" dist="38100" dir="5400000">
              <a:srgbClr val="101B33">
                <a:alpha val="7000"/>
              </a:srgbClr>
            </a:outerShdw>
          </a:effectLst>
        </p:spPr>
        <p:txBody>
          <a:bodyPr/>
          <a:p/>
        </p:txBody>
      </p:sp>
      <p:sp>
        <p:nvSpPr>
          <p:cNvPr id="21" name="Shape 19"/>
          <p:cNvSpPr/>
          <p:nvPr/>
        </p:nvSpPr>
        <p:spPr>
          <a:xfrm>
            <a:off x="6656832" y="4773168"/>
            <a:ext cx="420624" cy="420624"/>
          </a:xfrm>
          <a:prstGeom prst="ellipse">
            <a:avLst/>
          </a:prstGeom>
          <a:solidFill>
            <a:srgbClr val="0075C9"/>
          </a:solidFill>
          <a:ln w="12700">
            <a:solidFill>
              <a:srgbClr val="0075C9"/>
            </a:solidFill>
            <a:prstDash val="solid"/>
          </a:ln>
        </p:spPr>
        <p:txBody>
          <a:bodyPr/>
          <a:p/>
        </p:txBody>
      </p:sp>
      <p:sp>
        <p:nvSpPr>
          <p:cNvPr id="22" name="Text 20"/>
          <p:cNvSpPr/>
          <p:nvPr/>
        </p:nvSpPr>
        <p:spPr>
          <a:xfrm>
            <a:off x="6656832" y="477316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4</a:t>
            </a:r>
            <a:endParaRPr lang="en-US" sz="1300" dirty="0"/>
          </a:p>
        </p:txBody>
      </p:sp>
      <p:sp>
        <p:nvSpPr>
          <p:cNvPr id="23" name="Text 21"/>
          <p:cNvSpPr/>
          <p:nvPr/>
        </p:nvSpPr>
        <p:spPr>
          <a:xfrm>
            <a:off x="7223760" y="4754880"/>
            <a:ext cx="4069080" cy="457200"/>
          </a:xfrm>
          <a:prstGeom prst="rect">
            <a:avLst/>
          </a:prstGeom>
          <a:noFill/>
          <a:ln/>
        </p:spPr>
        <p:txBody>
          <a:bodyPr wrap="square" lIns="0" tIns="0" rIns="0" bIns="0" rtlCol="0" anchor="ctr"/>
          <a:lstStyle/>
          <a:p>
            <a:pPr indent="0" marL="0">
              <a:buNone/>
            </a:pPr>
            <a:r>
              <a:rPr lang="en-US" sz="1450" b="1" dirty="0">
                <a:solidFill>
                  <a:srgbClr val="101B33"/>
                </a:solidFill>
                <a:latin typeface="맑은 고딕" pitchFamily="34" charset="0"/>
                <a:ea typeface="맑은 고딕" pitchFamily="34" charset="-122"/>
                <a:cs typeface="맑은 고딕" pitchFamily="34" charset="-120"/>
              </a:rPr>
              <a:t>API 없이 쓰실 때는 영상으로 드립니다</a:t>
            </a:r>
            <a:endParaRPr lang="en-US" sz="1450" dirty="0"/>
          </a:p>
        </p:txBody>
      </p:sp>
      <p:sp>
        <p:nvSpPr>
          <p:cNvPr id="24" name="Text 22"/>
          <p:cNvSpPr/>
          <p:nvPr/>
        </p:nvSpPr>
        <p:spPr>
          <a:xfrm>
            <a:off x="6656832" y="5285232"/>
            <a:ext cx="4654296" cy="1060704"/>
          </a:xfrm>
          <a:prstGeom prst="rect">
            <a:avLst/>
          </a:prstGeom>
          <a:noFill/>
          <a:ln/>
        </p:spPr>
        <p:txBody>
          <a:bodyPr wrap="square" lIns="0" tIns="0" rIns="0" bIns="0" rtlCol="0" anchor="t"/>
          <a:lstStyle/>
          <a:p>
            <a:pPr indent="0" marL="0">
              <a:lnSpc>
                <a:spcPts val="1450"/>
              </a:lnSpc>
              <a:buNone/>
            </a:pPr>
            <a:r>
              <a:rPr lang="en-US" sz="1000" dirty="0">
                <a:solidFill>
                  <a:srgbClr val="4A5262"/>
                </a:solidFill>
                <a:latin typeface="맑은 고딕" pitchFamily="34" charset="0"/>
                <a:ea typeface="맑은 고딕" pitchFamily="34" charset="-122"/>
                <a:cs typeface="맑은 고딕" pitchFamily="34" charset="-120"/>
              </a:rPr>
              <a:t>실시간 연동이 필요 없고 화면만 예쁘게 틀고 싶은 경우에는, 설치된 패널 크기에 맞춰 저희가 렌더링해 영상 파일로 전달드립니다. 기존 재생 장비에 그대로 올리시면 됩니다.</a:t>
            </a:r>
            <a:endParaRPr lang="en-US" sz="1000" dirty="0"/>
          </a:p>
        </p:txBody>
      </p:sp>
      <p:sp>
        <p:nvSpPr>
          <p:cNvPr id="25" name="Text 23"/>
          <p:cNvSpPr/>
          <p:nvPr/>
        </p:nvSpPr>
        <p:spPr>
          <a:xfrm>
            <a:off x="11155680" y="6291072"/>
            <a:ext cx="548640" cy="274320"/>
          </a:xfrm>
          <a:prstGeom prst="rect">
            <a:avLst/>
          </a:prstGeom>
          <a:noFill/>
          <a:ln/>
        </p:spPr>
        <p:txBody>
          <a:bodyPr wrap="square" lIns="0" tIns="0" rIns="0" bIns="0" rtlCol="0" anchor="ctr"/>
          <a:lstStyle/>
          <a:p>
            <a:pPr algn="r" indent="0" marL="0">
              <a:buNone/>
            </a:pPr>
            <a:r>
              <a:rPr lang="en-US" sz="1000" dirty="0">
                <a:solidFill>
                  <a:srgbClr val="9AA3B0"/>
                </a:solidFill>
                <a:latin typeface="맑은 고딕" pitchFamily="34" charset="0"/>
                <a:ea typeface="맑은 고딕" pitchFamily="34" charset="-122"/>
                <a:cs typeface="맑은 고딕"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315200" cy="274320"/>
          </a:xfrm>
          <a:prstGeom prst="rect">
            <a:avLst/>
          </a:prstGeom>
          <a:noFill/>
          <a:ln/>
        </p:spPr>
        <p:txBody>
          <a:bodyPr wrap="square" lIns="0" tIns="0" rIns="0" bIns="0" rtlCol="0" anchor="ctr"/>
          <a:lstStyle/>
          <a:p>
            <a:pPr indent="0" marL="0">
              <a:buNone/>
            </a:pPr>
            <a:r>
              <a:rPr lang="en-US" sz="1200" b="1" spc="200" kern="0" dirty="0">
                <a:solidFill>
                  <a:srgbClr val="0075C9"/>
                </a:solidFill>
                <a:latin typeface="맑은 고딕" pitchFamily="34" charset="0"/>
                <a:ea typeface="맑은 고딕" pitchFamily="34" charset="-122"/>
                <a:cs typeface="맑은 고딕" pitchFamily="34" charset="-120"/>
              </a:rPr>
              <a:t>REFERENCES</a:t>
            </a:r>
            <a:endParaRPr lang="en-US" sz="1200" dirty="0"/>
          </a:p>
        </p:txBody>
      </p:sp>
      <p:sp>
        <p:nvSpPr>
          <p:cNvPr id="3" name="Text 1"/>
          <p:cNvSpPr/>
          <p:nvPr/>
        </p:nvSpPr>
        <p:spPr>
          <a:xfrm>
            <a:off x="640080" y="749808"/>
            <a:ext cx="8412480" cy="932688"/>
          </a:xfrm>
          <a:prstGeom prst="rect">
            <a:avLst/>
          </a:prstGeom>
          <a:noFill/>
          <a:ln/>
        </p:spPr>
        <p:txBody>
          <a:bodyPr wrap="square" lIns="0" tIns="0" rIns="0" bIns="0" rtlCol="0" anchor="t"/>
          <a:lstStyle/>
          <a:p>
            <a:pPr indent="0" marL="0">
              <a:buNone/>
            </a:pPr>
            <a:r>
              <a:rPr lang="en-US" sz="3200" b="1" dirty="0">
                <a:solidFill>
                  <a:srgbClr val="101B33"/>
                </a:solidFill>
                <a:latin typeface="맑은 고딕" pitchFamily="34" charset="0"/>
                <a:ea typeface="맑은 고딕" pitchFamily="34" charset="-122"/>
                <a:cs typeface="맑은 고딕" pitchFamily="34" charset="-120"/>
              </a:rPr>
              <a:t>영남권 공공 현장에서 켜져 있는 화면들</a:t>
            </a:r>
            <a:endParaRPr lang="en-US" sz="3200" dirty="0"/>
          </a:p>
        </p:txBody>
      </p:sp>
      <p:pic>
        <p:nvPicPr>
          <p:cNvPr id="4" name="Image 0" descr="/home/user/oneul-bomnal/assets/works/busan-songdo-wave.jpg">    </p:cNvPr>
          <p:cNvPicPr>
            <a:picLocks noChangeAspect="1"/>
          </p:cNvPicPr>
          <p:nvPr/>
        </p:nvPicPr>
        <p:blipFill>
          <a:blip r:embed="rId1"/>
          <a:srcRect l="0" r="0" t="0" b="0"/>
          <a:stretch/>
        </p:blipFill>
        <p:spPr>
          <a:xfrm>
            <a:off x="640080" y="1783080"/>
            <a:ext cx="3520440" cy="1417320"/>
          </a:xfrm>
          <a:prstGeom prst="rect">
            <a:avLst/>
          </a:prstGeom>
        </p:spPr>
      </p:pic>
      <p:sp>
        <p:nvSpPr>
          <p:cNvPr id="5" name="Text 2"/>
          <p:cNvSpPr/>
          <p:nvPr/>
        </p:nvSpPr>
        <p:spPr>
          <a:xfrm>
            <a:off x="640080" y="3273552"/>
            <a:ext cx="3520440" cy="237744"/>
          </a:xfrm>
          <a:prstGeom prst="rect">
            <a:avLst/>
          </a:prstGeom>
          <a:noFill/>
          <a:ln/>
        </p:spPr>
        <p:txBody>
          <a:bodyPr wrap="square" lIns="0" tIns="0" rIns="0" bIns="0" rtlCol="0" anchor="ctr"/>
          <a:lstStyle/>
          <a:p>
            <a:pPr indent="0" marL="0">
              <a:buNone/>
            </a:pPr>
            <a:r>
              <a:rPr lang="en-US" sz="1200" b="1" dirty="0">
                <a:solidFill>
                  <a:srgbClr val="101B33"/>
                </a:solidFill>
                <a:latin typeface="맑은 고딕" pitchFamily="34" charset="0"/>
                <a:ea typeface="맑은 고딕" pitchFamily="34" charset="-122"/>
                <a:cs typeface="맑은 고딕" pitchFamily="34" charset="-120"/>
              </a:rPr>
              <a:t>부산 서구청 · 송도</a:t>
            </a:r>
            <a:endParaRPr lang="en-US" sz="1200" dirty="0"/>
          </a:p>
        </p:txBody>
      </p:sp>
      <p:sp>
        <p:nvSpPr>
          <p:cNvPr id="6" name="Text 3"/>
          <p:cNvSpPr/>
          <p:nvPr/>
        </p:nvSpPr>
        <p:spPr>
          <a:xfrm>
            <a:off x="640080" y="3529584"/>
            <a:ext cx="3520440" cy="237744"/>
          </a:xfrm>
          <a:prstGeom prst="rect">
            <a:avLst/>
          </a:prstGeom>
          <a:noFill/>
          <a:ln/>
        </p:spPr>
        <p:txBody>
          <a:bodyPr wrap="square" lIns="0" tIns="0" rIns="0" bIns="0" rtlCol="0" anchor="ctr"/>
          <a:lstStyle/>
          <a:p>
            <a:pPr indent="0" marL="0">
              <a:buNone/>
            </a:pPr>
            <a:r>
              <a:rPr lang="en-US" sz="1000" dirty="0">
                <a:solidFill>
                  <a:srgbClr val="4A5262"/>
                </a:solidFill>
                <a:latin typeface="맑은 고딕" pitchFamily="34" charset="0"/>
                <a:ea typeface="맑은 고딕" pitchFamily="34" charset="-122"/>
                <a:cs typeface="맑은 고딕" pitchFamily="34" charset="-120"/>
              </a:rPr>
              <a:t>실내 대형 벽면 미디어파사드</a:t>
            </a:r>
            <a:endParaRPr lang="en-US" sz="1000" dirty="0"/>
          </a:p>
        </p:txBody>
      </p:sp>
      <p:pic>
        <p:nvPicPr>
          <p:cNvPr id="7" name="Image 1" descr="/home/user/oneul-bomnal/assets/works/daegu-student-center.jpg">    </p:cNvPr>
          <p:cNvPicPr>
            <a:picLocks noChangeAspect="1"/>
          </p:cNvPicPr>
          <p:nvPr/>
        </p:nvPicPr>
        <p:blipFill>
          <a:blip r:embed="rId2"/>
          <a:srcRect l="0" r="0" t="0" b="0"/>
          <a:stretch/>
        </p:blipFill>
        <p:spPr>
          <a:xfrm>
            <a:off x="4434840" y="1783080"/>
            <a:ext cx="3520440" cy="1417320"/>
          </a:xfrm>
          <a:prstGeom prst="rect">
            <a:avLst/>
          </a:prstGeom>
        </p:spPr>
      </p:pic>
      <p:sp>
        <p:nvSpPr>
          <p:cNvPr id="8" name="Text 4"/>
          <p:cNvSpPr/>
          <p:nvPr/>
        </p:nvSpPr>
        <p:spPr>
          <a:xfrm>
            <a:off x="4434840" y="3273552"/>
            <a:ext cx="3520440" cy="237744"/>
          </a:xfrm>
          <a:prstGeom prst="rect">
            <a:avLst/>
          </a:prstGeom>
          <a:noFill/>
          <a:ln/>
        </p:spPr>
        <p:txBody>
          <a:bodyPr wrap="square" lIns="0" tIns="0" rIns="0" bIns="0" rtlCol="0" anchor="ctr"/>
          <a:lstStyle/>
          <a:p>
            <a:pPr indent="0" marL="0">
              <a:buNone/>
            </a:pPr>
            <a:r>
              <a:rPr lang="en-US" sz="1200" b="1" dirty="0">
                <a:solidFill>
                  <a:srgbClr val="101B33"/>
                </a:solidFill>
                <a:latin typeface="맑은 고딕" pitchFamily="34" charset="0"/>
                <a:ea typeface="맑은 고딕" pitchFamily="34" charset="-122"/>
                <a:cs typeface="맑은 고딕" pitchFamily="34" charset="-120"/>
              </a:rPr>
              <a:t>대구학생문화센터</a:t>
            </a:r>
            <a:endParaRPr lang="en-US" sz="1200" dirty="0"/>
          </a:p>
        </p:txBody>
      </p:sp>
      <p:sp>
        <p:nvSpPr>
          <p:cNvPr id="9" name="Text 5"/>
          <p:cNvSpPr/>
          <p:nvPr/>
        </p:nvSpPr>
        <p:spPr>
          <a:xfrm>
            <a:off x="4434840" y="3529584"/>
            <a:ext cx="3520440" cy="237744"/>
          </a:xfrm>
          <a:prstGeom prst="rect">
            <a:avLst/>
          </a:prstGeom>
          <a:noFill/>
          <a:ln/>
        </p:spPr>
        <p:txBody>
          <a:bodyPr wrap="square" lIns="0" tIns="0" rIns="0" bIns="0" rtlCol="0" anchor="ctr"/>
          <a:lstStyle/>
          <a:p>
            <a:pPr indent="0" marL="0">
              <a:buNone/>
            </a:pPr>
            <a:r>
              <a:rPr lang="en-US" sz="1000" dirty="0">
                <a:solidFill>
                  <a:srgbClr val="4A5262"/>
                </a:solidFill>
                <a:latin typeface="맑은 고딕" pitchFamily="34" charset="0"/>
                <a:ea typeface="맑은 고딕" pitchFamily="34" charset="-122"/>
                <a:cs typeface="맑은 고딕" pitchFamily="34" charset="-120"/>
              </a:rPr>
              <a:t>로비 LED 월 미디어아트</a:t>
            </a:r>
            <a:endParaRPr lang="en-US" sz="1000" dirty="0"/>
          </a:p>
        </p:txBody>
      </p:sp>
      <p:pic>
        <p:nvPicPr>
          <p:cNvPr id="10" name="Image 2" descr="/home/user/oneul-bomnal/assets/works/gumi-summer-night.jpg">    </p:cNvPr>
          <p:cNvPicPr>
            <a:picLocks noChangeAspect="1"/>
          </p:cNvPicPr>
          <p:nvPr/>
        </p:nvPicPr>
        <p:blipFill>
          <a:blip r:embed="rId3"/>
          <a:srcRect l="0" r="0" t="0" b="0"/>
          <a:stretch/>
        </p:blipFill>
        <p:spPr>
          <a:xfrm>
            <a:off x="8229600" y="1783080"/>
            <a:ext cx="3520440" cy="1417320"/>
          </a:xfrm>
          <a:prstGeom prst="rect">
            <a:avLst/>
          </a:prstGeom>
        </p:spPr>
      </p:pic>
      <p:sp>
        <p:nvSpPr>
          <p:cNvPr id="11" name="Text 6"/>
          <p:cNvSpPr/>
          <p:nvPr/>
        </p:nvSpPr>
        <p:spPr>
          <a:xfrm>
            <a:off x="8229600" y="3273552"/>
            <a:ext cx="3520440" cy="237744"/>
          </a:xfrm>
          <a:prstGeom prst="rect">
            <a:avLst/>
          </a:prstGeom>
          <a:noFill/>
          <a:ln/>
        </p:spPr>
        <p:txBody>
          <a:bodyPr wrap="square" lIns="0" tIns="0" rIns="0" bIns="0" rtlCol="0" anchor="ctr"/>
          <a:lstStyle/>
          <a:p>
            <a:pPr indent="0" marL="0">
              <a:buNone/>
            </a:pPr>
            <a:r>
              <a:rPr lang="en-US" sz="1200" b="1" dirty="0">
                <a:solidFill>
                  <a:srgbClr val="101B33"/>
                </a:solidFill>
                <a:latin typeface="맑은 고딕" pitchFamily="34" charset="0"/>
                <a:ea typeface="맑은 고딕" pitchFamily="34" charset="-122"/>
                <a:cs typeface="맑은 고딕" pitchFamily="34" charset="-120"/>
              </a:rPr>
              <a:t>구미 썸머나잇 페스티벌</a:t>
            </a:r>
            <a:endParaRPr lang="en-US" sz="1200" dirty="0"/>
          </a:p>
        </p:txBody>
      </p:sp>
      <p:sp>
        <p:nvSpPr>
          <p:cNvPr id="12" name="Text 7"/>
          <p:cNvSpPr/>
          <p:nvPr/>
        </p:nvSpPr>
        <p:spPr>
          <a:xfrm>
            <a:off x="8229600" y="3529584"/>
            <a:ext cx="3520440" cy="237744"/>
          </a:xfrm>
          <a:prstGeom prst="rect">
            <a:avLst/>
          </a:prstGeom>
          <a:noFill/>
          <a:ln/>
        </p:spPr>
        <p:txBody>
          <a:bodyPr wrap="square" lIns="0" tIns="0" rIns="0" bIns="0" rtlCol="0" anchor="ctr"/>
          <a:lstStyle/>
          <a:p>
            <a:pPr indent="0" marL="0">
              <a:buNone/>
            </a:pPr>
            <a:r>
              <a:rPr lang="en-US" sz="1000" dirty="0">
                <a:solidFill>
                  <a:srgbClr val="4A5262"/>
                </a:solidFill>
                <a:latin typeface="맑은 고딕" pitchFamily="34" charset="0"/>
                <a:ea typeface="맑은 고딕" pitchFamily="34" charset="-122"/>
                <a:cs typeface="맑은 고딕" pitchFamily="34" charset="-120"/>
              </a:rPr>
              <a:t>야외 건물 미디어파사드</a:t>
            </a:r>
            <a:endParaRPr lang="en-US" sz="1000" dirty="0"/>
          </a:p>
        </p:txBody>
      </p:sp>
      <p:pic>
        <p:nvPicPr>
          <p:cNvPr id="13" name="Image 3" descr="/home/user/oneul-bomnal/assets/works/gbe-gumico-exhibition.jpg">    </p:cNvPr>
          <p:cNvPicPr>
            <a:picLocks noChangeAspect="1"/>
          </p:cNvPicPr>
          <p:nvPr/>
        </p:nvPicPr>
        <p:blipFill>
          <a:blip r:embed="rId4"/>
          <a:srcRect l="0" r="0" t="0" b="0"/>
          <a:stretch/>
        </p:blipFill>
        <p:spPr>
          <a:xfrm>
            <a:off x="640080" y="3931920"/>
            <a:ext cx="3520440" cy="1417320"/>
          </a:xfrm>
          <a:prstGeom prst="rect">
            <a:avLst/>
          </a:prstGeom>
        </p:spPr>
      </p:pic>
      <p:sp>
        <p:nvSpPr>
          <p:cNvPr id="14" name="Text 8"/>
          <p:cNvSpPr/>
          <p:nvPr/>
        </p:nvSpPr>
        <p:spPr>
          <a:xfrm>
            <a:off x="640080" y="5422392"/>
            <a:ext cx="3520440" cy="237744"/>
          </a:xfrm>
          <a:prstGeom prst="rect">
            <a:avLst/>
          </a:prstGeom>
          <a:noFill/>
          <a:ln/>
        </p:spPr>
        <p:txBody>
          <a:bodyPr wrap="square" lIns="0" tIns="0" rIns="0" bIns="0" rtlCol="0" anchor="ctr"/>
          <a:lstStyle/>
          <a:p>
            <a:pPr indent="0" marL="0">
              <a:buNone/>
            </a:pPr>
            <a:r>
              <a:rPr lang="en-US" sz="1200" b="1" dirty="0">
                <a:solidFill>
                  <a:srgbClr val="101B33"/>
                </a:solidFill>
                <a:latin typeface="맑은 고딕" pitchFamily="34" charset="0"/>
                <a:ea typeface="맑은 고딕" pitchFamily="34" charset="-122"/>
                <a:cs typeface="맑은 고딕" pitchFamily="34" charset="-120"/>
              </a:rPr>
              <a:t>경북교육청 · 구미코 전시</a:t>
            </a:r>
            <a:endParaRPr lang="en-US" sz="1200" dirty="0"/>
          </a:p>
        </p:txBody>
      </p:sp>
      <p:sp>
        <p:nvSpPr>
          <p:cNvPr id="15" name="Text 9"/>
          <p:cNvSpPr/>
          <p:nvPr/>
        </p:nvSpPr>
        <p:spPr>
          <a:xfrm>
            <a:off x="640080" y="5678424"/>
            <a:ext cx="3520440" cy="237744"/>
          </a:xfrm>
          <a:prstGeom prst="rect">
            <a:avLst/>
          </a:prstGeom>
          <a:noFill/>
          <a:ln/>
        </p:spPr>
        <p:txBody>
          <a:bodyPr wrap="square" lIns="0" tIns="0" rIns="0" bIns="0" rtlCol="0" anchor="ctr"/>
          <a:lstStyle/>
          <a:p>
            <a:pPr indent="0" marL="0">
              <a:buNone/>
            </a:pPr>
            <a:r>
              <a:rPr lang="en-US" sz="1000" dirty="0">
                <a:solidFill>
                  <a:srgbClr val="4A5262"/>
                </a:solidFill>
                <a:latin typeface="맑은 고딕" pitchFamily="34" charset="0"/>
                <a:ea typeface="맑은 고딕" pitchFamily="34" charset="-122"/>
                <a:cs typeface="맑은 고딕" pitchFamily="34" charset="-120"/>
              </a:rPr>
              <a:t>전시장 미디어파사드</a:t>
            </a:r>
            <a:endParaRPr lang="en-US" sz="1000" dirty="0"/>
          </a:p>
        </p:txBody>
      </p:sp>
      <p:pic>
        <p:nvPicPr>
          <p:cNvPr id="16" name="Image 4" descr="/home/user/oneul-bomnal/assets/works/gumico-signage-yeongchae.jpg">    </p:cNvPr>
          <p:cNvPicPr>
            <a:picLocks noChangeAspect="1"/>
          </p:cNvPicPr>
          <p:nvPr/>
        </p:nvPicPr>
        <p:blipFill>
          <a:blip r:embed="rId5"/>
          <a:srcRect l="0" r="0" t="0" b="0"/>
          <a:stretch/>
        </p:blipFill>
        <p:spPr>
          <a:xfrm>
            <a:off x="4434840" y="3931920"/>
            <a:ext cx="3520440" cy="1417320"/>
          </a:xfrm>
          <a:prstGeom prst="rect">
            <a:avLst/>
          </a:prstGeom>
        </p:spPr>
      </p:pic>
      <p:sp>
        <p:nvSpPr>
          <p:cNvPr id="17" name="Text 10"/>
          <p:cNvSpPr/>
          <p:nvPr/>
        </p:nvSpPr>
        <p:spPr>
          <a:xfrm>
            <a:off x="4434840" y="5422392"/>
            <a:ext cx="3520440" cy="237744"/>
          </a:xfrm>
          <a:prstGeom prst="rect">
            <a:avLst/>
          </a:prstGeom>
          <a:noFill/>
          <a:ln/>
        </p:spPr>
        <p:txBody>
          <a:bodyPr wrap="square" lIns="0" tIns="0" rIns="0" bIns="0" rtlCol="0" anchor="ctr"/>
          <a:lstStyle/>
          <a:p>
            <a:pPr indent="0" marL="0">
              <a:buNone/>
            </a:pPr>
            <a:r>
              <a:rPr lang="en-US" sz="1200" b="1" dirty="0">
                <a:solidFill>
                  <a:srgbClr val="101B33"/>
                </a:solidFill>
                <a:latin typeface="맑은 고딕" pitchFamily="34" charset="0"/>
                <a:ea typeface="맑은 고딕" pitchFamily="34" charset="-122"/>
                <a:cs typeface="맑은 고딕" pitchFamily="34" charset="-120"/>
              </a:rPr>
              <a:t>구미코 · 로비 사이니지</a:t>
            </a:r>
            <a:endParaRPr lang="en-US" sz="1200" dirty="0"/>
          </a:p>
        </p:txBody>
      </p:sp>
      <p:sp>
        <p:nvSpPr>
          <p:cNvPr id="18" name="Text 11"/>
          <p:cNvSpPr/>
          <p:nvPr/>
        </p:nvSpPr>
        <p:spPr>
          <a:xfrm>
            <a:off x="4434840" y="5678424"/>
            <a:ext cx="3520440" cy="237744"/>
          </a:xfrm>
          <a:prstGeom prst="rect">
            <a:avLst/>
          </a:prstGeom>
          <a:noFill/>
          <a:ln/>
        </p:spPr>
        <p:txBody>
          <a:bodyPr wrap="square" lIns="0" tIns="0" rIns="0" bIns="0" rtlCol="0" anchor="ctr"/>
          <a:lstStyle/>
          <a:p>
            <a:pPr indent="0" marL="0">
              <a:buNone/>
            </a:pPr>
            <a:r>
              <a:rPr lang="en-US" sz="1000" dirty="0">
                <a:solidFill>
                  <a:srgbClr val="4A5262"/>
                </a:solidFill>
                <a:latin typeface="맑은 고딕" pitchFamily="34" charset="0"/>
                <a:ea typeface="맑은 고딕" pitchFamily="34" charset="-122"/>
                <a:cs typeface="맑은 고딕" pitchFamily="34" charset="-120"/>
              </a:rPr>
              <a:t>세로형 LED 사이니지</a:t>
            </a:r>
            <a:endParaRPr lang="en-US" sz="1000" dirty="0"/>
          </a:p>
        </p:txBody>
      </p:sp>
      <p:pic>
        <p:nvPicPr>
          <p:cNvPr id="19" name="Image 5" descr="/home/user/oneul-bomnal/assets/works/andong-station-facade.jpg">    </p:cNvPr>
          <p:cNvPicPr>
            <a:picLocks noChangeAspect="1"/>
          </p:cNvPicPr>
          <p:nvPr/>
        </p:nvPicPr>
        <p:blipFill>
          <a:blip r:embed="rId6"/>
          <a:srcRect l="0" r="0" t="0" b="0"/>
          <a:stretch/>
        </p:blipFill>
        <p:spPr>
          <a:xfrm>
            <a:off x="8229600" y="3931920"/>
            <a:ext cx="3520440" cy="1417320"/>
          </a:xfrm>
          <a:prstGeom prst="rect">
            <a:avLst/>
          </a:prstGeom>
        </p:spPr>
      </p:pic>
      <p:sp>
        <p:nvSpPr>
          <p:cNvPr id="20" name="Text 12"/>
          <p:cNvSpPr/>
          <p:nvPr/>
        </p:nvSpPr>
        <p:spPr>
          <a:xfrm>
            <a:off x="8229600" y="5422392"/>
            <a:ext cx="3520440" cy="237744"/>
          </a:xfrm>
          <a:prstGeom prst="rect">
            <a:avLst/>
          </a:prstGeom>
          <a:noFill/>
          <a:ln/>
        </p:spPr>
        <p:txBody>
          <a:bodyPr wrap="square" lIns="0" tIns="0" rIns="0" bIns="0" rtlCol="0" anchor="ctr"/>
          <a:lstStyle/>
          <a:p>
            <a:pPr indent="0" marL="0">
              <a:buNone/>
            </a:pPr>
            <a:r>
              <a:rPr lang="en-US" sz="1200" b="1" dirty="0">
                <a:solidFill>
                  <a:srgbClr val="101B33"/>
                </a:solidFill>
                <a:latin typeface="맑은 고딕" pitchFamily="34" charset="0"/>
                <a:ea typeface="맑은 고딕" pitchFamily="34" charset="-122"/>
                <a:cs typeface="맑은 고딕" pitchFamily="34" charset="-120"/>
              </a:rPr>
              <a:t>안동 · 모디684</a:t>
            </a:r>
            <a:endParaRPr lang="en-US" sz="1200" dirty="0"/>
          </a:p>
        </p:txBody>
      </p:sp>
      <p:sp>
        <p:nvSpPr>
          <p:cNvPr id="21" name="Text 13"/>
          <p:cNvSpPr/>
          <p:nvPr/>
        </p:nvSpPr>
        <p:spPr>
          <a:xfrm>
            <a:off x="8229600" y="5678424"/>
            <a:ext cx="3520440" cy="237744"/>
          </a:xfrm>
          <a:prstGeom prst="rect">
            <a:avLst/>
          </a:prstGeom>
          <a:noFill/>
          <a:ln/>
        </p:spPr>
        <p:txBody>
          <a:bodyPr wrap="square" lIns="0" tIns="0" rIns="0" bIns="0" rtlCol="0" anchor="ctr"/>
          <a:lstStyle/>
          <a:p>
            <a:pPr indent="0" marL="0">
              <a:buNone/>
            </a:pPr>
            <a:r>
              <a:rPr lang="en-US" sz="1000" dirty="0">
                <a:solidFill>
                  <a:srgbClr val="4A5262"/>
                </a:solidFill>
                <a:latin typeface="맑은 고딕" pitchFamily="34" charset="0"/>
                <a:ea typeface="맑은 고딕" pitchFamily="34" charset="-122"/>
                <a:cs typeface="맑은 고딕" pitchFamily="34" charset="-120"/>
              </a:rPr>
              <a:t>야외 건물 미디어파사드</a:t>
            </a:r>
            <a:endParaRPr lang="en-US" sz="1000" dirty="0"/>
          </a:p>
        </p:txBody>
      </p:sp>
      <p:sp>
        <p:nvSpPr>
          <p:cNvPr id="22" name="Text 14"/>
          <p:cNvSpPr/>
          <p:nvPr/>
        </p:nvSpPr>
        <p:spPr>
          <a:xfrm>
            <a:off x="640080" y="6053328"/>
            <a:ext cx="9875520" cy="457200"/>
          </a:xfrm>
          <a:prstGeom prst="rect">
            <a:avLst/>
          </a:prstGeom>
          <a:noFill/>
          <a:ln/>
        </p:spPr>
        <p:txBody>
          <a:bodyPr wrap="square" lIns="0" tIns="0" rIns="0" bIns="0" rtlCol="0" anchor="ctr"/>
          <a:lstStyle/>
          <a:p>
            <a:pPr indent="0" marL="0">
              <a:lnSpc>
                <a:spcPts val="1400"/>
              </a:lnSpc>
              <a:buNone/>
            </a:pPr>
            <a:r>
              <a:rPr lang="en-US" sz="1000" dirty="0">
                <a:solidFill>
                  <a:srgbClr val="8A93A3"/>
                </a:solidFill>
                <a:latin typeface="맑은 고딕" pitchFamily="34" charset="0"/>
                <a:ea typeface="맑은 고딕" pitchFamily="34" charset="-122"/>
                <a:cs typeface="맑은 고딕" pitchFamily="34" charset="-120"/>
              </a:rPr>
              <a:t>위 현장은 오늘은 봄날이 수행한 레퍼런스입니다. 입찰·수의계약용 실적증명서는 요청 시 발송합니다.</a:t>
            </a:r>
            <a:endParaRPr lang="en-US" sz="1000" dirty="0"/>
          </a:p>
        </p:txBody>
      </p:sp>
      <p:sp>
        <p:nvSpPr>
          <p:cNvPr id="23" name="Text 15"/>
          <p:cNvSpPr/>
          <p:nvPr/>
        </p:nvSpPr>
        <p:spPr>
          <a:xfrm>
            <a:off x="11155680" y="6291072"/>
            <a:ext cx="548640" cy="274320"/>
          </a:xfrm>
          <a:prstGeom prst="rect">
            <a:avLst/>
          </a:prstGeom>
          <a:noFill/>
          <a:ln/>
        </p:spPr>
        <p:txBody>
          <a:bodyPr wrap="square" lIns="0" tIns="0" rIns="0" bIns="0" rtlCol="0" anchor="ctr"/>
          <a:lstStyle/>
          <a:p>
            <a:pPr algn="r" indent="0" marL="0">
              <a:buNone/>
            </a:pPr>
            <a:r>
              <a:rPr lang="en-US" sz="1000" dirty="0">
                <a:solidFill>
                  <a:srgbClr val="9AA3B0"/>
                </a:solidFill>
                <a:latin typeface="맑은 고딕" pitchFamily="34" charset="0"/>
                <a:ea typeface="맑은 고딕" pitchFamily="34" charset="-122"/>
                <a:cs typeface="맑은 고딕"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315200" cy="274320"/>
          </a:xfrm>
          <a:prstGeom prst="rect">
            <a:avLst/>
          </a:prstGeom>
          <a:noFill/>
          <a:ln/>
        </p:spPr>
        <p:txBody>
          <a:bodyPr wrap="square" lIns="0" tIns="0" rIns="0" bIns="0" rtlCol="0" anchor="ctr"/>
          <a:lstStyle/>
          <a:p>
            <a:pPr indent="0" marL="0">
              <a:buNone/>
            </a:pPr>
            <a:r>
              <a:rPr lang="en-US" sz="1200" b="1" spc="200" kern="0" dirty="0">
                <a:solidFill>
                  <a:srgbClr val="0075C9"/>
                </a:solidFill>
                <a:latin typeface="맑은 고딕" pitchFamily="34" charset="0"/>
                <a:ea typeface="맑은 고딕" pitchFamily="34" charset="-122"/>
                <a:cs typeface="맑은 고딕" pitchFamily="34" charset="-120"/>
              </a:rPr>
              <a:t>CREDENTIALS</a:t>
            </a:r>
            <a:endParaRPr lang="en-US" sz="1200" dirty="0"/>
          </a:p>
        </p:txBody>
      </p:sp>
      <p:sp>
        <p:nvSpPr>
          <p:cNvPr id="3" name="Text 1"/>
          <p:cNvSpPr/>
          <p:nvPr/>
        </p:nvSpPr>
        <p:spPr>
          <a:xfrm>
            <a:off x="640080" y="749808"/>
            <a:ext cx="8412480" cy="932688"/>
          </a:xfrm>
          <a:prstGeom prst="rect">
            <a:avLst/>
          </a:prstGeom>
          <a:noFill/>
          <a:ln/>
        </p:spPr>
        <p:txBody>
          <a:bodyPr wrap="square" lIns="0" tIns="0" rIns="0" bIns="0" rtlCol="0" anchor="t"/>
          <a:lstStyle/>
          <a:p>
            <a:pPr indent="0" marL="0">
              <a:buNone/>
            </a:pPr>
            <a:r>
              <a:rPr lang="en-US" sz="3200" b="1" dirty="0">
                <a:solidFill>
                  <a:srgbClr val="101B33"/>
                </a:solidFill>
                <a:latin typeface="맑은 고딕" pitchFamily="34" charset="0"/>
                <a:ea typeface="맑은 고딕" pitchFamily="34" charset="-122"/>
                <a:cs typeface="맑은 고딕" pitchFamily="34" charset="-120"/>
              </a:rPr>
              <a:t>공공 발주에 바로 대응합니다</a:t>
            </a:r>
            <a:endParaRPr lang="en-US" sz="3200" dirty="0"/>
          </a:p>
        </p:txBody>
      </p:sp>
      <p:sp>
        <p:nvSpPr>
          <p:cNvPr id="4" name="Text 2"/>
          <p:cNvSpPr/>
          <p:nvPr/>
        </p:nvSpPr>
        <p:spPr>
          <a:xfrm>
            <a:off x="640080" y="1719072"/>
            <a:ext cx="10881360" cy="320040"/>
          </a:xfrm>
          <a:prstGeom prst="rect">
            <a:avLst/>
          </a:prstGeom>
          <a:noFill/>
          <a:ln/>
        </p:spPr>
        <p:txBody>
          <a:bodyPr wrap="square" lIns="0" tIns="0" rIns="0" bIns="0" rtlCol="0" anchor="ctr"/>
          <a:lstStyle/>
          <a:p>
            <a:pPr indent="0" marL="0">
              <a:buNone/>
            </a:pPr>
            <a:r>
              <a:rPr lang="en-US" sz="1300" dirty="0">
                <a:solidFill>
                  <a:srgbClr val="4A5262"/>
                </a:solidFill>
                <a:latin typeface="맑은 고딕" pitchFamily="34" charset="0"/>
                <a:ea typeface="맑은 고딕" pitchFamily="34" charset="-122"/>
                <a:cs typeface="맑은 고딕" pitchFamily="34" charset="-120"/>
              </a:rPr>
              <a:t>여성기업이므로 공공기관 우선구매 대상이며, 직접생산확인증명서로 중소기업자간 경쟁입찰에 즉시 참여합니다.</a:t>
            </a:r>
            <a:endParaRPr lang="en-US" sz="1300" dirty="0"/>
          </a:p>
        </p:txBody>
      </p:sp>
      <p:sp>
        <p:nvSpPr>
          <p:cNvPr id="5" name="Shape 3"/>
          <p:cNvSpPr/>
          <p:nvPr/>
        </p:nvSpPr>
        <p:spPr>
          <a:xfrm>
            <a:off x="640080" y="2331720"/>
            <a:ext cx="5349240" cy="1234440"/>
          </a:xfrm>
          <a:prstGeom prst="roundRect">
            <a:avLst>
              <a:gd name="adj" fmla="val 4444"/>
            </a:avLst>
          </a:prstGeom>
          <a:solidFill>
            <a:srgbClr val="F0F6FC"/>
          </a:solidFill>
          <a:ln w="12700">
            <a:solidFill>
              <a:srgbClr val="DFE3EA"/>
            </a:solidFill>
            <a:prstDash val="solid"/>
          </a:ln>
          <a:effectLst>
            <a:outerShdw sx="100000" sy="100000" kx="0" ky="0" algn="bl" rotWithShape="0" blurRad="152400" dist="38100" dir="5400000">
              <a:srgbClr val="101B33">
                <a:alpha val="7000"/>
              </a:srgbClr>
            </a:outerShdw>
          </a:effectLst>
        </p:spPr>
        <p:txBody>
          <a:bodyPr/>
          <a:p/>
        </p:txBody>
      </p:sp>
      <p:sp>
        <p:nvSpPr>
          <p:cNvPr id="6" name="Text 4"/>
          <p:cNvSpPr/>
          <p:nvPr/>
        </p:nvSpPr>
        <p:spPr>
          <a:xfrm>
            <a:off x="987552" y="2514600"/>
            <a:ext cx="4654296" cy="292608"/>
          </a:xfrm>
          <a:prstGeom prst="rect">
            <a:avLst/>
          </a:prstGeom>
          <a:noFill/>
          <a:ln/>
        </p:spPr>
        <p:txBody>
          <a:bodyPr wrap="square" lIns="0" tIns="0" rIns="0" bIns="0" rtlCol="0" anchor="ctr"/>
          <a:lstStyle/>
          <a:p>
            <a:pPr indent="0" marL="0">
              <a:buNone/>
            </a:pPr>
            <a:r>
              <a:rPr lang="en-US" sz="1400" b="1" dirty="0">
                <a:solidFill>
                  <a:srgbClr val="101B33"/>
                </a:solidFill>
                <a:latin typeface="맑은 고딕" pitchFamily="34" charset="0"/>
                <a:ea typeface="맑은 고딕" pitchFamily="34" charset="-122"/>
                <a:cs typeface="맑은 고딕" pitchFamily="34" charset="-120"/>
              </a:rPr>
              <a:t>여성기업 확인서</a:t>
            </a:r>
            <a:endParaRPr lang="en-US" sz="1400" dirty="0"/>
          </a:p>
        </p:txBody>
      </p:sp>
      <p:sp>
        <p:nvSpPr>
          <p:cNvPr id="7" name="Text 5"/>
          <p:cNvSpPr/>
          <p:nvPr/>
        </p:nvSpPr>
        <p:spPr>
          <a:xfrm>
            <a:off x="987552" y="2825496"/>
            <a:ext cx="4654296" cy="256032"/>
          </a:xfrm>
          <a:prstGeom prst="rect">
            <a:avLst/>
          </a:prstGeom>
          <a:noFill/>
          <a:ln/>
        </p:spPr>
        <p:txBody>
          <a:bodyPr wrap="square" lIns="0" tIns="0" rIns="0" bIns="0" rtlCol="0" anchor="ctr"/>
          <a:lstStyle/>
          <a:p>
            <a:pPr indent="0" marL="0">
              <a:buNone/>
            </a:pPr>
            <a:r>
              <a:rPr lang="en-US" sz="1100" dirty="0">
                <a:solidFill>
                  <a:srgbClr val="0075C9"/>
                </a:solidFill>
                <a:latin typeface="맑은 고딕" pitchFamily="34" charset="0"/>
                <a:ea typeface="맑은 고딕" pitchFamily="34" charset="-122"/>
                <a:cs typeface="맑은 고딕" pitchFamily="34" charset="-120"/>
              </a:rPr>
              <a:t>제0113-2025-35456호   ·   유효 2025.11.07 ~ 2028.11.06</a:t>
            </a:r>
            <a:endParaRPr lang="en-US" sz="1100" dirty="0"/>
          </a:p>
        </p:txBody>
      </p:sp>
      <p:sp>
        <p:nvSpPr>
          <p:cNvPr id="8" name="Text 6"/>
          <p:cNvSpPr/>
          <p:nvPr/>
        </p:nvSpPr>
        <p:spPr>
          <a:xfrm>
            <a:off x="987552" y="3099816"/>
            <a:ext cx="4654296" cy="274320"/>
          </a:xfrm>
          <a:prstGeom prst="rect">
            <a:avLst/>
          </a:prstGeom>
          <a:noFill/>
          <a:ln/>
        </p:spPr>
        <p:txBody>
          <a:bodyPr wrap="square" lIns="0" tIns="0" rIns="0" bIns="0" rtlCol="0" anchor="ctr"/>
          <a:lstStyle/>
          <a:p>
            <a:pPr indent="0" marL="0">
              <a:buNone/>
            </a:pPr>
            <a:r>
              <a:rPr lang="en-US" sz="1050" dirty="0">
                <a:solidFill>
                  <a:srgbClr val="4A5262"/>
                </a:solidFill>
                <a:latin typeface="맑은 고딕" pitchFamily="34" charset="0"/>
                <a:ea typeface="맑은 고딕" pitchFamily="34" charset="-122"/>
                <a:cs typeface="맑은 고딕" pitchFamily="34" charset="-120"/>
              </a:rPr>
              <a:t>공공기관 우선구매 대상</a:t>
            </a:r>
            <a:endParaRPr lang="en-US" sz="1050" dirty="0"/>
          </a:p>
        </p:txBody>
      </p:sp>
      <p:sp>
        <p:nvSpPr>
          <p:cNvPr id="9" name="Shape 7"/>
          <p:cNvSpPr/>
          <p:nvPr/>
        </p:nvSpPr>
        <p:spPr>
          <a:xfrm>
            <a:off x="6309360" y="2331720"/>
            <a:ext cx="5349240" cy="1234440"/>
          </a:xfrm>
          <a:prstGeom prst="roundRect">
            <a:avLst>
              <a:gd name="adj" fmla="val 4444"/>
            </a:avLst>
          </a:prstGeom>
          <a:solidFill>
            <a:srgbClr val="FFFFFF"/>
          </a:solidFill>
          <a:ln w="12700">
            <a:solidFill>
              <a:srgbClr val="DFE3EA"/>
            </a:solidFill>
            <a:prstDash val="solid"/>
          </a:ln>
          <a:effectLst>
            <a:outerShdw sx="100000" sy="100000" kx="0" ky="0" algn="bl" rotWithShape="0" blurRad="152400" dist="38100" dir="5400000">
              <a:srgbClr val="101B33">
                <a:alpha val="7000"/>
              </a:srgbClr>
            </a:outerShdw>
          </a:effectLst>
        </p:spPr>
        <p:txBody>
          <a:bodyPr/>
          <a:p/>
        </p:txBody>
      </p:sp>
      <p:sp>
        <p:nvSpPr>
          <p:cNvPr id="10" name="Text 8"/>
          <p:cNvSpPr/>
          <p:nvPr/>
        </p:nvSpPr>
        <p:spPr>
          <a:xfrm>
            <a:off x="6656832" y="2514600"/>
            <a:ext cx="4654296" cy="292608"/>
          </a:xfrm>
          <a:prstGeom prst="rect">
            <a:avLst/>
          </a:prstGeom>
          <a:noFill/>
          <a:ln/>
        </p:spPr>
        <p:txBody>
          <a:bodyPr wrap="square" lIns="0" tIns="0" rIns="0" bIns="0" rtlCol="0" anchor="ctr"/>
          <a:lstStyle/>
          <a:p>
            <a:pPr indent="0" marL="0">
              <a:buNone/>
            </a:pPr>
            <a:r>
              <a:rPr lang="en-US" sz="1400" b="1" dirty="0">
                <a:solidFill>
                  <a:srgbClr val="101B33"/>
                </a:solidFill>
                <a:latin typeface="맑은 고딕" pitchFamily="34" charset="0"/>
                <a:ea typeface="맑은 고딕" pitchFamily="34" charset="-122"/>
                <a:cs typeface="맑은 고딕" pitchFamily="34" charset="-120"/>
              </a:rPr>
              <a:t>직접생산확인증명서</a:t>
            </a:r>
            <a:endParaRPr lang="en-US" sz="1400" dirty="0"/>
          </a:p>
        </p:txBody>
      </p:sp>
      <p:sp>
        <p:nvSpPr>
          <p:cNvPr id="11" name="Text 9"/>
          <p:cNvSpPr/>
          <p:nvPr/>
        </p:nvSpPr>
        <p:spPr>
          <a:xfrm>
            <a:off x="6656832" y="2825496"/>
            <a:ext cx="4654296" cy="256032"/>
          </a:xfrm>
          <a:prstGeom prst="rect">
            <a:avLst/>
          </a:prstGeom>
          <a:noFill/>
          <a:ln/>
        </p:spPr>
        <p:txBody>
          <a:bodyPr wrap="square" lIns="0" tIns="0" rIns="0" bIns="0" rtlCol="0" anchor="ctr"/>
          <a:lstStyle/>
          <a:p>
            <a:pPr indent="0" marL="0">
              <a:buNone/>
            </a:pPr>
            <a:r>
              <a:rPr lang="en-US" sz="1100" dirty="0">
                <a:solidFill>
                  <a:srgbClr val="0075C9"/>
                </a:solidFill>
                <a:latin typeface="맑은 고딕" pitchFamily="34" charset="0"/>
                <a:ea typeface="맑은 고딕" pitchFamily="34" charset="-122"/>
                <a:cs typeface="맑은 고딕" pitchFamily="34" charset="-120"/>
              </a:rPr>
              <a:t>제2025-0495-02141호   ·   유효 2025.10.29 ~ 2027.10.28</a:t>
            </a:r>
            <a:endParaRPr lang="en-US" sz="1100" dirty="0"/>
          </a:p>
        </p:txBody>
      </p:sp>
      <p:sp>
        <p:nvSpPr>
          <p:cNvPr id="12" name="Text 10"/>
          <p:cNvSpPr/>
          <p:nvPr/>
        </p:nvSpPr>
        <p:spPr>
          <a:xfrm>
            <a:off x="6656832" y="3099816"/>
            <a:ext cx="4654296" cy="274320"/>
          </a:xfrm>
          <a:prstGeom prst="rect">
            <a:avLst/>
          </a:prstGeom>
          <a:noFill/>
          <a:ln/>
        </p:spPr>
        <p:txBody>
          <a:bodyPr wrap="square" lIns="0" tIns="0" rIns="0" bIns="0" rtlCol="0" anchor="ctr"/>
          <a:lstStyle/>
          <a:p>
            <a:pPr indent="0" marL="0">
              <a:buNone/>
            </a:pPr>
            <a:r>
              <a:rPr lang="en-US" sz="1050" dirty="0">
                <a:solidFill>
                  <a:srgbClr val="4A5262"/>
                </a:solidFill>
                <a:latin typeface="맑은 고딕" pitchFamily="34" charset="0"/>
                <a:ea typeface="맑은 고딕" pitchFamily="34" charset="-122"/>
                <a:cs typeface="맑은 고딕" pitchFamily="34" charset="-120"/>
              </a:rPr>
              <a:t>동영상제작서비스 · 중소기업자간 경쟁입찰 참여</a:t>
            </a:r>
            <a:endParaRPr lang="en-US" sz="1050" dirty="0"/>
          </a:p>
        </p:txBody>
      </p:sp>
      <p:sp>
        <p:nvSpPr>
          <p:cNvPr id="13" name="Shape 11"/>
          <p:cNvSpPr/>
          <p:nvPr/>
        </p:nvSpPr>
        <p:spPr>
          <a:xfrm>
            <a:off x="640080" y="3822192"/>
            <a:ext cx="5349240" cy="1234440"/>
          </a:xfrm>
          <a:prstGeom prst="roundRect">
            <a:avLst>
              <a:gd name="adj" fmla="val 4444"/>
            </a:avLst>
          </a:prstGeom>
          <a:solidFill>
            <a:srgbClr val="FFFFFF"/>
          </a:solidFill>
          <a:ln w="12700">
            <a:solidFill>
              <a:srgbClr val="DFE3EA"/>
            </a:solidFill>
            <a:prstDash val="solid"/>
          </a:ln>
          <a:effectLst>
            <a:outerShdw sx="100000" sy="100000" kx="0" ky="0" algn="bl" rotWithShape="0" blurRad="152400" dist="38100" dir="5400000">
              <a:srgbClr val="101B33">
                <a:alpha val="7000"/>
              </a:srgbClr>
            </a:outerShdw>
          </a:effectLst>
        </p:spPr>
        <p:txBody>
          <a:bodyPr/>
          <a:p/>
        </p:txBody>
      </p:sp>
      <p:sp>
        <p:nvSpPr>
          <p:cNvPr id="14" name="Text 12"/>
          <p:cNvSpPr/>
          <p:nvPr/>
        </p:nvSpPr>
        <p:spPr>
          <a:xfrm>
            <a:off x="987552" y="4005072"/>
            <a:ext cx="4654296" cy="292608"/>
          </a:xfrm>
          <a:prstGeom prst="rect">
            <a:avLst/>
          </a:prstGeom>
          <a:noFill/>
          <a:ln/>
        </p:spPr>
        <p:txBody>
          <a:bodyPr wrap="square" lIns="0" tIns="0" rIns="0" bIns="0" rtlCol="0" anchor="ctr"/>
          <a:lstStyle/>
          <a:p>
            <a:pPr indent="0" marL="0">
              <a:buNone/>
            </a:pPr>
            <a:r>
              <a:rPr lang="en-US" sz="1400" b="1" dirty="0">
                <a:solidFill>
                  <a:srgbClr val="101B33"/>
                </a:solidFill>
                <a:latin typeface="맑은 고딕" pitchFamily="34" charset="0"/>
                <a:ea typeface="맑은 고딕" pitchFamily="34" charset="-122"/>
                <a:cs typeface="맑은 고딕" pitchFamily="34" charset="-120"/>
              </a:rPr>
              <a:t>비디오물제작업 신고증</a:t>
            </a:r>
            <a:endParaRPr lang="en-US" sz="1400" dirty="0"/>
          </a:p>
        </p:txBody>
      </p:sp>
      <p:sp>
        <p:nvSpPr>
          <p:cNvPr id="15" name="Text 13"/>
          <p:cNvSpPr/>
          <p:nvPr/>
        </p:nvSpPr>
        <p:spPr>
          <a:xfrm>
            <a:off x="987552" y="4315968"/>
            <a:ext cx="4654296" cy="256032"/>
          </a:xfrm>
          <a:prstGeom prst="rect">
            <a:avLst/>
          </a:prstGeom>
          <a:noFill/>
          <a:ln/>
        </p:spPr>
        <p:txBody>
          <a:bodyPr wrap="square" lIns="0" tIns="0" rIns="0" bIns="0" rtlCol="0" anchor="ctr"/>
          <a:lstStyle/>
          <a:p>
            <a:pPr indent="0" marL="0">
              <a:buNone/>
            </a:pPr>
            <a:r>
              <a:rPr lang="en-US" sz="1100" dirty="0">
                <a:solidFill>
                  <a:srgbClr val="0075C9"/>
                </a:solidFill>
                <a:latin typeface="맑은 고딕" pitchFamily="34" charset="0"/>
                <a:ea typeface="맑은 고딕" pitchFamily="34" charset="-122"/>
                <a:cs typeface="맑은 고딕" pitchFamily="34" charset="-120"/>
              </a:rPr>
              <a:t>제2025-000019호</a:t>
            </a:r>
            <a:endParaRPr lang="en-US" sz="1100" dirty="0"/>
          </a:p>
        </p:txBody>
      </p:sp>
      <p:sp>
        <p:nvSpPr>
          <p:cNvPr id="16" name="Text 14"/>
          <p:cNvSpPr/>
          <p:nvPr/>
        </p:nvSpPr>
        <p:spPr>
          <a:xfrm>
            <a:off x="987552" y="4590288"/>
            <a:ext cx="4654296" cy="274320"/>
          </a:xfrm>
          <a:prstGeom prst="rect">
            <a:avLst/>
          </a:prstGeom>
          <a:noFill/>
          <a:ln/>
        </p:spPr>
        <p:txBody>
          <a:bodyPr wrap="square" lIns="0" tIns="0" rIns="0" bIns="0" rtlCol="0" anchor="ctr"/>
          <a:lstStyle/>
          <a:p>
            <a:pPr indent="0" marL="0">
              <a:buNone/>
            </a:pPr>
            <a:r>
              <a:rPr lang="en-US" sz="1050" dirty="0">
                <a:solidFill>
                  <a:srgbClr val="4A5262"/>
                </a:solidFill>
                <a:latin typeface="맑은 고딕" pitchFamily="34" charset="0"/>
                <a:ea typeface="맑은 고딕" pitchFamily="34" charset="-122"/>
                <a:cs typeface="맑은 고딕" pitchFamily="34" charset="-120"/>
              </a:rPr>
              <a:t>영상물 제작업 등록</a:t>
            </a:r>
            <a:endParaRPr lang="en-US" sz="1050" dirty="0"/>
          </a:p>
        </p:txBody>
      </p:sp>
      <p:sp>
        <p:nvSpPr>
          <p:cNvPr id="17" name="Shape 15"/>
          <p:cNvSpPr/>
          <p:nvPr/>
        </p:nvSpPr>
        <p:spPr>
          <a:xfrm>
            <a:off x="6309360" y="3822192"/>
            <a:ext cx="5349240" cy="1234440"/>
          </a:xfrm>
          <a:prstGeom prst="roundRect">
            <a:avLst>
              <a:gd name="adj" fmla="val 4444"/>
            </a:avLst>
          </a:prstGeom>
          <a:solidFill>
            <a:srgbClr val="FFFFFF"/>
          </a:solidFill>
          <a:ln w="12700">
            <a:solidFill>
              <a:srgbClr val="DFE3EA"/>
            </a:solidFill>
            <a:prstDash val="solid"/>
          </a:ln>
          <a:effectLst>
            <a:outerShdw sx="100000" sy="100000" kx="0" ky="0" algn="bl" rotWithShape="0" blurRad="152400" dist="38100" dir="5400000">
              <a:srgbClr val="101B33">
                <a:alpha val="7000"/>
              </a:srgbClr>
            </a:outerShdw>
          </a:effectLst>
        </p:spPr>
        <p:txBody>
          <a:bodyPr/>
          <a:p/>
        </p:txBody>
      </p:sp>
      <p:sp>
        <p:nvSpPr>
          <p:cNvPr id="18" name="Text 16"/>
          <p:cNvSpPr/>
          <p:nvPr/>
        </p:nvSpPr>
        <p:spPr>
          <a:xfrm>
            <a:off x="6656832" y="4005072"/>
            <a:ext cx="4654296" cy="292608"/>
          </a:xfrm>
          <a:prstGeom prst="rect">
            <a:avLst/>
          </a:prstGeom>
          <a:noFill/>
          <a:ln/>
        </p:spPr>
        <p:txBody>
          <a:bodyPr wrap="square" lIns="0" tIns="0" rIns="0" bIns="0" rtlCol="0" anchor="ctr"/>
          <a:lstStyle/>
          <a:p>
            <a:pPr indent="0" marL="0">
              <a:buNone/>
            </a:pPr>
            <a:r>
              <a:rPr lang="en-US" sz="1400" b="1" dirty="0">
                <a:solidFill>
                  <a:srgbClr val="101B33"/>
                </a:solidFill>
                <a:latin typeface="맑은 고딕" pitchFamily="34" charset="0"/>
                <a:ea typeface="맑은 고딕" pitchFamily="34" charset="-122"/>
                <a:cs typeface="맑은 고딕" pitchFamily="34" charset="-120"/>
              </a:rPr>
              <a:t>방송영상독립제작사 신고증</a:t>
            </a:r>
            <a:endParaRPr lang="en-US" sz="1400" dirty="0"/>
          </a:p>
        </p:txBody>
      </p:sp>
      <p:sp>
        <p:nvSpPr>
          <p:cNvPr id="19" name="Text 17"/>
          <p:cNvSpPr/>
          <p:nvPr/>
        </p:nvSpPr>
        <p:spPr>
          <a:xfrm>
            <a:off x="6656832" y="4315968"/>
            <a:ext cx="4654296" cy="256032"/>
          </a:xfrm>
          <a:prstGeom prst="rect">
            <a:avLst/>
          </a:prstGeom>
          <a:noFill/>
          <a:ln/>
        </p:spPr>
        <p:txBody>
          <a:bodyPr wrap="square" lIns="0" tIns="0" rIns="0" bIns="0" rtlCol="0" anchor="ctr"/>
          <a:lstStyle/>
          <a:p>
            <a:pPr indent="0" marL="0">
              <a:buNone/>
            </a:pPr>
            <a:r>
              <a:rPr lang="en-US" sz="1100" dirty="0">
                <a:solidFill>
                  <a:srgbClr val="0075C9"/>
                </a:solidFill>
                <a:latin typeface="맑은 고딕" pitchFamily="34" charset="0"/>
                <a:ea typeface="맑은 고딕" pitchFamily="34" charset="-122"/>
                <a:cs typeface="맑은 고딕" pitchFamily="34" charset="-120"/>
              </a:rPr>
              <a:t>제12235호</a:t>
            </a:r>
            <a:endParaRPr lang="en-US" sz="1100" dirty="0"/>
          </a:p>
        </p:txBody>
      </p:sp>
      <p:sp>
        <p:nvSpPr>
          <p:cNvPr id="20" name="Text 18"/>
          <p:cNvSpPr/>
          <p:nvPr/>
        </p:nvSpPr>
        <p:spPr>
          <a:xfrm>
            <a:off x="6656832" y="4590288"/>
            <a:ext cx="4654296" cy="274320"/>
          </a:xfrm>
          <a:prstGeom prst="rect">
            <a:avLst/>
          </a:prstGeom>
          <a:noFill/>
          <a:ln/>
        </p:spPr>
        <p:txBody>
          <a:bodyPr wrap="square" lIns="0" tIns="0" rIns="0" bIns="0" rtlCol="0" anchor="ctr"/>
          <a:lstStyle/>
          <a:p>
            <a:pPr indent="0" marL="0">
              <a:buNone/>
            </a:pPr>
            <a:r>
              <a:rPr lang="en-US" sz="1050" dirty="0">
                <a:solidFill>
                  <a:srgbClr val="4A5262"/>
                </a:solidFill>
                <a:latin typeface="맑은 고딕" pitchFamily="34" charset="0"/>
                <a:ea typeface="맑은 고딕" pitchFamily="34" charset="-122"/>
                <a:cs typeface="맑은 고딕" pitchFamily="34" charset="-120"/>
              </a:rPr>
              <a:t>방송영상 독립제작사</a:t>
            </a:r>
            <a:endParaRPr lang="en-US" sz="1050" dirty="0"/>
          </a:p>
        </p:txBody>
      </p:sp>
      <p:sp>
        <p:nvSpPr>
          <p:cNvPr id="21" name="Shape 19"/>
          <p:cNvSpPr/>
          <p:nvPr/>
        </p:nvSpPr>
        <p:spPr>
          <a:xfrm>
            <a:off x="640080" y="5349240"/>
            <a:ext cx="10972800" cy="868680"/>
          </a:xfrm>
          <a:prstGeom prst="roundRect">
            <a:avLst>
              <a:gd name="adj" fmla="val 6316"/>
            </a:avLst>
          </a:prstGeom>
          <a:solidFill>
            <a:srgbClr val="F7F8FA"/>
          </a:solidFill>
          <a:ln w="12700">
            <a:solidFill>
              <a:srgbClr val="DFE3EA"/>
            </a:solidFill>
            <a:prstDash val="solid"/>
          </a:ln>
          <a:effectLst>
            <a:outerShdw sx="100000" sy="100000" kx="0" ky="0" algn="bl" rotWithShape="0" blurRad="152400" dist="38100" dir="5400000">
              <a:srgbClr val="101B33">
                <a:alpha val="7000"/>
              </a:srgbClr>
            </a:outerShdw>
          </a:effectLst>
        </p:spPr>
        <p:txBody>
          <a:bodyPr/>
          <a:p/>
        </p:txBody>
      </p:sp>
      <p:sp>
        <p:nvSpPr>
          <p:cNvPr id="22" name="Text 20"/>
          <p:cNvSpPr/>
          <p:nvPr/>
        </p:nvSpPr>
        <p:spPr>
          <a:xfrm>
            <a:off x="960120" y="5532120"/>
            <a:ext cx="10332720" cy="502920"/>
          </a:xfrm>
          <a:prstGeom prst="rect">
            <a:avLst/>
          </a:prstGeom>
          <a:noFill/>
          <a:ln/>
        </p:spPr>
        <p:txBody>
          <a:bodyPr wrap="square" lIns="0" tIns="0" rIns="0" bIns="0" rtlCol="0" anchor="ctr"/>
          <a:lstStyle/>
          <a:p>
            <a:pPr indent="0" marL="0">
              <a:buNone/>
            </a:pPr>
            <a:r>
              <a:rPr lang="en-US" sz="1150" dirty="0">
                <a:solidFill>
                  <a:srgbClr val="101B33"/>
                </a:solidFill>
                <a:latin typeface="맑은 고딕" pitchFamily="34" charset="0"/>
                <a:ea typeface="맑은 고딕" pitchFamily="34" charset="-122"/>
                <a:cs typeface="맑은 고딕" pitchFamily="34" charset="-120"/>
              </a:rPr>
              <a:t>시공 지역   대구광역시 · 경상북도 · 부산광역시 · 경상남도 · 울산광역시      |      대구·경북 우선, 부산·경남·울산까지 시공. 그 외 지역은 협의.</a:t>
            </a:r>
            <a:endParaRPr lang="en-US" sz="1150" dirty="0"/>
          </a:p>
        </p:txBody>
      </p:sp>
      <p:sp>
        <p:nvSpPr>
          <p:cNvPr id="23" name="Text 21"/>
          <p:cNvSpPr/>
          <p:nvPr/>
        </p:nvSpPr>
        <p:spPr>
          <a:xfrm>
            <a:off x="11155680" y="6291072"/>
            <a:ext cx="548640" cy="274320"/>
          </a:xfrm>
          <a:prstGeom prst="rect">
            <a:avLst/>
          </a:prstGeom>
          <a:noFill/>
          <a:ln/>
        </p:spPr>
        <p:txBody>
          <a:bodyPr wrap="square" lIns="0" tIns="0" rIns="0" bIns="0" rtlCol="0" anchor="ctr"/>
          <a:lstStyle/>
          <a:p>
            <a:pPr algn="r" indent="0" marL="0">
              <a:buNone/>
            </a:pPr>
            <a:r>
              <a:rPr lang="en-US" sz="1000" dirty="0">
                <a:solidFill>
                  <a:srgbClr val="9AA3B0"/>
                </a:solidFill>
                <a:latin typeface="맑은 고딕" pitchFamily="34" charset="0"/>
                <a:ea typeface="맑은 고딕" pitchFamily="34" charset="-122"/>
                <a:cs typeface="맑은 고딕"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01B33"/>
        </a:solidFill>
      </p:bgPr>
    </p:bg>
    <p:spTree>
      <p:nvGrpSpPr>
        <p:cNvPr id="1" name=""/>
        <p:cNvGrpSpPr/>
        <p:nvPr/>
      </p:nvGrpSpPr>
      <p:grpSpPr>
        <a:xfrm>
          <a:off x="0" y="0"/>
          <a:ext cx="0" cy="0"/>
          <a:chOff x="0" y="0"/>
          <a:chExt cx="0" cy="0"/>
        </a:xfrm>
      </p:grpSpPr>
      <p:sp>
        <p:nvSpPr>
          <p:cNvPr id="2" name="Text 0"/>
          <p:cNvSpPr/>
          <p:nvPr/>
        </p:nvSpPr>
        <p:spPr>
          <a:xfrm>
            <a:off x="822960" y="1371600"/>
            <a:ext cx="10515600" cy="822960"/>
          </a:xfrm>
          <a:prstGeom prst="rect">
            <a:avLst/>
          </a:prstGeom>
          <a:noFill/>
          <a:ln/>
        </p:spPr>
        <p:txBody>
          <a:bodyPr wrap="square" lIns="0" tIns="0" rIns="0" bIns="0" rtlCol="0" anchor="ctr"/>
          <a:lstStyle/>
          <a:p>
            <a:pPr indent="0" marL="0">
              <a:buNone/>
            </a:pPr>
            <a:r>
              <a:rPr lang="en-US" sz="3400" b="1" dirty="0">
                <a:solidFill>
                  <a:srgbClr val="FFFFFF"/>
                </a:solidFill>
                <a:latin typeface="맑은 고딕" pitchFamily="34" charset="0"/>
                <a:ea typeface="맑은 고딕" pitchFamily="34" charset="-122"/>
                <a:cs typeface="맑은 고딕" pitchFamily="34" charset="-120"/>
              </a:rPr>
              <a:t>현장 사진 한 장이면 검토가 시작됩니다</a:t>
            </a:r>
            <a:endParaRPr lang="en-US" sz="3400" dirty="0"/>
          </a:p>
        </p:txBody>
      </p:sp>
      <p:sp>
        <p:nvSpPr>
          <p:cNvPr id="3" name="Text 1"/>
          <p:cNvSpPr/>
          <p:nvPr/>
        </p:nvSpPr>
        <p:spPr>
          <a:xfrm>
            <a:off x="822960" y="2286000"/>
            <a:ext cx="10515600" cy="822960"/>
          </a:xfrm>
          <a:prstGeom prst="rect">
            <a:avLst/>
          </a:prstGeom>
          <a:noFill/>
          <a:ln/>
        </p:spPr>
        <p:txBody>
          <a:bodyPr wrap="square" lIns="0" tIns="0" rIns="0" bIns="0" rtlCol="0" anchor="ctr"/>
          <a:lstStyle/>
          <a:p>
            <a:pPr indent="0" marL="0">
              <a:lnSpc>
                <a:spcPts val="2400"/>
              </a:lnSpc>
              <a:buNone/>
            </a:pPr>
            <a:r>
              <a:rPr lang="en-US" sz="1400" dirty="0">
                <a:solidFill>
                  <a:srgbClr val="CFD6E4"/>
                </a:solidFill>
                <a:latin typeface="맑은 고딕" pitchFamily="34" charset="0"/>
                <a:ea typeface="맑은 고딕" pitchFamily="34" charset="-122"/>
                <a:cs typeface="맑은 고딕" pitchFamily="34" charset="-120"/>
              </a:rPr>
              <a:t>설치 장소와 벽면 · 화면 크기, 일정만 알려주시면 실측 후 회계연도 기준 견적서를 보내드립니다.</a:t>
            </a:r>
            <a:endParaRPr lang="en-US" sz="1400" dirty="0"/>
          </a:p>
          <a:p>
            <a:pPr indent="0" marL="0">
              <a:lnSpc>
                <a:spcPts val="2400"/>
              </a:lnSpc>
              <a:buNone/>
            </a:pPr>
            <a:r>
              <a:rPr lang="en-US" sz="1400" dirty="0">
                <a:solidFill>
                  <a:srgbClr val="CFD6E4"/>
                </a:solidFill>
                <a:latin typeface="맑은 고딕" pitchFamily="34" charset="0"/>
                <a:ea typeface="맑은 고딕" pitchFamily="34" charset="-122"/>
                <a:cs typeface="맑은 고딕" pitchFamily="34" charset="-120"/>
              </a:rPr>
              <a:t>여성기업 확인서와 직접생산확인증명서를 함께 발행합니다.</a:t>
            </a:r>
            <a:endParaRPr lang="en-US" sz="1400" dirty="0"/>
          </a:p>
        </p:txBody>
      </p:sp>
      <p:sp>
        <p:nvSpPr>
          <p:cNvPr id="4" name="Text 2"/>
          <p:cNvSpPr/>
          <p:nvPr/>
        </p:nvSpPr>
        <p:spPr>
          <a:xfrm>
            <a:off x="822960" y="3520440"/>
            <a:ext cx="1600200" cy="365760"/>
          </a:xfrm>
          <a:prstGeom prst="rect">
            <a:avLst/>
          </a:prstGeom>
          <a:noFill/>
          <a:ln/>
        </p:spPr>
        <p:txBody>
          <a:bodyPr wrap="square" lIns="0" tIns="0" rIns="0" bIns="0" rtlCol="0" anchor="ctr"/>
          <a:lstStyle/>
          <a:p>
            <a:pPr indent="0" marL="0">
              <a:buNone/>
            </a:pPr>
            <a:r>
              <a:rPr lang="en-US" sz="1150" b="1" dirty="0">
                <a:solidFill>
                  <a:srgbClr val="0075C9"/>
                </a:solidFill>
                <a:latin typeface="맑은 고딕" pitchFamily="34" charset="0"/>
                <a:ea typeface="맑은 고딕" pitchFamily="34" charset="-122"/>
                <a:cs typeface="맑은 고딕" pitchFamily="34" charset="-120"/>
              </a:rPr>
              <a:t>대표</a:t>
            </a:r>
            <a:endParaRPr lang="en-US" sz="1150" dirty="0"/>
          </a:p>
        </p:txBody>
      </p:sp>
      <p:sp>
        <p:nvSpPr>
          <p:cNvPr id="5" name="Text 3"/>
          <p:cNvSpPr/>
          <p:nvPr/>
        </p:nvSpPr>
        <p:spPr>
          <a:xfrm>
            <a:off x="2468880" y="3520440"/>
            <a:ext cx="3703320" cy="365760"/>
          </a:xfrm>
          <a:prstGeom prst="rect">
            <a:avLst/>
          </a:prstGeom>
          <a:noFill/>
          <a:ln/>
        </p:spPr>
        <p:txBody>
          <a:bodyPr wrap="square" lIns="0" tIns="0" rIns="0" bIns="0" rtlCol="0" anchor="ctr"/>
          <a:lstStyle/>
          <a:p>
            <a:pPr indent="0" marL="0">
              <a:buNone/>
            </a:pPr>
            <a:r>
              <a:rPr lang="en-US" sz="1300" dirty="0">
                <a:solidFill>
                  <a:srgbClr val="FFFFFF"/>
                </a:solidFill>
                <a:latin typeface="맑은 고딕" pitchFamily="34" charset="0"/>
                <a:ea typeface="맑은 고딕" pitchFamily="34" charset="-122"/>
                <a:cs typeface="맑은 고딕" pitchFamily="34" charset="-120"/>
              </a:rPr>
              <a:t>박성실</a:t>
            </a:r>
            <a:endParaRPr lang="en-US" sz="1300" dirty="0"/>
          </a:p>
        </p:txBody>
      </p:sp>
      <p:sp>
        <p:nvSpPr>
          <p:cNvPr id="6" name="Shape 4"/>
          <p:cNvSpPr/>
          <p:nvPr/>
        </p:nvSpPr>
        <p:spPr>
          <a:xfrm>
            <a:off x="822960" y="3959352"/>
            <a:ext cx="5349240" cy="0"/>
          </a:xfrm>
          <a:prstGeom prst="line">
            <a:avLst/>
          </a:prstGeom>
          <a:noFill/>
          <a:ln w="12700">
            <a:solidFill>
              <a:srgbClr val="2C3A57"/>
            </a:solidFill>
            <a:prstDash val="solid"/>
          </a:ln>
        </p:spPr>
        <p:txBody>
          <a:bodyPr/>
          <a:p/>
        </p:txBody>
      </p:sp>
      <p:sp>
        <p:nvSpPr>
          <p:cNvPr id="7" name="Text 5"/>
          <p:cNvSpPr/>
          <p:nvPr/>
        </p:nvSpPr>
        <p:spPr>
          <a:xfrm>
            <a:off x="6492240" y="3520440"/>
            <a:ext cx="1600200" cy="365760"/>
          </a:xfrm>
          <a:prstGeom prst="rect">
            <a:avLst/>
          </a:prstGeom>
          <a:noFill/>
          <a:ln/>
        </p:spPr>
        <p:txBody>
          <a:bodyPr wrap="square" lIns="0" tIns="0" rIns="0" bIns="0" rtlCol="0" anchor="ctr"/>
          <a:lstStyle/>
          <a:p>
            <a:pPr indent="0" marL="0">
              <a:buNone/>
            </a:pPr>
            <a:r>
              <a:rPr lang="en-US" sz="1150" b="1" dirty="0">
                <a:solidFill>
                  <a:srgbClr val="0075C9"/>
                </a:solidFill>
                <a:latin typeface="맑은 고딕" pitchFamily="34" charset="0"/>
                <a:ea typeface="맑은 고딕" pitchFamily="34" charset="-122"/>
                <a:cs typeface="맑은 고딕" pitchFamily="34" charset="-120"/>
              </a:rPr>
              <a:t>연락처</a:t>
            </a:r>
            <a:endParaRPr lang="en-US" sz="1150" dirty="0"/>
          </a:p>
        </p:txBody>
      </p:sp>
      <p:sp>
        <p:nvSpPr>
          <p:cNvPr id="8" name="Text 6"/>
          <p:cNvSpPr/>
          <p:nvPr/>
        </p:nvSpPr>
        <p:spPr>
          <a:xfrm>
            <a:off x="8138160" y="3520440"/>
            <a:ext cx="3703320" cy="365760"/>
          </a:xfrm>
          <a:prstGeom prst="rect">
            <a:avLst/>
          </a:prstGeom>
          <a:noFill/>
          <a:ln/>
        </p:spPr>
        <p:txBody>
          <a:bodyPr wrap="square" lIns="0" tIns="0" rIns="0" bIns="0" rtlCol="0" anchor="ctr"/>
          <a:lstStyle/>
          <a:p>
            <a:pPr indent="0" marL="0">
              <a:buNone/>
            </a:pPr>
            <a:r>
              <a:rPr lang="en-US" sz="1300" dirty="0">
                <a:solidFill>
                  <a:srgbClr val="FFFFFF"/>
                </a:solidFill>
                <a:latin typeface="맑은 고딕" pitchFamily="34" charset="0"/>
                <a:ea typeface="맑은 고딕" pitchFamily="34" charset="-122"/>
                <a:cs typeface="맑은 고딕" pitchFamily="34" charset="-120"/>
              </a:rPr>
              <a:t>010-4292-1999</a:t>
            </a:r>
            <a:endParaRPr lang="en-US" sz="1300" dirty="0"/>
          </a:p>
        </p:txBody>
      </p:sp>
      <p:sp>
        <p:nvSpPr>
          <p:cNvPr id="9" name="Shape 7"/>
          <p:cNvSpPr/>
          <p:nvPr/>
        </p:nvSpPr>
        <p:spPr>
          <a:xfrm>
            <a:off x="6492240" y="3959352"/>
            <a:ext cx="5349240" cy="0"/>
          </a:xfrm>
          <a:prstGeom prst="line">
            <a:avLst/>
          </a:prstGeom>
          <a:noFill/>
          <a:ln w="12700">
            <a:solidFill>
              <a:srgbClr val="2C3A57"/>
            </a:solidFill>
            <a:prstDash val="solid"/>
          </a:ln>
        </p:spPr>
        <p:txBody>
          <a:bodyPr/>
          <a:p/>
        </p:txBody>
      </p:sp>
      <p:sp>
        <p:nvSpPr>
          <p:cNvPr id="10" name="Text 8"/>
          <p:cNvSpPr/>
          <p:nvPr/>
        </p:nvSpPr>
        <p:spPr>
          <a:xfrm>
            <a:off x="822960" y="4178808"/>
            <a:ext cx="1600200" cy="365760"/>
          </a:xfrm>
          <a:prstGeom prst="rect">
            <a:avLst/>
          </a:prstGeom>
          <a:noFill/>
          <a:ln/>
        </p:spPr>
        <p:txBody>
          <a:bodyPr wrap="square" lIns="0" tIns="0" rIns="0" bIns="0" rtlCol="0" anchor="ctr"/>
          <a:lstStyle/>
          <a:p>
            <a:pPr indent="0" marL="0">
              <a:buNone/>
            </a:pPr>
            <a:r>
              <a:rPr lang="en-US" sz="1150" b="1" dirty="0">
                <a:solidFill>
                  <a:srgbClr val="0075C9"/>
                </a:solidFill>
                <a:latin typeface="맑은 고딕" pitchFamily="34" charset="0"/>
                <a:ea typeface="맑은 고딕" pitchFamily="34" charset="-122"/>
                <a:cs typeface="맑은 고딕" pitchFamily="34" charset="-120"/>
              </a:rPr>
              <a:t>이메일</a:t>
            </a:r>
            <a:endParaRPr lang="en-US" sz="1150" dirty="0"/>
          </a:p>
        </p:txBody>
      </p:sp>
      <p:sp>
        <p:nvSpPr>
          <p:cNvPr id="11" name="Text 9"/>
          <p:cNvSpPr/>
          <p:nvPr/>
        </p:nvSpPr>
        <p:spPr>
          <a:xfrm>
            <a:off x="2468880" y="4178808"/>
            <a:ext cx="3703320" cy="365760"/>
          </a:xfrm>
          <a:prstGeom prst="rect">
            <a:avLst/>
          </a:prstGeom>
          <a:noFill/>
          <a:ln/>
        </p:spPr>
        <p:txBody>
          <a:bodyPr wrap="square" lIns="0" tIns="0" rIns="0" bIns="0" rtlCol="0" anchor="ctr"/>
          <a:lstStyle/>
          <a:p>
            <a:pPr indent="0" marL="0">
              <a:buNone/>
            </a:pPr>
            <a:r>
              <a:rPr lang="en-US" sz="1300" dirty="0">
                <a:solidFill>
                  <a:srgbClr val="FFFFFF"/>
                </a:solidFill>
                <a:latin typeface="맑은 고딕" pitchFamily="34" charset="0"/>
                <a:ea typeface="맑은 고딕" pitchFamily="34" charset="-122"/>
                <a:cs typeface="맑은 고딕" pitchFamily="34" charset="-120"/>
              </a:rPr>
              <a:t>studio@publicbloom.art</a:t>
            </a:r>
            <a:endParaRPr lang="en-US" sz="1300" dirty="0"/>
          </a:p>
        </p:txBody>
      </p:sp>
      <p:sp>
        <p:nvSpPr>
          <p:cNvPr id="12" name="Shape 10"/>
          <p:cNvSpPr/>
          <p:nvPr/>
        </p:nvSpPr>
        <p:spPr>
          <a:xfrm>
            <a:off x="822960" y="4617720"/>
            <a:ext cx="5349240" cy="0"/>
          </a:xfrm>
          <a:prstGeom prst="line">
            <a:avLst/>
          </a:prstGeom>
          <a:noFill/>
          <a:ln w="12700">
            <a:solidFill>
              <a:srgbClr val="2C3A57"/>
            </a:solidFill>
            <a:prstDash val="solid"/>
          </a:ln>
        </p:spPr>
        <p:txBody>
          <a:bodyPr/>
          <a:p/>
        </p:txBody>
      </p:sp>
      <p:sp>
        <p:nvSpPr>
          <p:cNvPr id="13" name="Text 11"/>
          <p:cNvSpPr/>
          <p:nvPr/>
        </p:nvSpPr>
        <p:spPr>
          <a:xfrm>
            <a:off x="6492240" y="4178808"/>
            <a:ext cx="1600200" cy="365760"/>
          </a:xfrm>
          <a:prstGeom prst="rect">
            <a:avLst/>
          </a:prstGeom>
          <a:noFill/>
          <a:ln/>
        </p:spPr>
        <p:txBody>
          <a:bodyPr wrap="square" lIns="0" tIns="0" rIns="0" bIns="0" rtlCol="0" anchor="ctr"/>
          <a:lstStyle/>
          <a:p>
            <a:pPr indent="0" marL="0">
              <a:buNone/>
            </a:pPr>
            <a:r>
              <a:rPr lang="en-US" sz="1150" b="1" dirty="0">
                <a:solidFill>
                  <a:srgbClr val="0075C9"/>
                </a:solidFill>
                <a:latin typeface="맑은 고딕" pitchFamily="34" charset="0"/>
                <a:ea typeface="맑은 고딕" pitchFamily="34" charset="-122"/>
                <a:cs typeface="맑은 고딕" pitchFamily="34" charset="-120"/>
              </a:rPr>
              <a:t>홈페이지</a:t>
            </a:r>
            <a:endParaRPr lang="en-US" sz="1150" dirty="0"/>
          </a:p>
        </p:txBody>
      </p:sp>
      <p:sp>
        <p:nvSpPr>
          <p:cNvPr id="14" name="Text 12"/>
          <p:cNvSpPr/>
          <p:nvPr/>
        </p:nvSpPr>
        <p:spPr>
          <a:xfrm>
            <a:off x="8138160" y="4178808"/>
            <a:ext cx="3703320" cy="365760"/>
          </a:xfrm>
          <a:prstGeom prst="rect">
            <a:avLst/>
          </a:prstGeom>
          <a:noFill/>
          <a:ln/>
        </p:spPr>
        <p:txBody>
          <a:bodyPr wrap="square" lIns="0" tIns="0" rIns="0" bIns="0" rtlCol="0" anchor="ctr"/>
          <a:lstStyle/>
          <a:p>
            <a:pPr indent="0" marL="0">
              <a:buNone/>
            </a:pPr>
            <a:r>
              <a:rPr lang="en-US" sz="1300" dirty="0">
                <a:solidFill>
                  <a:srgbClr val="FFFFFF"/>
                </a:solidFill>
                <a:latin typeface="맑은 고딕" pitchFamily="34" charset="0"/>
                <a:ea typeface="맑은 고딕" pitchFamily="34" charset="-122"/>
                <a:cs typeface="맑은 고딕" pitchFamily="34" charset="-120"/>
              </a:rPr>
              <a:t>publicbloom.art</a:t>
            </a:r>
            <a:endParaRPr lang="en-US" sz="1300" dirty="0"/>
          </a:p>
        </p:txBody>
      </p:sp>
      <p:sp>
        <p:nvSpPr>
          <p:cNvPr id="15" name="Shape 13"/>
          <p:cNvSpPr/>
          <p:nvPr/>
        </p:nvSpPr>
        <p:spPr>
          <a:xfrm>
            <a:off x="6492240" y="4617720"/>
            <a:ext cx="5349240" cy="0"/>
          </a:xfrm>
          <a:prstGeom prst="line">
            <a:avLst/>
          </a:prstGeom>
          <a:noFill/>
          <a:ln w="12700">
            <a:solidFill>
              <a:srgbClr val="2C3A57"/>
            </a:solidFill>
            <a:prstDash val="solid"/>
          </a:ln>
        </p:spPr>
        <p:txBody>
          <a:bodyPr/>
          <a:p/>
        </p:txBody>
      </p:sp>
      <p:sp>
        <p:nvSpPr>
          <p:cNvPr id="16" name="Text 14"/>
          <p:cNvSpPr/>
          <p:nvPr/>
        </p:nvSpPr>
        <p:spPr>
          <a:xfrm>
            <a:off x="822960" y="4837176"/>
            <a:ext cx="1600200" cy="365760"/>
          </a:xfrm>
          <a:prstGeom prst="rect">
            <a:avLst/>
          </a:prstGeom>
          <a:noFill/>
          <a:ln/>
        </p:spPr>
        <p:txBody>
          <a:bodyPr wrap="square" lIns="0" tIns="0" rIns="0" bIns="0" rtlCol="0" anchor="ctr"/>
          <a:lstStyle/>
          <a:p>
            <a:pPr indent="0" marL="0">
              <a:buNone/>
            </a:pPr>
            <a:r>
              <a:rPr lang="en-US" sz="1150" b="1" dirty="0">
                <a:solidFill>
                  <a:srgbClr val="0075C9"/>
                </a:solidFill>
                <a:latin typeface="맑은 고딕" pitchFamily="34" charset="0"/>
                <a:ea typeface="맑은 고딕" pitchFamily="34" charset="-122"/>
                <a:cs typeface="맑은 고딕" pitchFamily="34" charset="-120"/>
              </a:rPr>
              <a:t>주소</a:t>
            </a:r>
            <a:endParaRPr lang="en-US" sz="1150" dirty="0"/>
          </a:p>
        </p:txBody>
      </p:sp>
      <p:sp>
        <p:nvSpPr>
          <p:cNvPr id="17" name="Text 15"/>
          <p:cNvSpPr/>
          <p:nvPr/>
        </p:nvSpPr>
        <p:spPr>
          <a:xfrm>
            <a:off x="2468880" y="4837176"/>
            <a:ext cx="3703320" cy="365760"/>
          </a:xfrm>
          <a:prstGeom prst="rect">
            <a:avLst/>
          </a:prstGeom>
          <a:noFill/>
          <a:ln/>
        </p:spPr>
        <p:txBody>
          <a:bodyPr wrap="square" lIns="0" tIns="0" rIns="0" bIns="0" rtlCol="0" anchor="ctr"/>
          <a:lstStyle/>
          <a:p>
            <a:pPr indent="0" marL="0">
              <a:buNone/>
            </a:pPr>
            <a:r>
              <a:rPr lang="en-US" sz="1300" dirty="0">
                <a:solidFill>
                  <a:srgbClr val="FFFFFF"/>
                </a:solidFill>
                <a:latin typeface="맑은 고딕" pitchFamily="34" charset="0"/>
                <a:ea typeface="맑은 고딕" pitchFamily="34" charset="-122"/>
                <a:cs typeface="맑은 고딕" pitchFamily="34" charset="-120"/>
              </a:rPr>
              <a:t>대구광역시 수성구 동대구로 250, 102동 1층</a:t>
            </a:r>
            <a:endParaRPr lang="en-US" sz="1300" dirty="0"/>
          </a:p>
        </p:txBody>
      </p:sp>
      <p:sp>
        <p:nvSpPr>
          <p:cNvPr id="18" name="Shape 16"/>
          <p:cNvSpPr/>
          <p:nvPr/>
        </p:nvSpPr>
        <p:spPr>
          <a:xfrm>
            <a:off x="822960" y="5276088"/>
            <a:ext cx="5349240" cy="0"/>
          </a:xfrm>
          <a:prstGeom prst="line">
            <a:avLst/>
          </a:prstGeom>
          <a:noFill/>
          <a:ln w="12700">
            <a:solidFill>
              <a:srgbClr val="2C3A57"/>
            </a:solidFill>
            <a:prstDash val="solid"/>
          </a:ln>
        </p:spPr>
        <p:txBody>
          <a:bodyPr/>
          <a:p/>
        </p:txBody>
      </p:sp>
      <p:sp>
        <p:nvSpPr>
          <p:cNvPr id="19" name="Text 17"/>
          <p:cNvSpPr/>
          <p:nvPr/>
        </p:nvSpPr>
        <p:spPr>
          <a:xfrm>
            <a:off x="6492240" y="4837176"/>
            <a:ext cx="1600200" cy="365760"/>
          </a:xfrm>
          <a:prstGeom prst="rect">
            <a:avLst/>
          </a:prstGeom>
          <a:noFill/>
          <a:ln/>
        </p:spPr>
        <p:txBody>
          <a:bodyPr wrap="square" lIns="0" tIns="0" rIns="0" bIns="0" rtlCol="0" anchor="ctr"/>
          <a:lstStyle/>
          <a:p>
            <a:pPr indent="0" marL="0">
              <a:buNone/>
            </a:pPr>
            <a:r>
              <a:rPr lang="en-US" sz="1150" b="1" dirty="0">
                <a:solidFill>
                  <a:srgbClr val="0075C9"/>
                </a:solidFill>
                <a:latin typeface="맑은 고딕" pitchFamily="34" charset="0"/>
                <a:ea typeface="맑은 고딕" pitchFamily="34" charset="-122"/>
                <a:cs typeface="맑은 고딕" pitchFamily="34" charset="-120"/>
              </a:rPr>
              <a:t>사업자등록번호</a:t>
            </a:r>
            <a:endParaRPr lang="en-US" sz="1150" dirty="0"/>
          </a:p>
        </p:txBody>
      </p:sp>
      <p:sp>
        <p:nvSpPr>
          <p:cNvPr id="20" name="Text 18"/>
          <p:cNvSpPr/>
          <p:nvPr/>
        </p:nvSpPr>
        <p:spPr>
          <a:xfrm>
            <a:off x="8138160" y="4837176"/>
            <a:ext cx="3703320" cy="365760"/>
          </a:xfrm>
          <a:prstGeom prst="rect">
            <a:avLst/>
          </a:prstGeom>
          <a:noFill/>
          <a:ln/>
        </p:spPr>
        <p:txBody>
          <a:bodyPr wrap="square" lIns="0" tIns="0" rIns="0" bIns="0" rtlCol="0" anchor="ctr"/>
          <a:lstStyle/>
          <a:p>
            <a:pPr indent="0" marL="0">
              <a:buNone/>
            </a:pPr>
            <a:r>
              <a:rPr lang="en-US" sz="1300" dirty="0">
                <a:solidFill>
                  <a:srgbClr val="FFFFFF"/>
                </a:solidFill>
                <a:latin typeface="맑은 고딕" pitchFamily="34" charset="0"/>
                <a:ea typeface="맑은 고딕" pitchFamily="34" charset="-122"/>
                <a:cs typeface="맑은 고딕" pitchFamily="34" charset="-120"/>
              </a:rPr>
              <a:t>575-19-00976</a:t>
            </a:r>
            <a:endParaRPr lang="en-US" sz="1300" dirty="0"/>
          </a:p>
        </p:txBody>
      </p:sp>
      <p:sp>
        <p:nvSpPr>
          <p:cNvPr id="21" name="Shape 19"/>
          <p:cNvSpPr/>
          <p:nvPr/>
        </p:nvSpPr>
        <p:spPr>
          <a:xfrm>
            <a:off x="6492240" y="5276088"/>
            <a:ext cx="5349240" cy="0"/>
          </a:xfrm>
          <a:prstGeom prst="line">
            <a:avLst/>
          </a:prstGeom>
          <a:noFill/>
          <a:ln w="12700">
            <a:solidFill>
              <a:srgbClr val="2C3A57"/>
            </a:solidFill>
            <a:prstDash val="solid"/>
          </a:ln>
        </p:spPr>
        <p:txBody>
          <a:bodyPr/>
          <a:p/>
        </p:txBody>
      </p:sp>
      <p:sp>
        <p:nvSpPr>
          <p:cNvPr id="22" name="Text 20"/>
          <p:cNvSpPr/>
          <p:nvPr/>
        </p:nvSpPr>
        <p:spPr>
          <a:xfrm>
            <a:off x="822960" y="6172200"/>
            <a:ext cx="10515600" cy="320040"/>
          </a:xfrm>
          <a:prstGeom prst="rect">
            <a:avLst/>
          </a:prstGeom>
          <a:noFill/>
          <a:ln/>
        </p:spPr>
        <p:txBody>
          <a:bodyPr wrap="square" lIns="0" tIns="0" rIns="0" bIns="0" rtlCol="0" anchor="ctr"/>
          <a:lstStyle/>
          <a:p>
            <a:pPr indent="0" marL="0">
              <a:buNone/>
            </a:pPr>
            <a:r>
              <a:rPr lang="en-US" sz="1150" dirty="0">
                <a:solidFill>
                  <a:srgbClr val="8FA0BE"/>
                </a:solidFill>
                <a:latin typeface="맑은 고딕" pitchFamily="34" charset="0"/>
                <a:ea typeface="맑은 고딕" pitchFamily="34" charset="-122"/>
                <a:cs typeface="맑은 고딕" pitchFamily="34" charset="-120"/>
              </a:rPr>
              <a:t>오늘은 봄날   ·   AI 미디어아트 기업   ·   대구 여성기업</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오늘은 봄날</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오늘은 봄날 회사소개서</dc:title>
  <dc:subject>PptxGenJS Presentation</dc:subject>
  <dc:creator>오늘은 봄날</dc:creator>
  <cp:lastModifiedBy>오늘은 봄날</cp:lastModifiedBy>
  <cp:revision>1</cp:revision>
  <dcterms:created xsi:type="dcterms:W3CDTF">2026-08-23T17:47:28Z</dcterms:created>
  <dcterms:modified xsi:type="dcterms:W3CDTF">2026-08-23T17:47:28Z</dcterms:modified>
</cp:coreProperties>
</file>