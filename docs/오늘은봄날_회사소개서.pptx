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시안 제시까지 걸리는 기간(일)</c:v>
                </c:pt>
              </c:strCache>
            </c:strRef>
          </c:tx>
          <c:spPr>
            <a:solidFill>
              <a:srgbClr val="C6CCD8"/>
            </a:solidFill>
            <a:effectLst/>
          </c:spPr>
          <c:invertIfNegative val="0"/>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C6CCD8"/>
              </a:solidFill>
              <a:effectLst/>
            </c:spPr>
          </c:dPt>
          <c:dPt>
            <c:idx val="1"/>
            <c:invertIfNegative val="0"/>
            <c:bubble3D val="0"/>
            <c:spPr>
              <a:solidFill>
                <a:srgbClr val="0075C9"/>
              </a:solidFill>
              <a:effectLst/>
            </c:spPr>
          </c:dPt>
          <c:cat>
            <c:multiLvlStrRef>
              <c:f>Sheet1!$A$2:$A$3</c:f>
              <c:multiLvlStrCache>
                <c:ptCount val="2"/>
                <c:lvl>
                  <c:pt idx="0">
                    <c:v>일반 영상 외주 제작</c:v>
                  </c:pt>
                  <c:pt idx="1">
                    <c:v>오늘은 봄날</c:v>
                  </c:pt>
                </c:lvl>
              </c:multiLvlStrCache>
            </c:multiLvlStrRef>
          </c:cat>
          <c:val>
            <c:numRef>
              <c:f>Sheet1!$B$2:$B$3</c:f>
              <c:numCache>
                <c:formatCode>General</c:formatCode>
                <c:ptCount val="2"/>
                <c:pt idx="0">
                  <c:v>30</c:v>
                </c:pt>
                <c:pt idx="1">
                  <c:v>7</c:v>
                </c:pt>
              </c:numCache>
            </c:numRef>
          </c:val>
        </c:ser>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01B33"/>
                </a:solidFill>
                <a:latin typeface="맑은 고딕"/>
              </a:defRPr>
            </a:pPr>
            <a:endParaRPr lang="en-US"/>
          </a:p>
        </c:txPr>
        <c:crossAx val="2094734552"/>
        <c:crosses val="autoZero"/>
        <c:auto val="1"/>
        <c:lblAlgn val="ctr"/>
        <c:noMultiLvlLbl val="1"/>
      </c:catAx>
      <c:valAx>
        <c:axId val="2094734552"/>
        <c:scaling>
          <c:orientation val="minMax"/>
          <c:max val="35"/>
        </c:scaling>
        <c:delete val="0"/>
        <c:axPos val="b"/>
        <c:majorGridlines>
          <c:spPr>
            <a:ln w="12700" cap="flat">
              <a:solidFill>
                <a:srgbClr val="EDEF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93A3"/>
                </a:solidFill>
                <a:latin typeface="Arial"/>
              </a:defRPr>
            </a:pPr>
            <a:endParaRPr lang="en-US"/>
          </a:p>
        </c:txPr>
        <c:crossAx val="2094734554"/>
        <c:crosses val="autoZero"/>
        <c:crossBetween val="between"/>
        <c:majorUnit val="7"/>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회사명과 한 줄 정의, 사업영역 3종, 여성기업 자격, 연락처.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사업영역 네 가지를 한 화면에. 상세는 뒤에서 각각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pic>
        <p:nvPicPr>
          <p:cNvPr id="2" name="Image 0" descr="/home/user/oneul-bomnal/assets/deck/eyewall.jpg">    </p:cNvPr>
          <p:cNvPicPr>
            <a:picLocks noChangeAspect="1"/>
          </p:cNvPicPr>
          <p:nvPr/>
        </p:nvPicPr>
        <p:blipFill>
          <a:blip r:embed="rId1">
            <a:alphaModFix amt="82000"/>
          </a:blip>
          <a:srcRect l="0" r="0" t="0" b="0"/>
          <a:stretch/>
        </p:blipFill>
        <p:spPr>
          <a:xfrm>
            <a:off x="0" y="4160520"/>
            <a:ext cx="12161520" cy="2697480"/>
          </a:xfrm>
          <a:prstGeom prst="rect">
            <a:avLst/>
          </a:prstGeom>
        </p:spPr>
      </p:pic>
      <p:sp>
        <p:nvSpPr>
          <p:cNvPr id="3" name="Shape 0"/>
          <p:cNvSpPr/>
          <p:nvPr/>
        </p:nvSpPr>
        <p:spPr>
          <a:xfrm>
            <a:off x="0" y="4160520"/>
            <a:ext cx="12161520" cy="822960"/>
          </a:xfrm>
          <a:prstGeom prst="rect">
            <a:avLst/>
          </a:prstGeom>
          <a:solidFill>
            <a:srgbClr val="101B33">
              <a:alpha val="70000"/>
            </a:srgbClr>
          </a:solidFill>
          <a:ln w="12700">
            <a:solidFill>
              <a:srgbClr val="101B33">
                <a:alpha val="0"/>
              </a:srgbClr>
            </a:solidFill>
            <a:prstDash val="solid"/>
          </a:ln>
        </p:spPr>
      </p:sp>
      <p:sp>
        <p:nvSpPr>
          <p:cNvPr id="4" name="Text 1"/>
          <p:cNvSpPr/>
          <p:nvPr/>
        </p:nvSpPr>
        <p:spPr>
          <a:xfrm>
            <a:off x="822960" y="1051560"/>
            <a:ext cx="8229600" cy="274320"/>
          </a:xfrm>
          <a:prstGeom prst="rect">
            <a:avLst/>
          </a:prstGeom>
          <a:noFill/>
          <a:ln/>
        </p:spPr>
        <p:txBody>
          <a:bodyPr wrap="square" lIns="0" tIns="0" rIns="0" bIns="0" rtlCol="0" anchor="ctr"/>
          <a:lstStyle/>
          <a:p>
            <a:pPr indent="0" marL="0">
              <a:buNone/>
            </a:pPr>
            <a:r>
              <a:rPr lang="en-US" sz="1200" b="1" spc="300" kern="0" dirty="0">
                <a:solidFill>
                  <a:srgbClr val="0075C9"/>
                </a:solidFill>
                <a:latin typeface="맑은 고딕" pitchFamily="34" charset="0"/>
                <a:ea typeface="맑은 고딕" pitchFamily="34" charset="-122"/>
                <a:cs typeface="맑은 고딕" pitchFamily="34" charset="-120"/>
              </a:rPr>
              <a:t>AI MEDIA ART STUDIO · DAEGU</a:t>
            </a:r>
            <a:endParaRPr lang="en-US" sz="1200" dirty="0"/>
          </a:p>
        </p:txBody>
      </p:sp>
      <p:sp>
        <p:nvSpPr>
          <p:cNvPr id="5" name="Text 2"/>
          <p:cNvSpPr/>
          <p:nvPr/>
        </p:nvSpPr>
        <p:spPr>
          <a:xfrm>
            <a:off x="822960" y="1417320"/>
            <a:ext cx="8229600" cy="1143000"/>
          </a:xfrm>
          <a:prstGeom prst="rect">
            <a:avLst/>
          </a:prstGeom>
          <a:noFill/>
          <a:ln/>
        </p:spPr>
        <p:txBody>
          <a:bodyPr wrap="square" lIns="0" tIns="0" rIns="0" bIns="0" rtlCol="0" anchor="ctr"/>
          <a:lstStyle/>
          <a:p>
            <a:pPr indent="0" marL="0">
              <a:buNone/>
            </a:pPr>
            <a:r>
              <a:rPr lang="en-US" sz="6000" b="1" dirty="0">
                <a:solidFill>
                  <a:srgbClr val="FFFFFF"/>
                </a:solidFill>
                <a:latin typeface="맑은 고딕" pitchFamily="34" charset="0"/>
                <a:ea typeface="맑은 고딕" pitchFamily="34" charset="-122"/>
                <a:cs typeface="맑은 고딕" pitchFamily="34" charset="-120"/>
              </a:rPr>
              <a:t>오늘은 봄날</a:t>
            </a:r>
            <a:endParaRPr lang="en-US" sz="6000" dirty="0"/>
          </a:p>
        </p:txBody>
      </p:sp>
      <p:sp>
        <p:nvSpPr>
          <p:cNvPr id="6" name="Text 3"/>
          <p:cNvSpPr/>
          <p:nvPr/>
        </p:nvSpPr>
        <p:spPr>
          <a:xfrm>
            <a:off x="822960" y="2606040"/>
            <a:ext cx="9144000" cy="457200"/>
          </a:xfrm>
          <a:prstGeom prst="rect">
            <a:avLst/>
          </a:prstGeom>
          <a:noFill/>
          <a:ln/>
        </p:spPr>
        <p:txBody>
          <a:bodyPr wrap="square" lIns="0" tIns="0" rIns="0" bIns="0" rtlCol="0" anchor="ctr"/>
          <a:lstStyle/>
          <a:p>
            <a:pPr indent="0" marL="0">
              <a:buNone/>
            </a:pPr>
            <a:r>
              <a:rPr lang="en-US" sz="2200" dirty="0">
                <a:solidFill>
                  <a:srgbClr val="CFD6E4"/>
                </a:solidFill>
                <a:latin typeface="맑은 고딕" pitchFamily="34" charset="0"/>
                <a:ea typeface="맑은 고딕" pitchFamily="34" charset="-122"/>
                <a:cs typeface="맑은 고딕" pitchFamily="34" charset="-120"/>
              </a:rPr>
              <a:t>미디어아트를 코드로 만드는 AI 기업입니다</a:t>
            </a:r>
            <a:endParaRPr lang="en-US" sz="2200" dirty="0"/>
          </a:p>
        </p:txBody>
      </p:sp>
      <p:sp>
        <p:nvSpPr>
          <p:cNvPr id="7" name="Text 4"/>
          <p:cNvSpPr/>
          <p:nvPr/>
        </p:nvSpPr>
        <p:spPr>
          <a:xfrm>
            <a:off x="822960" y="3154680"/>
            <a:ext cx="10058400" cy="365760"/>
          </a:xfrm>
          <a:prstGeom prst="rect">
            <a:avLst/>
          </a:prstGeom>
          <a:noFill/>
          <a:ln/>
        </p:spPr>
        <p:txBody>
          <a:bodyPr wrap="square" lIns="0" tIns="0" rIns="0" bIns="0" rtlCol="0" anchor="ctr"/>
          <a:lstStyle/>
          <a:p>
            <a:pPr indent="0" marL="0">
              <a:buNone/>
            </a:pPr>
            <a:r>
              <a:rPr lang="en-US" sz="1400" dirty="0">
                <a:solidFill>
                  <a:srgbClr val="9FB0CC"/>
                </a:solidFill>
                <a:latin typeface="맑은 고딕" pitchFamily="34" charset="0"/>
                <a:ea typeface="맑은 고딕" pitchFamily="34" charset="-122"/>
                <a:cs typeface="맑은 고딕" pitchFamily="34" charset="-120"/>
              </a:rPr>
              <a:t>미디어파사드 콘텐츠 제작  ·  LED 패널 · 전광판 설치  ·  빔프로젝터 미디어파사드</a:t>
            </a:r>
            <a:endParaRPr lang="en-US" sz="1400" dirty="0"/>
          </a:p>
        </p:txBody>
      </p:sp>
      <p:sp>
        <p:nvSpPr>
          <p:cNvPr id="8" name="Shape 5"/>
          <p:cNvSpPr/>
          <p:nvPr/>
        </p:nvSpPr>
        <p:spPr>
          <a:xfrm>
            <a:off x="822960" y="3703320"/>
            <a:ext cx="2286000" cy="384048"/>
          </a:xfrm>
          <a:prstGeom prst="roundRect">
            <a:avLst>
              <a:gd name="adj" fmla="val 47619"/>
            </a:avLst>
          </a:prstGeom>
          <a:solidFill>
            <a:srgbClr val="0075C9"/>
          </a:solidFill>
          <a:ln w="12700">
            <a:solidFill>
              <a:srgbClr val="0075C9"/>
            </a:solidFill>
            <a:prstDash val="solid"/>
          </a:ln>
        </p:spPr>
      </p:sp>
      <p:sp>
        <p:nvSpPr>
          <p:cNvPr id="9" name="Text 6"/>
          <p:cNvSpPr/>
          <p:nvPr/>
        </p:nvSpPr>
        <p:spPr>
          <a:xfrm>
            <a:off x="822960" y="3703320"/>
            <a:ext cx="22860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여성기업 · 대구</a:t>
            </a:r>
            <a:endParaRPr lang="en-US" sz="1200" dirty="0"/>
          </a:p>
        </p:txBody>
      </p:sp>
      <p:sp>
        <p:nvSpPr>
          <p:cNvPr id="10" name="Text 7"/>
          <p:cNvSpPr/>
          <p:nvPr/>
        </p:nvSpPr>
        <p:spPr>
          <a:xfrm>
            <a:off x="822960" y="6172200"/>
            <a:ext cx="10515600" cy="320040"/>
          </a:xfrm>
          <a:prstGeom prst="rect">
            <a:avLst/>
          </a:prstGeom>
          <a:noFill/>
          <a:ln/>
        </p:spPr>
        <p:txBody>
          <a:bodyPr wrap="square" lIns="0" tIns="0" rIns="0" bIns="0" rtlCol="0" anchor="ctr"/>
          <a:lstStyle/>
          <a:p>
            <a:pPr indent="0" marL="0">
              <a:buNone/>
            </a:pPr>
            <a:r>
              <a:rPr lang="en-US" sz="1200" dirty="0">
                <a:solidFill>
                  <a:srgbClr val="CFD6E4"/>
                </a:solidFill>
                <a:latin typeface="맑은 고딕" pitchFamily="34" charset="0"/>
                <a:ea typeface="맑은 고딕" pitchFamily="34" charset="-122"/>
                <a:cs typeface="맑은 고딕" pitchFamily="34" charset="-120"/>
              </a:rPr>
              <a:t>010-4292-1999   |   studio@publicbloom.art   |   publicbloom.art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WHO WE ARE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콘텐츠부터 화면 자체까지</a:t>
            </a:r>
            <a:endParaRPr lang="en-US" sz="3200" dirty="0"/>
          </a:p>
        </p:txBody>
      </p:sp>
      <p:sp>
        <p:nvSpPr>
          <p:cNvPr id="4" name="Text 2"/>
          <p:cNvSpPr/>
          <p:nvPr/>
        </p:nvSpPr>
        <p:spPr>
          <a:xfrm>
            <a:off x="640080" y="1691640"/>
            <a:ext cx="10881360" cy="777240"/>
          </a:xfrm>
          <a:prstGeom prst="rect">
            <a:avLst/>
          </a:prstGeom>
          <a:noFill/>
          <a:ln/>
        </p:spPr>
        <p:txBody>
          <a:bodyPr wrap="square" lIns="0" tIns="0" rIns="0" bIns="0" rtlCol="0" anchor="ctr"/>
          <a:lstStyle/>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오늘은 봄날은 대구광역시 수성구에 있는 여성기업이자 AI 미디어아트 기업입니다.</a:t>
            </a:r>
            <a:endParaRPr lang="en-US" sz="1400" dirty="0"/>
          </a:p>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미디어아트를 영상 편집이 아니라 코드로 만들고, LED 패널·전광판 설치와 빔프로젝터 미디어파사드 시공까지 직접 수행합니다.</a:t>
            </a:r>
            <a:endParaRPr lang="en-US" sz="1400" dirty="0"/>
          </a:p>
        </p:txBody>
      </p:sp>
      <p:sp>
        <p:nvSpPr>
          <p:cNvPr id="5" name="Shape 3"/>
          <p:cNvSpPr/>
          <p:nvPr/>
        </p:nvSpPr>
        <p:spPr>
          <a:xfrm>
            <a:off x="64008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60120" y="2990088"/>
            <a:ext cx="420624" cy="420624"/>
          </a:xfrm>
          <a:prstGeom prst="ellipse">
            <a:avLst/>
          </a:prstGeom>
          <a:solidFill>
            <a:srgbClr val="0075C9"/>
          </a:solidFill>
          <a:ln w="12700">
            <a:solidFill>
              <a:srgbClr val="0075C9"/>
            </a:solidFill>
            <a:prstDash val="solid"/>
          </a:ln>
        </p:spPr>
      </p:sp>
      <p:sp>
        <p:nvSpPr>
          <p:cNvPr id="7" name="Text 5"/>
          <p:cNvSpPr/>
          <p:nvPr/>
        </p:nvSpPr>
        <p:spPr>
          <a:xfrm>
            <a:off x="96012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8" name="Text 6"/>
          <p:cNvSpPr/>
          <p:nvPr/>
        </p:nvSpPr>
        <p:spPr>
          <a:xfrm>
            <a:off x="96012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미디어아트 AX 서비스</a:t>
            </a:r>
            <a:endParaRPr lang="en-US" sz="1500" dirty="0"/>
          </a:p>
        </p:txBody>
      </p:sp>
      <p:sp>
        <p:nvSpPr>
          <p:cNvPr id="9" name="Text 7"/>
          <p:cNvSpPr/>
          <p:nvPr/>
        </p:nvSpPr>
        <p:spPr>
          <a:xfrm>
            <a:off x="960120" y="4251960"/>
            <a:ext cx="1965960" cy="1481328"/>
          </a:xfrm>
          <a:prstGeom prst="rect">
            <a:avLst/>
          </a:prstGeom>
          <a:noFill/>
          <a:ln/>
        </p:spPr>
        <p:txBody>
          <a:bodyPr wrap="square" lIns="0" tIns="0" rIns="0" bIns="0" rtlCol="0" anchor="t"/>
          <a:lstStyle/>
          <a:p>
            <a:pPr indent="0" marL="0">
              <a:lnSpc>
                <a:spcPts val="1500"/>
              </a:lnSpc>
              <a:buNone/>
            </a:pPr>
            <a:endParaRPr lang="en-US" sz="1000" dirty="0"/>
          </a:p>
        </p:txBody>
      </p:sp>
      <p:sp>
        <p:nvSpPr>
          <p:cNvPr id="10" name="Shape 8"/>
          <p:cNvSpPr/>
          <p:nvPr/>
        </p:nvSpPr>
        <p:spPr>
          <a:xfrm>
            <a:off x="347472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990088"/>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AI · 코드 기반 미디어아트 제작</a:t>
            </a:r>
            <a:endParaRPr lang="en-US" sz="1500" dirty="0"/>
          </a:p>
        </p:txBody>
      </p:sp>
      <p:sp>
        <p:nvSpPr>
          <p:cNvPr id="14" name="Text 12"/>
          <p:cNvSpPr/>
          <p:nvPr/>
        </p:nvSpPr>
        <p:spPr>
          <a:xfrm>
            <a:off x="379476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영상 편집이 아니라 코드로 만듭니다. 현장 화면 비율·해상도에 맞춰 다시 출력할 수 있고, 데이터를 연결하면 화면이 매일 달라집니다.</a:t>
            </a:r>
            <a:endParaRPr lang="en-US" sz="1000" dirty="0"/>
          </a:p>
        </p:txBody>
      </p:sp>
      <p:sp>
        <p:nvSpPr>
          <p:cNvPr id="15" name="Shape 13"/>
          <p:cNvSpPr/>
          <p:nvPr/>
        </p:nvSpPr>
        <p:spPr>
          <a:xfrm>
            <a:off x="630936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6629400" y="2990088"/>
            <a:ext cx="420624" cy="420624"/>
          </a:xfrm>
          <a:prstGeom prst="ellipse">
            <a:avLst/>
          </a:prstGeom>
          <a:solidFill>
            <a:srgbClr val="0075C9"/>
          </a:solidFill>
          <a:ln w="12700">
            <a:solidFill>
              <a:srgbClr val="0075C9"/>
            </a:solidFill>
            <a:prstDash val="solid"/>
          </a:ln>
        </p:spPr>
      </p:sp>
      <p:sp>
        <p:nvSpPr>
          <p:cNvPr id="17" name="Text 15"/>
          <p:cNvSpPr/>
          <p:nvPr/>
        </p:nvSpPr>
        <p:spPr>
          <a:xfrm>
            <a:off x="662940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8" name="Text 16"/>
          <p:cNvSpPr/>
          <p:nvPr/>
        </p:nvSpPr>
        <p:spPr>
          <a:xfrm>
            <a:off x="662940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빠른 제작</a:t>
            </a:r>
            <a:endParaRPr lang="en-US" sz="1500" dirty="0"/>
          </a:p>
        </p:txBody>
      </p:sp>
      <p:sp>
        <p:nvSpPr>
          <p:cNvPr id="19" name="Text 17"/>
          <p:cNvSpPr/>
          <p:nvPr/>
        </p:nvSpPr>
        <p:spPr>
          <a:xfrm>
            <a:off x="662940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시안 3종을 요청 후 1주일 이내에 제시합니다. 영상 외주 제작이 통상 1개월 이상 걸리는 것과 비교되는 지점입니다.</a:t>
            </a:r>
            <a:endParaRPr lang="en-US" sz="1000" dirty="0"/>
          </a:p>
        </p:txBody>
      </p:sp>
      <p:sp>
        <p:nvSpPr>
          <p:cNvPr id="20" name="Shape 18"/>
          <p:cNvSpPr/>
          <p:nvPr/>
        </p:nvSpPr>
        <p:spPr>
          <a:xfrm>
            <a:off x="914400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9464040" y="2990088"/>
            <a:ext cx="420624" cy="420624"/>
          </a:xfrm>
          <a:prstGeom prst="ellipse">
            <a:avLst/>
          </a:prstGeom>
          <a:solidFill>
            <a:srgbClr val="0075C9"/>
          </a:solidFill>
          <a:ln w="12700">
            <a:solidFill>
              <a:srgbClr val="0075C9"/>
            </a:solidFill>
            <a:prstDash val="solid"/>
          </a:ln>
        </p:spPr>
      </p:sp>
      <p:sp>
        <p:nvSpPr>
          <p:cNvPr id="22" name="Text 20"/>
          <p:cNvSpPr/>
          <p:nvPr/>
        </p:nvSpPr>
        <p:spPr>
          <a:xfrm>
            <a:off x="946404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3" name="Text 21"/>
          <p:cNvSpPr/>
          <p:nvPr/>
        </p:nvSpPr>
        <p:spPr>
          <a:xfrm>
            <a:off x="946404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LED 패널 · LED 전광판 설치</a:t>
            </a:r>
            <a:endParaRPr lang="en-US" sz="1500" dirty="0"/>
          </a:p>
        </p:txBody>
      </p:sp>
      <p:sp>
        <p:nvSpPr>
          <p:cNvPr id="24" name="Text 22"/>
          <p:cNvSpPr/>
          <p:nvPr/>
        </p:nvSpPr>
        <p:spPr>
          <a:xfrm>
            <a:off x="946404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로비 미디어월, 외벽 전광판, 세로형 사이니지를 사양 산정부터 공급·설치·배선까지 직접 시공합니다.</a:t>
            </a:r>
            <a:endParaRPr lang="en-US" sz="1000" dirty="0"/>
          </a:p>
        </p:txBody>
      </p:sp>
      <p:sp>
        <p:nvSpPr>
          <p:cNvPr id="25" name="Shape 23"/>
          <p:cNvSpPr/>
          <p:nvPr/>
        </p:nvSpPr>
        <p:spPr>
          <a:xfrm>
            <a:off x="1197864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6" name="Shape 24"/>
          <p:cNvSpPr/>
          <p:nvPr/>
        </p:nvSpPr>
        <p:spPr>
          <a:xfrm>
            <a:off x="12298680" y="2990088"/>
            <a:ext cx="420624" cy="420624"/>
          </a:xfrm>
          <a:prstGeom prst="ellipse">
            <a:avLst/>
          </a:prstGeom>
          <a:solidFill>
            <a:srgbClr val="0075C9"/>
          </a:solidFill>
          <a:ln w="12700">
            <a:solidFill>
              <a:srgbClr val="0075C9"/>
            </a:solidFill>
            <a:prstDash val="solid"/>
          </a:ln>
        </p:spPr>
      </p:sp>
      <p:sp>
        <p:nvSpPr>
          <p:cNvPr id="27" name="Text 25"/>
          <p:cNvSpPr/>
          <p:nvPr/>
        </p:nvSpPr>
        <p:spPr>
          <a:xfrm>
            <a:off x="1229868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05</a:t>
            </a:r>
            <a:endParaRPr lang="en-US" sz="1300" dirty="0"/>
          </a:p>
        </p:txBody>
      </p:sp>
      <p:sp>
        <p:nvSpPr>
          <p:cNvPr id="28" name="Text 26"/>
          <p:cNvSpPr/>
          <p:nvPr/>
        </p:nvSpPr>
        <p:spPr>
          <a:xfrm>
            <a:off x="1229868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빔프로젝터 미디어파사드</a:t>
            </a:r>
            <a:endParaRPr lang="en-US" sz="1500" dirty="0"/>
          </a:p>
        </p:txBody>
      </p:sp>
      <p:sp>
        <p:nvSpPr>
          <p:cNvPr id="29" name="Text 27"/>
          <p:cNvSpPr/>
          <p:nvPr/>
        </p:nvSpPr>
        <p:spPr>
          <a:xfrm>
            <a:off x="1229868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건물 외벽과 전시장 벽면에 빔프로젝터를 설치하고 프로젝션 매핑으로 미디어파사드를 만듭니다.</a:t>
            </a:r>
            <a:endParaRPr lang="en-US" sz="1000" dirty="0"/>
          </a:p>
        </p:txBody>
      </p:sp>
      <p:sp>
        <p:nvSpPr>
          <p:cNvPr id="30" name="Text 28"/>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WHY US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발주처가 겪던 세 가지가 사라집니다</a:t>
            </a:r>
            <a:endParaRPr lang="en-US" sz="3200" dirty="0"/>
          </a:p>
        </p:txBody>
      </p:sp>
      <p:sp>
        <p:nvSpPr>
          <p:cNvPr id="4" name="Shape 2"/>
          <p:cNvSpPr/>
          <p:nvPr/>
        </p:nvSpPr>
        <p:spPr>
          <a:xfrm>
            <a:off x="64008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Text 3"/>
          <p:cNvSpPr/>
          <p:nvPr/>
        </p:nvSpPr>
        <p:spPr>
          <a:xfrm>
            <a:off x="1005840" y="2377440"/>
            <a:ext cx="2788920" cy="914400"/>
          </a:xfrm>
          <a:prstGeom prst="rect">
            <a:avLst/>
          </a:prstGeom>
          <a:noFill/>
          <a:ln/>
        </p:spPr>
        <p:txBody>
          <a:bodyPr wrap="square" lIns="0" tIns="0" rIns="0" bIns="0" rtlCol="0" anchor="ctr"/>
          <a:lstStyle/>
          <a:p>
            <a:pPr indent="0" marL="0">
              <a:buNone/>
            </a:pPr>
            <a:r>
              <a:rPr lang="en-US" sz="3400" b="1" dirty="0">
                <a:solidFill>
                  <a:srgbClr val="101B33"/>
                </a:solidFill>
                <a:latin typeface="맑은 고딕" pitchFamily="34" charset="0"/>
                <a:ea typeface="맑은 고딕" pitchFamily="34" charset="-122"/>
                <a:cs typeface="맑은 고딕" pitchFamily="34" charset="-120"/>
              </a:rPr>
              <a:t>여성기업</a:t>
            </a:r>
            <a:pPr indent="0" marL="0">
              <a:buNone/>
            </a:pPr>
            <a:endParaRPr lang="en-US" sz="3400" dirty="0"/>
          </a:p>
        </p:txBody>
      </p:sp>
      <p:sp>
        <p:nvSpPr>
          <p:cNvPr id="6" name="Text 4"/>
          <p:cNvSpPr/>
          <p:nvPr/>
        </p:nvSpPr>
        <p:spPr>
          <a:xfrm>
            <a:off x="100584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공공기관 우선구매 대상</a:t>
            </a:r>
            <a:endParaRPr lang="en-US" sz="1400" dirty="0"/>
          </a:p>
        </p:txBody>
      </p:sp>
      <p:sp>
        <p:nvSpPr>
          <p:cNvPr id="7" name="Text 5"/>
          <p:cNvSpPr/>
          <p:nvPr/>
        </p:nvSpPr>
        <p:spPr>
          <a:xfrm>
            <a:off x="100584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여성기업 확인서와 직접생산확인증명서를 보유해 우선구매와 중소기업자간 경쟁입찰에 바로 참여합니다. 회계연도 기준 견적서를 즉시 발행합니다.</a:t>
            </a:r>
            <a:endParaRPr lang="en-US" sz="1100" dirty="0"/>
          </a:p>
        </p:txBody>
      </p:sp>
      <p:sp>
        <p:nvSpPr>
          <p:cNvPr id="8" name="Shape 6"/>
          <p:cNvSpPr/>
          <p:nvPr/>
        </p:nvSpPr>
        <p:spPr>
          <a:xfrm>
            <a:off x="443484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9" name="Text 7"/>
          <p:cNvSpPr/>
          <p:nvPr/>
        </p:nvSpPr>
        <p:spPr>
          <a:xfrm>
            <a:off x="480060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주</a:t>
            </a:r>
            <a:endParaRPr lang="en-US" sz="5200" dirty="0"/>
          </a:p>
        </p:txBody>
      </p:sp>
      <p:sp>
        <p:nvSpPr>
          <p:cNvPr id="10" name="Text 8"/>
          <p:cNvSpPr/>
          <p:nvPr/>
        </p:nvSpPr>
        <p:spPr>
          <a:xfrm>
            <a:off x="480060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시안 3종 제시까지</a:t>
            </a:r>
            <a:endParaRPr lang="en-US" sz="1400" dirty="0"/>
          </a:p>
        </p:txBody>
      </p:sp>
      <p:sp>
        <p:nvSpPr>
          <p:cNvPr id="11" name="Text 9"/>
          <p:cNvSpPr/>
          <p:nvPr/>
        </p:nvSpPr>
        <p:spPr>
          <a:xfrm>
            <a:off x="480060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영상 외주 제작이 통상 1개월 이상 걸리는 데 비해 짧습니다. 미디어아트를 코드로 만들기 때문에 기획·카피·비주얼을 한 번에 생성합니다. 자세히 알려주실수록 시안 디테일이 올라갑니다.</a:t>
            </a:r>
            <a:endParaRPr lang="en-US" sz="1100" dirty="0"/>
          </a:p>
        </p:txBody>
      </p:sp>
      <p:sp>
        <p:nvSpPr>
          <p:cNvPr id="12" name="Shape 10"/>
          <p:cNvSpPr/>
          <p:nvPr/>
        </p:nvSpPr>
        <p:spPr>
          <a:xfrm>
            <a:off x="822960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1"/>
          <p:cNvSpPr/>
          <p:nvPr/>
        </p:nvSpPr>
        <p:spPr>
          <a:xfrm>
            <a:off x="859536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개 계약</a:t>
            </a:r>
            <a:endParaRPr lang="en-US" sz="5200" dirty="0"/>
          </a:p>
        </p:txBody>
      </p:sp>
      <p:sp>
        <p:nvSpPr>
          <p:cNvPr id="14" name="Text 12"/>
          <p:cNvSpPr/>
          <p:nvPr/>
        </p:nvSpPr>
        <p:spPr>
          <a:xfrm>
            <a:off x="859536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콘텐츠와 시공을 한 업체가</a:t>
            </a:r>
            <a:endParaRPr lang="en-US" sz="1400" dirty="0"/>
          </a:p>
        </p:txBody>
      </p:sp>
      <p:sp>
        <p:nvSpPr>
          <p:cNvPr id="15" name="Text 13"/>
          <p:cNvSpPr/>
          <p:nvPr/>
        </p:nvSpPr>
        <p:spPr>
          <a:xfrm>
            <a:off x="859536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대부분의 발주에서 콘텐츠 업체와 시공 업체가 쪼개집니다. 오늘은 봄날에서는 쪼개지지 않아 담당자가 사이에서 조율할 일이 없습니다.</a:t>
            </a:r>
            <a:endParaRPr lang="en-US" sz="1100" dirty="0"/>
          </a:p>
        </p:txBody>
      </p:sp>
      <p:sp>
        <p:nvSpPr>
          <p:cNvPr id="16" name="Text 1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01</a:t>
            </a:r>
            <a:endParaRPr lang="en-US" sz="1200" dirty="0"/>
          </a:p>
        </p:txBody>
      </p:sp>
      <p:sp>
        <p:nvSpPr>
          <p:cNvPr id="3" name="Text 1"/>
          <p:cNvSpPr/>
          <p:nvPr/>
        </p:nvSpPr>
        <p:spPr>
          <a:xfrm>
            <a:off x="640080" y="749808"/>
            <a:ext cx="6035040" cy="932688"/>
          </a:xfrm>
          <a:prstGeom prst="rect">
            <a:avLst/>
          </a:prstGeom>
          <a:noFill/>
          <a:ln/>
        </p:spPr>
        <p:txBody>
          <a:bodyPr wrap="square" lIns="0" tIns="0" rIns="0" bIns="0" rtlCol="0" anchor="t"/>
          <a:lstStyle/>
          <a:p>
            <a:pPr indent="0" marL="0">
              <a:buNone/>
            </a:pPr>
            <a:r>
              <a:rPr lang="en-US" sz="2800" b="1" dirty="0">
                <a:solidFill>
                  <a:srgbClr val="101B33"/>
                </a:solidFill>
                <a:latin typeface="맑은 고딕" pitchFamily="34" charset="0"/>
                <a:ea typeface="맑은 고딕" pitchFamily="34" charset="-122"/>
                <a:cs typeface="맑은 고딕" pitchFamily="34" charset="-120"/>
              </a:rPr>
              <a:t>미디어아트를 코드로 만듭니다</a:t>
            </a:r>
            <a:endParaRPr lang="en-US" sz="2800" dirty="0"/>
          </a:p>
        </p:txBody>
      </p:sp>
      <p:pic>
        <p:nvPicPr>
          <p:cNvPr id="4" name="Image 0" descr="/home/user/oneul-bomnal/assets/deck/flowribbons.jpg">    </p:cNvPr>
          <p:cNvPicPr>
            <a:picLocks noChangeAspect="1"/>
          </p:cNvPicPr>
          <p:nvPr/>
        </p:nvPicPr>
        <p:blipFill>
          <a:blip r:embed="rId1"/>
          <a:stretch>
            <a:fillRect/>
          </a:stretch>
        </p:blipFill>
        <p:spPr>
          <a:xfrm>
            <a:off x="6537960" y="457200"/>
            <a:ext cx="4983480" cy="2807208"/>
          </a:xfrm>
          <a:prstGeom prst="rect">
            <a:avLst/>
          </a:prstGeom>
        </p:spPr>
      </p:pic>
      <p:sp>
        <p:nvSpPr>
          <p:cNvPr id="5" name="Text 2"/>
          <p:cNvSpPr/>
          <p:nvPr/>
        </p:nvSpPr>
        <p:spPr>
          <a:xfrm>
            <a:off x="6537960" y="3364992"/>
            <a:ext cx="498348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流帶 · 결결 · 로비 LED 미디어월용 자체 제작 작품</a:t>
            </a:r>
            <a:endParaRPr lang="en-US" sz="950" dirty="0"/>
          </a:p>
        </p:txBody>
      </p:sp>
      <p:sp>
        <p:nvSpPr>
          <p:cNvPr id="6" name="Text 3"/>
          <p:cNvSpPr/>
          <p:nvPr/>
        </p:nvSpPr>
        <p:spPr>
          <a:xfrm>
            <a:off x="640080" y="1783080"/>
            <a:ext cx="5577840" cy="1371600"/>
          </a:xfrm>
          <a:prstGeom prst="rect">
            <a:avLst/>
          </a:prstGeom>
          <a:noFill/>
          <a:ln/>
        </p:spPr>
        <p:txBody>
          <a:bodyPr wrap="square" lIns="0" tIns="0" rIns="0" bIns="0" rtlCol="0" anchor="t"/>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미디어아트를 영상 편집기가 아니라 코드로 만듭니다. 화면마다 비율·해상도·길이가 다른 사이니지 현장에서, 코드는 같은 작품을 현장 규격에 맞춰 다시 뽑아낼 수 있습니다. 영상 파일 하나로 끝나는 외주 제작과 다른 점이 여기 있습니다.</a:t>
            </a:r>
            <a:endParaRPr lang="en-US" sz="1300" dirty="0"/>
          </a:p>
        </p:txBody>
      </p:sp>
      <p:sp>
        <p:nvSpPr>
          <p:cNvPr id="7" name="Shape 4"/>
          <p:cNvSpPr/>
          <p:nvPr/>
        </p:nvSpPr>
        <p:spPr>
          <a:xfrm>
            <a:off x="640080" y="3246120"/>
            <a:ext cx="420624" cy="420624"/>
          </a:xfrm>
          <a:prstGeom prst="ellipse">
            <a:avLst/>
          </a:prstGeom>
          <a:solidFill>
            <a:srgbClr val="101B33"/>
          </a:solidFill>
          <a:ln w="12700">
            <a:solidFill>
              <a:srgbClr val="101B33"/>
            </a:solidFill>
            <a:prstDash val="solid"/>
          </a:ln>
        </p:spPr>
      </p:sp>
      <p:sp>
        <p:nvSpPr>
          <p:cNvPr id="8" name="Text 5"/>
          <p:cNvSpPr/>
          <p:nvPr/>
        </p:nvSpPr>
        <p:spPr>
          <a:xfrm>
            <a:off x="640080" y="32461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9" name="Text 6"/>
          <p:cNvSpPr/>
          <p:nvPr/>
        </p:nvSpPr>
        <p:spPr>
          <a:xfrm>
            <a:off x="1207008" y="3209544"/>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같은 작품을 다시 출력</a:t>
            </a:r>
            <a:endParaRPr lang="en-US" sz="1300" dirty="0"/>
          </a:p>
        </p:txBody>
      </p:sp>
      <p:sp>
        <p:nvSpPr>
          <p:cNvPr id="10" name="Text 7"/>
          <p:cNvSpPr/>
          <p:nvPr/>
        </p:nvSpPr>
        <p:spPr>
          <a:xfrm>
            <a:off x="1207008" y="3520440"/>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32:9 · 16:9 · 9:16 · 비정형 벽면까지 현장 규격에 맞춰 재출력. 화면이 바뀌어도 새로 만들지 않습니다.</a:t>
            </a:r>
            <a:endParaRPr lang="en-US" sz="1100" dirty="0"/>
          </a:p>
        </p:txBody>
      </p:sp>
      <p:sp>
        <p:nvSpPr>
          <p:cNvPr id="11" name="Shape 8"/>
          <p:cNvSpPr/>
          <p:nvPr/>
        </p:nvSpPr>
        <p:spPr>
          <a:xfrm>
            <a:off x="640080" y="4325112"/>
            <a:ext cx="420624" cy="420624"/>
          </a:xfrm>
          <a:prstGeom prst="ellipse">
            <a:avLst/>
          </a:prstGeom>
          <a:solidFill>
            <a:srgbClr val="101B33"/>
          </a:solidFill>
          <a:ln w="12700">
            <a:solidFill>
              <a:srgbClr val="101B33"/>
            </a:solidFill>
            <a:prstDash val="solid"/>
          </a:ln>
        </p:spPr>
      </p:sp>
      <p:sp>
        <p:nvSpPr>
          <p:cNvPr id="12" name="Text 9"/>
          <p:cNvSpPr/>
          <p:nvPr/>
        </p:nvSpPr>
        <p:spPr>
          <a:xfrm>
            <a:off x="640080" y="43251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0"/>
          <p:cNvSpPr/>
          <p:nvPr/>
        </p:nvSpPr>
        <p:spPr>
          <a:xfrm>
            <a:off x="1207008" y="4288536"/>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데이터를 연결하면 매일 달라짐</a:t>
            </a:r>
            <a:endParaRPr lang="en-US" sz="1300" dirty="0"/>
          </a:p>
        </p:txBody>
      </p:sp>
      <p:sp>
        <p:nvSpPr>
          <p:cNvPr id="14" name="Text 11"/>
          <p:cNvSpPr/>
          <p:nvPr/>
        </p:nvSpPr>
        <p:spPr>
          <a:xfrm>
            <a:off x="1207008" y="4599432"/>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공공 API와 기관 보유 DB를 연결해 날씨·대기질·방문자 수가 화면에 반영됩니다.</a:t>
            </a:r>
            <a:endParaRPr lang="en-US" sz="1100" dirty="0"/>
          </a:p>
        </p:txBody>
      </p:sp>
      <p:sp>
        <p:nvSpPr>
          <p:cNvPr id="15" name="Shape 12"/>
          <p:cNvSpPr/>
          <p:nvPr/>
        </p:nvSpPr>
        <p:spPr>
          <a:xfrm>
            <a:off x="640080" y="5404104"/>
            <a:ext cx="420624" cy="420624"/>
          </a:xfrm>
          <a:prstGeom prst="ellipse">
            <a:avLst/>
          </a:prstGeom>
          <a:solidFill>
            <a:srgbClr val="101B33"/>
          </a:solidFill>
          <a:ln w="12700">
            <a:solidFill>
              <a:srgbClr val="101B33"/>
            </a:solidFill>
            <a:prstDash val="solid"/>
          </a:ln>
        </p:spPr>
      </p:sp>
      <p:sp>
        <p:nvSpPr>
          <p:cNvPr id="16" name="Text 13"/>
          <p:cNvSpPr/>
          <p:nvPr/>
        </p:nvSpPr>
        <p:spPr>
          <a:xfrm>
            <a:off x="640080" y="54041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7" name="Text 14"/>
          <p:cNvSpPr/>
          <p:nvPr/>
        </p:nvSpPr>
        <p:spPr>
          <a:xfrm>
            <a:off x="1207008" y="5367528"/>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승인본과 납품본이 어긋나지 않음</a:t>
            </a:r>
            <a:endParaRPr lang="en-US" sz="1300" dirty="0"/>
          </a:p>
        </p:txBody>
      </p:sp>
      <p:sp>
        <p:nvSpPr>
          <p:cNvPr id="18" name="Text 15"/>
          <p:cNvSpPr/>
          <p:nvPr/>
        </p:nvSpPr>
        <p:spPr>
          <a:xfrm>
            <a:off x="1207008" y="5678424"/>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결정론적으로 짜기 때문에 같은 시드·같은 캔버스에서 언제나 같은 결과가 나옵니다.</a:t>
            </a:r>
            <a:endParaRPr lang="en-US" sz="110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02</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시안 3종이 일주일 안에 나옵니다</a:t>
            </a:r>
            <a:endParaRPr lang="en-US" sz="3200" dirty="0"/>
          </a:p>
        </p:txBody>
      </p:sp>
      <p:sp>
        <p:nvSpPr>
          <p:cNvPr id="4" name="Text 2"/>
          <p:cNvSpPr/>
          <p:nvPr/>
        </p:nvSpPr>
        <p:spPr>
          <a:xfrm>
            <a:off x="640080" y="1737360"/>
            <a:ext cx="10881360" cy="731520"/>
          </a:xfrm>
          <a:prstGeom prst="rect">
            <a:avLst/>
          </a:prstGeom>
          <a:noFill/>
          <a:ln/>
        </p:spPr>
        <p:txBody>
          <a:bodyPr wrap="square" lIns="0" tIns="0" rIns="0" bIns="0" rtlCol="0" anchor="ctr"/>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기관 CI·컬러·서체·금기 표현을 제작 기준으로 미리 등록해 두고, 기획·카피·비주얼·송출 코드를 한 번에 만듭니다.</a:t>
            </a:r>
            <a:endParaRPr lang="en-US" sz="1300" dirty="0"/>
          </a:p>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원하시는 방향을 자세히 알려주실수록 시안의 디테일이 올라갑니다.</a:t>
            </a:r>
            <a:endParaRPr lang="en-US" sz="1300" dirty="0"/>
          </a:p>
        </p:txBody>
      </p:sp>
      <p:graphicFrame>
        <p:nvGraphicFramePr>
          <p:cNvPr id="5" name="Chart 0" descr=""/>
          <p:cNvGraphicFramePr/>
          <p:nvPr/>
        </p:nvGraphicFramePr>
        <p:xfrm>
          <a:off x="640080" y="2697480"/>
          <a:ext cx="6035040" cy="29260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040880" y="2834640"/>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7" name="Text 4"/>
          <p:cNvSpPr/>
          <p:nvPr/>
        </p:nvSpPr>
        <p:spPr>
          <a:xfrm>
            <a:off x="7360920" y="2962656"/>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시안 3종</a:t>
            </a:r>
            <a:endParaRPr lang="en-US" sz="1300" dirty="0"/>
          </a:p>
        </p:txBody>
      </p:sp>
      <p:sp>
        <p:nvSpPr>
          <p:cNvPr id="8" name="Text 5"/>
          <p:cNvSpPr/>
          <p:nvPr/>
        </p:nvSpPr>
        <p:spPr>
          <a:xfrm>
            <a:off x="7360920" y="3264408"/>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요청 후 1주일 이내 제시</a:t>
            </a:r>
            <a:endParaRPr lang="en-US" sz="1100" dirty="0"/>
          </a:p>
        </p:txBody>
      </p:sp>
      <p:sp>
        <p:nvSpPr>
          <p:cNvPr id="9" name="Shape 6"/>
          <p:cNvSpPr/>
          <p:nvPr/>
        </p:nvSpPr>
        <p:spPr>
          <a:xfrm>
            <a:off x="7040880" y="3803904"/>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7"/>
          <p:cNvSpPr/>
          <p:nvPr/>
        </p:nvSpPr>
        <p:spPr>
          <a:xfrm>
            <a:off x="7360920" y="3931920"/>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재생 PC 세팅</a:t>
            </a:r>
            <a:endParaRPr lang="en-US" sz="1300" dirty="0"/>
          </a:p>
        </p:txBody>
      </p:sp>
      <p:sp>
        <p:nvSpPr>
          <p:cNvPr id="11" name="Text 8"/>
          <p:cNvSpPr/>
          <p:nvPr/>
        </p:nvSpPr>
        <p:spPr>
          <a:xfrm>
            <a:off x="7360920" y="4233672"/>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사이니지 재생 장비까지 준비</a:t>
            </a:r>
            <a:endParaRPr lang="en-US" sz="1100" dirty="0"/>
          </a:p>
        </p:txBody>
      </p:sp>
      <p:sp>
        <p:nvSpPr>
          <p:cNvPr id="12" name="Shape 9"/>
          <p:cNvSpPr/>
          <p:nvPr/>
        </p:nvSpPr>
        <p:spPr>
          <a:xfrm>
            <a:off x="7040880" y="4773168"/>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0"/>
          <p:cNvSpPr/>
          <p:nvPr/>
        </p:nvSpPr>
        <p:spPr>
          <a:xfrm>
            <a:off x="7360920" y="4901184"/>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교체 운영</a:t>
            </a:r>
            <a:endParaRPr lang="en-US" sz="1300" dirty="0"/>
          </a:p>
        </p:txBody>
      </p:sp>
      <p:sp>
        <p:nvSpPr>
          <p:cNvPr id="14" name="Text 11"/>
          <p:cNvSpPr/>
          <p:nvPr/>
        </p:nvSpPr>
        <p:spPr>
          <a:xfrm>
            <a:off x="7360920" y="5202936"/>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계절·행사별 콘텐츠 교체</a:t>
            </a:r>
            <a:endParaRPr lang="en-US" sz="1100" dirty="0"/>
          </a:p>
        </p:txBody>
      </p:sp>
      <p:sp>
        <p:nvSpPr>
          <p:cNvPr id="15" name="Text 12"/>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03</a:t>
            </a:r>
            <a:endParaRPr lang="en-US" sz="1200" dirty="0"/>
          </a:p>
        </p:txBody>
      </p:sp>
      <p:sp>
        <p:nvSpPr>
          <p:cNvPr id="3" name="Text 1"/>
          <p:cNvSpPr/>
          <p:nvPr/>
        </p:nvSpPr>
        <p:spPr>
          <a:xfrm>
            <a:off x="640080" y="749808"/>
            <a:ext cx="685800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LED 전광판을 직접 설치합니다</a:t>
            </a:r>
            <a:endParaRPr lang="en-US" sz="3200" dirty="0"/>
          </a:p>
        </p:txBody>
      </p:sp>
      <p:pic>
        <p:nvPicPr>
          <p:cNvPr id="4" name="Image 0" descr="/home/user/oneul-bomnal/assets/works/gumico-led-outdoor.jpg">    </p:cNvPr>
          <p:cNvPicPr>
            <a:picLocks noChangeAspect="1"/>
          </p:cNvPicPr>
          <p:nvPr/>
        </p:nvPicPr>
        <p:blipFill>
          <a:blip r:embed="rId1"/>
          <a:stretch>
            <a:fillRect/>
          </a:stretch>
        </p:blipFill>
        <p:spPr>
          <a:xfrm>
            <a:off x="7635240" y="1783080"/>
            <a:ext cx="3886200" cy="2916936"/>
          </a:xfrm>
          <a:prstGeom prst="rect">
            <a:avLst/>
          </a:prstGeom>
        </p:spPr>
      </p:pic>
      <p:sp>
        <p:nvSpPr>
          <p:cNvPr id="5" name="Text 2"/>
          <p:cNvSpPr/>
          <p:nvPr/>
        </p:nvSpPr>
        <p:spPr>
          <a:xfrm>
            <a:off x="7635240" y="4773168"/>
            <a:ext cx="388620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구미코 외벽 LED · 대형 LED 패널 콘텐츠</a:t>
            </a:r>
            <a:endParaRPr lang="en-US" sz="950" dirty="0"/>
          </a:p>
        </p:txBody>
      </p:sp>
      <p:sp>
        <p:nvSpPr>
          <p:cNvPr id="6" name="Text 3"/>
          <p:cNvSpPr/>
          <p:nvPr/>
        </p:nvSpPr>
        <p:spPr>
          <a:xfrm>
            <a:off x="640080" y="1783080"/>
            <a:ext cx="6675120" cy="868680"/>
          </a:xfrm>
          <a:prstGeom prst="rect">
            <a:avLst/>
          </a:prstGeom>
          <a:noFill/>
          <a:ln/>
        </p:spPr>
        <p:txBody>
          <a:bodyPr wrap="square" lIns="0" tIns="0" rIns="0" bIns="0" rtlCol="0" anchor="ctr"/>
          <a:lstStyle/>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LED 전광판 설치는 LED 모듈을 구조물에 고정하고 배선·전원·제어기를 연결해 하나의 화면으로 만드는 공사입니다.</a:t>
            </a:r>
            <a:endParaRPr lang="en-US" sz="1250" dirty="0"/>
          </a:p>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화면 크기와 보는 거리에 따라 픽셀 피치와 밝기가 달라지므로 실측 후 사양을 확정합니다.</a:t>
            </a:r>
            <a:endParaRPr lang="en-US" sz="1250" dirty="0"/>
          </a:p>
        </p:txBody>
      </p:sp>
      <p:sp>
        <p:nvSpPr>
          <p:cNvPr id="7" name="Shape 4"/>
          <p:cNvSpPr/>
          <p:nvPr/>
        </p:nvSpPr>
        <p:spPr>
          <a:xfrm>
            <a:off x="640080" y="2834640"/>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8" name="Text 5"/>
          <p:cNvSpPr/>
          <p:nvPr/>
        </p:nvSpPr>
        <p:spPr>
          <a:xfrm>
            <a:off x="914400" y="2944368"/>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로비 LED 미디어월</a:t>
            </a:r>
            <a:endParaRPr lang="en-US" sz="1250" dirty="0"/>
          </a:p>
        </p:txBody>
      </p:sp>
      <p:sp>
        <p:nvSpPr>
          <p:cNvPr id="9" name="Text 6"/>
          <p:cNvSpPr/>
          <p:nvPr/>
        </p:nvSpPr>
        <p:spPr>
          <a:xfrm>
            <a:off x="914400" y="3236976"/>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관공서·기업 로비 상시 화면. 가까이서 보므로 촘촘한 사양이 필요합니다.</a:t>
            </a:r>
            <a:endParaRPr lang="en-US" sz="1050" dirty="0"/>
          </a:p>
        </p:txBody>
      </p:sp>
      <p:sp>
        <p:nvSpPr>
          <p:cNvPr id="10" name="Shape 7"/>
          <p:cNvSpPr/>
          <p:nvPr/>
        </p:nvSpPr>
        <p:spPr>
          <a:xfrm>
            <a:off x="640080" y="3721608"/>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Text 8"/>
          <p:cNvSpPr/>
          <p:nvPr/>
        </p:nvSpPr>
        <p:spPr>
          <a:xfrm>
            <a:off x="914400" y="3831336"/>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LED 전광판</a:t>
            </a:r>
            <a:endParaRPr lang="en-US" sz="1250" dirty="0"/>
          </a:p>
        </p:txBody>
      </p:sp>
      <p:sp>
        <p:nvSpPr>
          <p:cNvPr id="12" name="Text 9"/>
          <p:cNvSpPr/>
          <p:nvPr/>
        </p:nvSpPr>
        <p:spPr>
          <a:xfrm>
            <a:off x="914400" y="4123944"/>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주간 시인성 밝기, 옥외 방수·방진, 구조 보강이 관건입니다.</a:t>
            </a:r>
            <a:endParaRPr lang="en-US" sz="1050" dirty="0"/>
          </a:p>
        </p:txBody>
      </p:sp>
      <p:sp>
        <p:nvSpPr>
          <p:cNvPr id="13" name="Shape 10"/>
          <p:cNvSpPr/>
          <p:nvPr/>
        </p:nvSpPr>
        <p:spPr>
          <a:xfrm>
            <a:off x="640080" y="4608576"/>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1"/>
          <p:cNvSpPr/>
          <p:nvPr/>
        </p:nvSpPr>
        <p:spPr>
          <a:xfrm>
            <a:off x="914400" y="4718304"/>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5" name="Text 12"/>
          <p:cNvSpPr/>
          <p:nvPr/>
        </p:nvSpPr>
        <p:spPr>
          <a:xfrm>
            <a:off x="914400" y="5010912"/>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안내 사이니지와 겸용. 기존 화면을 미디어아트 화면으로 함께 운용합니다.</a:t>
            </a:r>
            <a:endParaRPr lang="en-US" sz="1050" dirty="0"/>
          </a:p>
        </p:txBody>
      </p:sp>
      <p:sp>
        <p:nvSpPr>
          <p:cNvPr id="16" name="Shape 13"/>
          <p:cNvSpPr/>
          <p:nvPr/>
        </p:nvSpPr>
        <p:spPr>
          <a:xfrm>
            <a:off x="640080" y="5495544"/>
            <a:ext cx="6675120" cy="777240"/>
          </a:xfrm>
          <a:prstGeom prst="roundRect">
            <a:avLst>
              <a:gd name="adj" fmla="val 7059"/>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Text 14"/>
          <p:cNvSpPr/>
          <p:nvPr/>
        </p:nvSpPr>
        <p:spPr>
          <a:xfrm>
            <a:off x="914400" y="5605272"/>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기존 패널 활용</a:t>
            </a:r>
            <a:endParaRPr lang="en-US" sz="1250" dirty="0"/>
          </a:p>
        </p:txBody>
      </p:sp>
      <p:sp>
        <p:nvSpPr>
          <p:cNvPr id="18" name="Text 15"/>
          <p:cNvSpPr/>
          <p:nvPr/>
        </p:nvSpPr>
        <p:spPr>
          <a:xfrm>
            <a:off x="914400" y="5897880"/>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이미 설치된 화면이 있으면 해상도·입력 규격에 맞춰 콘텐츠만 제작합니다.</a:t>
            </a:r>
            <a:endParaRPr lang="en-US" sz="105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B33"/>
        </a:solidFill>
      </p:bgPr>
    </p:bg>
    <p:spTree>
      <p:nvGrpSpPr>
        <p:cNvPr id="1" name=""/>
        <p:cNvGrpSpPr/>
        <p:nvPr/>
      </p:nvGrpSpPr>
      <p:grpSpPr>
        <a:xfrm>
          <a:off x="0" y="0"/>
          <a:ext cx="0" cy="0"/>
          <a:chOff x="0" y="0"/>
          <a:chExt cx="0" cy="0"/>
        </a:xfrm>
      </p:grpSpPr>
      <p:pic>
        <p:nvPicPr>
          <p:cNvPr id="2" name="Image 0" descr="/home/user/oneul-bomnal/assets/works/andong-station-facad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p:nvPr/>
        </p:nvSpPr>
        <p:spPr>
          <a:xfrm>
            <a:off x="6309360" y="1051560"/>
            <a:ext cx="521208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04</a:t>
            </a:r>
            <a:endParaRPr lang="en-US" sz="1200" dirty="0"/>
          </a:p>
        </p:txBody>
      </p:sp>
      <p:sp>
        <p:nvSpPr>
          <p:cNvPr id="4" name="Text 1"/>
          <p:cNvSpPr/>
          <p:nvPr/>
        </p:nvSpPr>
        <p:spPr>
          <a:xfrm>
            <a:off x="6309360" y="1371600"/>
            <a:ext cx="5212080" cy="1371600"/>
          </a:xfrm>
          <a:prstGeom prst="rect">
            <a:avLst/>
          </a:prstGeom>
          <a:noFill/>
          <a:ln/>
        </p:spPr>
        <p:txBody>
          <a:bodyPr wrap="square" lIns="0" tIns="0" rIns="0" bIns="0" rtlCol="0" anchor="ctr"/>
          <a:lstStyle/>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빔프로젝터로</a:t>
            </a:r>
            <a:endParaRPr lang="en-US" sz="2800" dirty="0"/>
          </a:p>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건물을 화면으로 바꿉니다</a:t>
            </a:r>
            <a:endParaRPr lang="en-US" sz="2800" dirty="0"/>
          </a:p>
        </p:txBody>
      </p:sp>
      <p:sp>
        <p:nvSpPr>
          <p:cNvPr id="5" name="Text 2"/>
          <p:cNvSpPr/>
          <p:nvPr/>
        </p:nvSpPr>
        <p:spPr>
          <a:xfrm>
            <a:off x="6309360" y="2880360"/>
            <a:ext cx="5212080" cy="1280160"/>
          </a:xfrm>
          <a:prstGeom prst="rect">
            <a:avLst/>
          </a:prstGeom>
          <a:noFill/>
          <a:ln/>
        </p:spPr>
        <p:txBody>
          <a:bodyPr wrap="square" lIns="0" tIns="0" rIns="0" bIns="0" rtlCol="0" anchor="ctr"/>
          <a:lstStyle/>
          <a:p>
            <a:pPr indent="0" marL="0">
              <a:lnSpc>
                <a:spcPts val="2000"/>
              </a:lnSpc>
              <a:buNone/>
            </a:pPr>
            <a:r>
              <a:rPr lang="en-US" sz="1200" dirty="0">
                <a:solidFill>
                  <a:srgbClr val="CFD6E4"/>
                </a:solidFill>
                <a:latin typeface="맑은 고딕" pitchFamily="34" charset="0"/>
                <a:ea typeface="맑은 고딕" pitchFamily="34" charset="-122"/>
                <a:cs typeface="맑은 고딕" pitchFamily="34" charset="-120"/>
              </a:rPr>
              <a:t>미디어파사드는 건물 외벽이나 전시장 벽면 자체를 하나의 큰 화면으로 쓰는 방식입니다. 화면 장치를 새로 달지 않고 빔프로젝터로 쏘기 때문에, 건물을 손대지 않고 밤에만 화면으로 바꿀 수 있습니다.</a:t>
            </a:r>
            <a:endParaRPr lang="en-US" sz="1200" dirty="0"/>
          </a:p>
        </p:txBody>
      </p:sp>
      <p:sp>
        <p:nvSpPr>
          <p:cNvPr id="6" name="Text 3"/>
          <p:cNvSpPr/>
          <p:nvPr/>
        </p:nvSpPr>
        <p:spPr>
          <a:xfrm>
            <a:off x="6309360" y="4206240"/>
            <a:ext cx="5212080" cy="14630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현장 실측 · 프로젝터 대수와 밝기 산정</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벽면 형태에 맞춘 프로젝션 매핑</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축제 · 개관 · 전시 단기 설치와 철거</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일몰 기준 상시 상영 스케줄 운영</a:t>
            </a:r>
            <a:endParaRPr lang="en-US" sz="1200" dirty="0"/>
          </a:p>
        </p:txBody>
      </p:sp>
      <p:sp>
        <p:nvSpPr>
          <p:cNvPr id="7" name="Text 4"/>
          <p:cNvSpPr/>
          <p:nvPr/>
        </p:nvSpPr>
        <p:spPr>
          <a:xfrm>
            <a:off x="320040" y="6355080"/>
            <a:ext cx="5029200" cy="274320"/>
          </a:xfrm>
          <a:prstGeom prst="rect">
            <a:avLst/>
          </a:prstGeom>
          <a:noFill/>
          <a:ln/>
        </p:spPr>
        <p:txBody>
          <a:bodyPr wrap="square" lIns="0" tIns="0" rIns="0" bIns="0" rtlCol="0" anchor="ctr"/>
          <a:lstStyle/>
          <a:p>
            <a:pPr indent="0" marL="0">
              <a:buNone/>
            </a:pPr>
            <a:r>
              <a:rPr lang="en-US" sz="950" dirty="0">
                <a:solidFill>
                  <a:srgbClr val="DDE3EE"/>
                </a:solidFill>
                <a:latin typeface="맑은 고딕" pitchFamily="34" charset="0"/>
                <a:ea typeface="맑은 고딕" pitchFamily="34" charset="-122"/>
                <a:cs typeface="맑은 고딕" pitchFamily="34" charset="-120"/>
              </a:rPr>
              <a:t>안동 문화플랫폼 모디684 · 야외 건물 미디어파사드</a:t>
            </a:r>
            <a:endParaRPr lang="en-US" sz="950" dirty="0"/>
          </a:p>
        </p:txBody>
      </p:sp>
      <p:sp>
        <p:nvSpPr>
          <p:cNvPr id="8" name="Text 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FITS WHERE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종류가 다르면 영상도 달라집니다</a:t>
            </a:r>
            <a:endParaRPr lang="en-US" sz="3200" dirty="0"/>
          </a:p>
        </p:txBody>
      </p:sp>
      <p:sp>
        <p:nvSpPr>
          <p:cNvPr id="4" name="Text 2"/>
          <p:cNvSpPr/>
          <p:nvPr/>
        </p:nvSpPr>
        <p:spPr>
          <a:xfrm>
            <a:off x="640080" y="1691640"/>
            <a:ext cx="10881360" cy="320040"/>
          </a:xfrm>
          <a:prstGeom prst="rect">
            <a:avLst/>
          </a:prstGeom>
          <a:noFill/>
          <a:ln/>
        </p:spPr>
        <p:txBody>
          <a:bodyPr wrap="square" lIns="0" tIns="0" rIns="0" bIns="0" rtlCol="0" anchor="ctr"/>
          <a:lstStyle/>
          <a:p>
            <a:pPr indent="0" marL="0">
              <a:buNone/>
            </a:pPr>
            <a:r>
              <a:rPr lang="en-US" sz="1250" dirty="0">
                <a:solidFill>
                  <a:srgbClr val="4A5262"/>
                </a:solidFill>
                <a:latin typeface="맑은 고딕" pitchFamily="34" charset="0"/>
                <a:ea typeface="맑은 고딕" pitchFamily="34" charset="-122"/>
                <a:cs typeface="맑은 고딕" pitchFamily="34" charset="-120"/>
              </a:rPr>
              <a:t>16:9로 만든 영상을 32:9 화면에 올리면 좌우가 비거나 위아래가 잘립니다. 보는 거리도 다릅니다.</a:t>
            </a:r>
            <a:endParaRPr lang="en-US" sz="1250" dirty="0"/>
          </a:p>
        </p:txBody>
      </p:sp>
      <p:sp>
        <p:nvSpPr>
          <p:cNvPr id="5" name="Shape 3"/>
          <p:cNvSpPr/>
          <p:nvPr/>
        </p:nvSpPr>
        <p:spPr>
          <a:xfrm>
            <a:off x="640080"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6" name="Image 0" descr="/home/user/oneul-bomnal/assets/deck/eyewall.jpg">    </p:cNvPr>
          <p:cNvPicPr>
            <a:picLocks noChangeAspect="1"/>
          </p:cNvPicPr>
          <p:nvPr/>
        </p:nvPicPr>
        <p:blipFill>
          <a:blip r:embed="rId1"/>
          <a:srcRect l="0" r="0" t="0" b="0"/>
          <a:stretch/>
        </p:blipFill>
        <p:spPr>
          <a:xfrm>
            <a:off x="804672" y="2450592"/>
            <a:ext cx="2368296" cy="1325880"/>
          </a:xfrm>
          <a:prstGeom prst="rect">
            <a:avLst/>
          </a:prstGeom>
        </p:spPr>
      </p:pic>
      <p:sp>
        <p:nvSpPr>
          <p:cNvPr id="7" name="Text 4"/>
          <p:cNvSpPr/>
          <p:nvPr/>
        </p:nvSpPr>
        <p:spPr>
          <a:xfrm>
            <a:off x="896112"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대형 LED 전광판</a:t>
            </a:r>
            <a:endParaRPr lang="en-US" sz="1250" dirty="0"/>
          </a:p>
        </p:txBody>
      </p:sp>
      <p:sp>
        <p:nvSpPr>
          <p:cNvPr id="8" name="Text 5"/>
          <p:cNvSpPr/>
          <p:nvPr/>
        </p:nvSpPr>
        <p:spPr>
          <a:xfrm>
            <a:off x="896112"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가로로 긴 띠형 화면 (예: 32:9)</a:t>
            </a:r>
            <a:endParaRPr lang="en-US" sz="1000" dirty="0"/>
          </a:p>
        </p:txBody>
      </p:sp>
      <p:sp>
        <p:nvSpPr>
          <p:cNvPr id="9" name="Text 6"/>
          <p:cNvSpPr/>
          <p:nvPr/>
        </p:nvSpPr>
        <p:spPr>
          <a:xfrm>
            <a:off x="896112"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멀리서 스쳐 보는 화면. 글자보다 색과 움직임으로 읽히는 추상 영상이 맞습니다.</a:t>
            </a:r>
            <a:endParaRPr lang="en-US" sz="1000" dirty="0"/>
          </a:p>
        </p:txBody>
      </p:sp>
      <p:sp>
        <p:nvSpPr>
          <p:cNvPr id="10" name="Shape 7"/>
          <p:cNvSpPr/>
          <p:nvPr/>
        </p:nvSpPr>
        <p:spPr>
          <a:xfrm>
            <a:off x="3547872"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1" name="Image 1" descr="/home/user/oneul-bomnal/assets/deck/flowribbons.jpg">    </p:cNvPr>
          <p:cNvPicPr>
            <a:picLocks noChangeAspect="1"/>
          </p:cNvPicPr>
          <p:nvPr/>
        </p:nvPicPr>
        <p:blipFill>
          <a:blip r:embed="rId2"/>
          <a:srcRect l="0" r="0" t="0" b="0"/>
          <a:stretch/>
        </p:blipFill>
        <p:spPr>
          <a:xfrm>
            <a:off x="3712464" y="2450592"/>
            <a:ext cx="2368296" cy="1325880"/>
          </a:xfrm>
          <a:prstGeom prst="rect">
            <a:avLst/>
          </a:prstGeom>
        </p:spPr>
      </p:pic>
      <p:sp>
        <p:nvSpPr>
          <p:cNvPr id="12" name="Text 8"/>
          <p:cNvSpPr/>
          <p:nvPr/>
        </p:nvSpPr>
        <p:spPr>
          <a:xfrm>
            <a:off x="3803904"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관공서·기업 로비 LED 미디어월</a:t>
            </a:r>
            <a:endParaRPr lang="en-US" sz="1250" dirty="0"/>
          </a:p>
        </p:txBody>
      </p:sp>
      <p:sp>
        <p:nvSpPr>
          <p:cNvPr id="13" name="Text 9"/>
          <p:cNvSpPr/>
          <p:nvPr/>
        </p:nvSpPr>
        <p:spPr>
          <a:xfrm>
            <a:off x="3803904"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16:9 대형 화면 상시 재생</a:t>
            </a:r>
            <a:endParaRPr lang="en-US" sz="1000" dirty="0"/>
          </a:p>
        </p:txBody>
      </p:sp>
      <p:sp>
        <p:nvSpPr>
          <p:cNvPr id="14" name="Text 10"/>
          <p:cNvSpPr/>
          <p:nvPr/>
        </p:nvSpPr>
        <p:spPr>
          <a:xfrm>
            <a:off x="3803904"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머무는 사람이 보는 화면. 천천히 흐르는 컬러 무빙과 기관 데이터 시각화가 맞습니다.</a:t>
            </a:r>
            <a:endParaRPr lang="en-US" sz="1000" dirty="0"/>
          </a:p>
        </p:txBody>
      </p:sp>
      <p:sp>
        <p:nvSpPr>
          <p:cNvPr id="15" name="Shape 11"/>
          <p:cNvSpPr/>
          <p:nvPr/>
        </p:nvSpPr>
        <p:spPr>
          <a:xfrm>
            <a:off x="6455664"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6" name="Image 2" descr="/home/user/oneul-bomnal/assets/works/gumico-signage-yeongchae.jpg">    </p:cNvPr>
          <p:cNvPicPr>
            <a:picLocks noChangeAspect="1"/>
          </p:cNvPicPr>
          <p:nvPr/>
        </p:nvPicPr>
        <p:blipFill>
          <a:blip r:embed="rId3"/>
          <a:srcRect l="0" r="0" t="0" b="0"/>
          <a:stretch/>
        </p:blipFill>
        <p:spPr>
          <a:xfrm>
            <a:off x="6620256" y="2450592"/>
            <a:ext cx="2368296" cy="1325880"/>
          </a:xfrm>
          <a:prstGeom prst="rect">
            <a:avLst/>
          </a:prstGeom>
        </p:spPr>
      </p:pic>
      <p:sp>
        <p:nvSpPr>
          <p:cNvPr id="17" name="Text 12"/>
          <p:cNvSpPr/>
          <p:nvPr/>
        </p:nvSpPr>
        <p:spPr>
          <a:xfrm>
            <a:off x="6711696"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8" name="Text 13"/>
          <p:cNvSpPr/>
          <p:nvPr/>
        </p:nvSpPr>
        <p:spPr>
          <a:xfrm>
            <a:off x="6711696"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9:16 세로 화면 · 안내 사이니지 겸용</a:t>
            </a:r>
            <a:endParaRPr lang="en-US" sz="1000" dirty="0"/>
          </a:p>
        </p:txBody>
      </p:sp>
      <p:sp>
        <p:nvSpPr>
          <p:cNvPr id="19" name="Text 14"/>
          <p:cNvSpPr/>
          <p:nvPr/>
        </p:nvSpPr>
        <p:spPr>
          <a:xfrm>
            <a:off x="6711696"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안내 화면과 번갈아 트는 짧은 작품. 세로 구도로 다시 출력합니다.</a:t>
            </a:r>
            <a:endParaRPr lang="en-US" sz="1000" dirty="0"/>
          </a:p>
        </p:txBody>
      </p:sp>
      <p:sp>
        <p:nvSpPr>
          <p:cNvPr id="20" name="Shape 15"/>
          <p:cNvSpPr/>
          <p:nvPr/>
        </p:nvSpPr>
        <p:spPr>
          <a:xfrm>
            <a:off x="9363456"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21" name="Image 3" descr="/home/user/oneul-bomnal/assets/works/gbe-gumico-exhibition.jpg">    </p:cNvPr>
          <p:cNvPicPr>
            <a:picLocks noChangeAspect="1"/>
          </p:cNvPicPr>
          <p:nvPr/>
        </p:nvPicPr>
        <p:blipFill>
          <a:blip r:embed="rId4"/>
          <a:srcRect l="0" r="0" t="0" b="0"/>
          <a:stretch/>
        </p:blipFill>
        <p:spPr>
          <a:xfrm>
            <a:off x="9528048" y="2450592"/>
            <a:ext cx="2368296" cy="1325880"/>
          </a:xfrm>
          <a:prstGeom prst="rect">
            <a:avLst/>
          </a:prstGeom>
        </p:spPr>
      </p:pic>
      <p:sp>
        <p:nvSpPr>
          <p:cNvPr id="22" name="Text 16"/>
          <p:cNvSpPr/>
          <p:nvPr/>
        </p:nvSpPr>
        <p:spPr>
          <a:xfrm>
            <a:off x="9619488"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빔프로젝터 미디어파사드</a:t>
            </a:r>
            <a:endParaRPr lang="en-US" sz="1250" dirty="0"/>
          </a:p>
        </p:txBody>
      </p:sp>
      <p:sp>
        <p:nvSpPr>
          <p:cNvPr id="23" name="Text 17"/>
          <p:cNvSpPr/>
          <p:nvPr/>
        </p:nvSpPr>
        <p:spPr>
          <a:xfrm>
            <a:off x="9619488"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벽면 형태에 맞춘 프로젝션 매핑</a:t>
            </a:r>
            <a:endParaRPr lang="en-US" sz="1000" dirty="0"/>
          </a:p>
        </p:txBody>
      </p:sp>
      <p:sp>
        <p:nvSpPr>
          <p:cNvPr id="24" name="Text 18"/>
          <p:cNvSpPr/>
          <p:nvPr/>
        </p:nvSpPr>
        <p:spPr>
          <a:xfrm>
            <a:off x="9619488"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야간 상영. 건물 창·기둥 위치를 피해 매핑한 대형 영상.</a:t>
            </a:r>
            <a:endParaRPr lang="en-US" sz="1000" dirty="0"/>
          </a:p>
        </p:txBody>
      </p:sp>
      <p:sp>
        <p:nvSpPr>
          <p:cNvPr id="25"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PROCESS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실측에서 상영까지, 같은 계약 안에서</a:t>
            </a:r>
            <a:endParaRPr lang="en-US" sz="3200" dirty="0"/>
          </a:p>
        </p:txBody>
      </p:sp>
      <p:sp>
        <p:nvSpPr>
          <p:cNvPr id="4" name="Shape 2"/>
          <p:cNvSpPr/>
          <p:nvPr/>
        </p:nvSpPr>
        <p:spPr>
          <a:xfrm>
            <a:off x="64008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Shape 3"/>
          <p:cNvSpPr/>
          <p:nvPr/>
        </p:nvSpPr>
        <p:spPr>
          <a:xfrm>
            <a:off x="960120" y="2468880"/>
            <a:ext cx="420624" cy="420624"/>
          </a:xfrm>
          <a:prstGeom prst="ellipse">
            <a:avLst/>
          </a:prstGeom>
          <a:solidFill>
            <a:srgbClr val="0075C9"/>
          </a:solidFill>
          <a:ln w="12700">
            <a:solidFill>
              <a:srgbClr val="0075C9"/>
            </a:solidFill>
            <a:prstDash val="solid"/>
          </a:ln>
        </p:spPr>
      </p:sp>
      <p:sp>
        <p:nvSpPr>
          <p:cNvPr id="6" name="Text 4"/>
          <p:cNvSpPr/>
          <p:nvPr/>
        </p:nvSpPr>
        <p:spPr>
          <a:xfrm>
            <a:off x="96012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7" name="Text 5"/>
          <p:cNvSpPr/>
          <p:nvPr/>
        </p:nvSpPr>
        <p:spPr>
          <a:xfrm>
            <a:off x="96012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현장 실측</a:t>
            </a:r>
            <a:endParaRPr lang="en-US" sz="1600" dirty="0"/>
          </a:p>
        </p:txBody>
      </p:sp>
      <p:sp>
        <p:nvSpPr>
          <p:cNvPr id="8" name="Text 6"/>
          <p:cNvSpPr/>
          <p:nvPr/>
        </p:nvSpPr>
        <p:spPr>
          <a:xfrm>
            <a:off x="96012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벽면 크기와 굴곡, 주변 조도, 관람 동선, 전기 용량, 설치면 하중을 잽니다. 여기서 프로젝터 대수 또는 LED 사양이 정해집니다.</a:t>
            </a:r>
            <a:endParaRPr lang="en-US" sz="1050" dirty="0"/>
          </a:p>
        </p:txBody>
      </p:sp>
      <p:sp>
        <p:nvSpPr>
          <p:cNvPr id="9" name="Text 7"/>
          <p:cNvSpPr/>
          <p:nvPr/>
        </p:nvSpPr>
        <p:spPr>
          <a:xfrm>
            <a:off x="326440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0" name="Shape 8"/>
          <p:cNvSpPr/>
          <p:nvPr/>
        </p:nvSpPr>
        <p:spPr>
          <a:xfrm>
            <a:off x="347472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468880"/>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설계 · 시안</a:t>
            </a:r>
            <a:endParaRPr lang="en-US" sz="1600" dirty="0"/>
          </a:p>
        </p:txBody>
      </p:sp>
      <p:sp>
        <p:nvSpPr>
          <p:cNvPr id="14" name="Text 12"/>
          <p:cNvSpPr/>
          <p:nvPr/>
        </p:nvSpPr>
        <p:spPr>
          <a:xfrm>
            <a:off x="379476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매핑 면 또는 화면 규격을 확정하고, 기관 CI를 반영한 시안 3종을 1주일 이내에 제시합니다.</a:t>
            </a:r>
            <a:endParaRPr lang="en-US" sz="1050" dirty="0"/>
          </a:p>
        </p:txBody>
      </p:sp>
      <p:sp>
        <p:nvSpPr>
          <p:cNvPr id="15" name="Text 13"/>
          <p:cNvSpPr/>
          <p:nvPr/>
        </p:nvSpPr>
        <p:spPr>
          <a:xfrm>
            <a:off x="609904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6" name="Shape 14"/>
          <p:cNvSpPr/>
          <p:nvPr/>
        </p:nvSpPr>
        <p:spPr>
          <a:xfrm>
            <a:off x="630936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Shape 15"/>
          <p:cNvSpPr/>
          <p:nvPr/>
        </p:nvSpPr>
        <p:spPr>
          <a:xfrm>
            <a:off x="6629400" y="2468880"/>
            <a:ext cx="420624" cy="420624"/>
          </a:xfrm>
          <a:prstGeom prst="ellipse">
            <a:avLst/>
          </a:prstGeom>
          <a:solidFill>
            <a:srgbClr val="0075C9"/>
          </a:solidFill>
          <a:ln w="12700">
            <a:solidFill>
              <a:srgbClr val="0075C9"/>
            </a:solidFill>
            <a:prstDash val="solid"/>
          </a:ln>
        </p:spPr>
      </p:sp>
      <p:sp>
        <p:nvSpPr>
          <p:cNvPr id="18" name="Text 16"/>
          <p:cNvSpPr/>
          <p:nvPr/>
        </p:nvSpPr>
        <p:spPr>
          <a:xfrm>
            <a:off x="662940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9" name="Text 17"/>
          <p:cNvSpPr/>
          <p:nvPr/>
        </p:nvSpPr>
        <p:spPr>
          <a:xfrm>
            <a:off x="662940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시공 · 제작</a:t>
            </a:r>
            <a:endParaRPr lang="en-US" sz="1600" dirty="0"/>
          </a:p>
        </p:txBody>
      </p:sp>
      <p:sp>
        <p:nvSpPr>
          <p:cNvPr id="20" name="Text 18"/>
          <p:cNvSpPr/>
          <p:nvPr/>
        </p:nvSpPr>
        <p:spPr>
          <a:xfrm>
            <a:off x="662940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프로젝터 설치와 매핑, 또는 LED 구조 보강·모듈 설치·배선을 진행하고 확정 화면 규격으로 콘텐츠를 출력합니다.</a:t>
            </a:r>
            <a:endParaRPr lang="en-US" sz="1050" dirty="0"/>
          </a:p>
        </p:txBody>
      </p:sp>
      <p:sp>
        <p:nvSpPr>
          <p:cNvPr id="21" name="Text 19"/>
          <p:cNvSpPr/>
          <p:nvPr/>
        </p:nvSpPr>
        <p:spPr>
          <a:xfrm>
            <a:off x="893368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22" name="Shape 20"/>
          <p:cNvSpPr/>
          <p:nvPr/>
        </p:nvSpPr>
        <p:spPr>
          <a:xfrm>
            <a:off x="914400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3" name="Shape 21"/>
          <p:cNvSpPr/>
          <p:nvPr/>
        </p:nvSpPr>
        <p:spPr>
          <a:xfrm>
            <a:off x="9464040" y="2468880"/>
            <a:ext cx="420624" cy="420624"/>
          </a:xfrm>
          <a:prstGeom prst="ellipse">
            <a:avLst/>
          </a:prstGeom>
          <a:solidFill>
            <a:srgbClr val="101B33"/>
          </a:solidFill>
          <a:ln w="12700">
            <a:solidFill>
              <a:srgbClr val="101B33"/>
            </a:solidFill>
            <a:prstDash val="solid"/>
          </a:ln>
        </p:spPr>
      </p:sp>
      <p:sp>
        <p:nvSpPr>
          <p:cNvPr id="24" name="Text 22"/>
          <p:cNvSpPr/>
          <p:nvPr/>
        </p:nvSpPr>
        <p:spPr>
          <a:xfrm>
            <a:off x="946404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5" name="Text 23"/>
          <p:cNvSpPr/>
          <p:nvPr/>
        </p:nvSpPr>
        <p:spPr>
          <a:xfrm>
            <a:off x="946404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상영 · 운영</a:t>
            </a:r>
            <a:endParaRPr lang="en-US" sz="1600" dirty="0"/>
          </a:p>
        </p:txBody>
      </p:sp>
      <p:sp>
        <p:nvSpPr>
          <p:cNvPr id="26" name="Text 24"/>
          <p:cNvSpPr/>
          <p:nvPr/>
        </p:nvSpPr>
        <p:spPr>
          <a:xfrm>
            <a:off x="946404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상영 스케줄을 관리하고 계절·행사별로 콘텐츠를 교체합니다. 이상이 생기면 원격으로 조치합니다.</a:t>
            </a:r>
            <a:endParaRPr lang="en-US" sz="1050" dirty="0"/>
          </a:p>
        </p:txBody>
      </p:sp>
      <p:sp>
        <p:nvSpPr>
          <p:cNvPr id="27" name="Text 25"/>
          <p:cNvSpPr/>
          <p:nvPr/>
        </p:nvSpPr>
        <p:spPr>
          <a:xfrm>
            <a:off x="640080" y="571500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현장 실측 없이 산정한 견적은 대부분 틀립니다. 현장을 먼저 보고 확정한 뒤 회계연도 기준 견적서를 발행합니다.</a:t>
            </a:r>
            <a:endParaRPr lang="en-US" sz="1150" dirty="0"/>
          </a:p>
        </p:txBody>
      </p:sp>
      <p:sp>
        <p:nvSpPr>
          <p:cNvPr id="28" name="Text 2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DELIVERABLES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원하시는 형태로 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같은 작품이라도 현장 사정에 따라 필요한 형태가 다릅니다. 세 가지 중에 고르시면 됩니다.</a:t>
            </a:r>
            <a:endParaRPr lang="en-US" sz="1300" dirty="0"/>
          </a:p>
        </p:txBody>
      </p:sp>
      <p:sp>
        <p:nvSpPr>
          <p:cNvPr id="5" name="Shape 3"/>
          <p:cNvSpPr/>
          <p:nvPr/>
        </p:nvSpPr>
        <p:spPr>
          <a:xfrm>
            <a:off x="64008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1005840" y="2715768"/>
            <a:ext cx="420624" cy="420624"/>
          </a:xfrm>
          <a:prstGeom prst="ellipse">
            <a:avLst/>
          </a:prstGeom>
          <a:solidFill>
            <a:srgbClr val="0075C9"/>
          </a:solidFill>
          <a:ln w="12700">
            <a:solidFill>
              <a:srgbClr val="0075C9"/>
            </a:solidFill>
            <a:prstDash val="solid"/>
          </a:ln>
        </p:spPr>
      </p:sp>
      <p:sp>
        <p:nvSpPr>
          <p:cNvPr id="7" name="Text 5"/>
          <p:cNvSpPr/>
          <p:nvPr/>
        </p:nvSpPr>
        <p:spPr>
          <a:xfrm>
            <a:off x="100584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00584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4K 영상 파일</a:t>
            </a:r>
            <a:endParaRPr lang="en-US" sz="1700" dirty="0"/>
          </a:p>
        </p:txBody>
      </p:sp>
      <p:sp>
        <p:nvSpPr>
          <p:cNvPr id="9" name="Text 7"/>
          <p:cNvSpPr/>
          <p:nvPr/>
        </p:nvSpPr>
        <p:spPr>
          <a:xfrm>
            <a:off x="100584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기존 재생 장비에 그대로 올리는 mp4. 화면 비율과 길이를 현장 규격에 맞춰 출력합니다.</a:t>
            </a:r>
            <a:endParaRPr lang="en-US" sz="1150" dirty="0"/>
          </a:p>
        </p:txBody>
      </p:sp>
      <p:sp>
        <p:nvSpPr>
          <p:cNvPr id="10" name="Shape 8"/>
          <p:cNvSpPr/>
          <p:nvPr/>
        </p:nvSpPr>
        <p:spPr>
          <a:xfrm>
            <a:off x="443484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4800600" y="2715768"/>
            <a:ext cx="420624" cy="420624"/>
          </a:xfrm>
          <a:prstGeom prst="ellipse">
            <a:avLst/>
          </a:prstGeom>
          <a:solidFill>
            <a:srgbClr val="0075C9"/>
          </a:solidFill>
          <a:ln w="12700">
            <a:solidFill>
              <a:srgbClr val="0075C9"/>
            </a:solidFill>
            <a:prstDash val="solid"/>
          </a:ln>
        </p:spPr>
      </p:sp>
      <p:sp>
        <p:nvSpPr>
          <p:cNvPr id="12" name="Text 10"/>
          <p:cNvSpPr/>
          <p:nvPr/>
        </p:nvSpPr>
        <p:spPr>
          <a:xfrm>
            <a:off x="480060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480060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실시간 구동 코드</a:t>
            </a:r>
            <a:endParaRPr lang="en-US" sz="1700" dirty="0"/>
          </a:p>
        </p:txBody>
      </p:sp>
      <p:sp>
        <p:nvSpPr>
          <p:cNvPr id="14" name="Text 12"/>
          <p:cNvSpPr/>
          <p:nvPr/>
        </p:nvSpPr>
        <p:spPr>
          <a:xfrm>
            <a:off x="480060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현장 플레이어에서 코드가 직접 돌아, 날씨·대기질·기관 데이터에 따라 화면이 매일 달라집니다.</a:t>
            </a:r>
            <a:endParaRPr lang="en-US" sz="1150" dirty="0"/>
          </a:p>
        </p:txBody>
      </p:sp>
      <p:sp>
        <p:nvSpPr>
          <p:cNvPr id="15" name="Shape 13"/>
          <p:cNvSpPr/>
          <p:nvPr/>
        </p:nvSpPr>
        <p:spPr>
          <a:xfrm>
            <a:off x="822960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8595360" y="2715768"/>
            <a:ext cx="420624" cy="420624"/>
          </a:xfrm>
          <a:prstGeom prst="ellipse">
            <a:avLst/>
          </a:prstGeom>
          <a:solidFill>
            <a:srgbClr val="101B33"/>
          </a:solidFill>
          <a:ln w="12700">
            <a:solidFill>
              <a:srgbClr val="101B33"/>
            </a:solidFill>
            <a:prstDash val="solid"/>
          </a:ln>
        </p:spPr>
      </p:sp>
      <p:sp>
        <p:nvSpPr>
          <p:cNvPr id="17" name="Text 15"/>
          <p:cNvSpPr/>
          <p:nvPr/>
        </p:nvSpPr>
        <p:spPr>
          <a:xfrm>
            <a:off x="859536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859536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화면까지 포함한 설치</a:t>
            </a:r>
            <a:endParaRPr lang="en-US" sz="1700" dirty="0"/>
          </a:p>
        </p:txBody>
      </p:sp>
      <p:sp>
        <p:nvSpPr>
          <p:cNvPr id="19" name="Text 17"/>
          <p:cNvSpPr/>
          <p:nvPr/>
        </p:nvSpPr>
        <p:spPr>
          <a:xfrm>
            <a:off x="859536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LED 패널·전광판 설치 또는 빔프로젝터 미디어파사드 시공과 콘텐츠를 한 계약으로 납품합니다.</a:t>
            </a:r>
            <a:endParaRPr lang="en-US" sz="1150" dirty="0"/>
          </a:p>
        </p:txBody>
      </p:sp>
      <p:sp>
        <p:nvSpPr>
          <p:cNvPr id="20" name="Text 18"/>
          <p:cNvSpPr/>
          <p:nvPr/>
        </p:nvSpPr>
        <p:spPr>
          <a:xfrm>
            <a:off x="640080" y="580644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화면이 아직 없는 현장은 LED 설치 또는 빔프로젝터 시공까지 한 계약으로 진행합니다.</a:t>
            </a:r>
            <a:endParaRPr lang="en-US" sz="1150" dirty="0"/>
          </a:p>
        </p:txBody>
      </p:sp>
      <p:sp>
        <p:nvSpPr>
          <p:cNvPr id="21"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YOU ASKED</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이런 것까지 해드립니다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담당자분들이 발주 전에 가장 많이 확인하시는 네 가지입니다.</a:t>
            </a:r>
            <a:endParaRPr lang="en-US" sz="1300" dirty="0"/>
          </a:p>
        </p:txBody>
      </p:sp>
      <p:sp>
        <p:nvSpPr>
          <p:cNvPr id="5" name="Shape 3"/>
          <p:cNvSpPr/>
          <p:nvPr/>
        </p:nvSpPr>
        <p:spPr>
          <a:xfrm>
            <a:off x="64008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87552" y="2532888"/>
            <a:ext cx="420624" cy="420624"/>
          </a:xfrm>
          <a:prstGeom prst="ellipse">
            <a:avLst/>
          </a:prstGeom>
          <a:solidFill>
            <a:srgbClr val="0075C9"/>
          </a:solidFill>
          <a:ln w="12700">
            <a:solidFill>
              <a:srgbClr val="0075C9"/>
            </a:solidFill>
            <a:prstDash val="solid"/>
          </a:ln>
        </p:spPr>
      </p:sp>
      <p:sp>
        <p:nvSpPr>
          <p:cNvPr id="7" name="Text 5"/>
          <p:cNvSpPr/>
          <p:nvPr/>
        </p:nvSpPr>
        <p:spPr>
          <a:xfrm>
            <a:off x="98755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55448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원하시는 이미지만 주시면 만듭니다</a:t>
            </a:r>
            <a:endParaRPr lang="en-US" sz="1450" dirty="0"/>
          </a:p>
        </p:txBody>
      </p:sp>
      <p:sp>
        <p:nvSpPr>
          <p:cNvPr id="9" name="Text 7"/>
          <p:cNvSpPr/>
          <p:nvPr/>
        </p:nvSpPr>
        <p:spPr>
          <a:xfrm>
            <a:off x="98755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기관이 원하는 이미지나 참고 예시가 있으면 그것을 재료로 여러 방식으로 뽑아냅니다. 같은 소재를 흐름·입자·타이포·물리 등 다른 방법으로 풀어 시안으로 보여드리고, 고르신 방향으로 완성합니다. 처음부터 무엇을 만들지 정해두지 않으셔도 됩니다. 다만 원하시는 것을 자세히 알려주실수록 시안의 디테일이 올라갑니다.</a:t>
            </a:r>
            <a:endParaRPr lang="en-US" sz="1000" dirty="0"/>
          </a:p>
        </p:txBody>
      </p:sp>
      <p:sp>
        <p:nvSpPr>
          <p:cNvPr id="10" name="Shape 8"/>
          <p:cNvSpPr/>
          <p:nvPr/>
        </p:nvSpPr>
        <p:spPr>
          <a:xfrm>
            <a:off x="630936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6656832" y="2532888"/>
            <a:ext cx="420624" cy="420624"/>
          </a:xfrm>
          <a:prstGeom prst="ellipse">
            <a:avLst/>
          </a:prstGeom>
          <a:solidFill>
            <a:srgbClr val="0075C9"/>
          </a:solidFill>
          <a:ln w="12700">
            <a:solidFill>
              <a:srgbClr val="0075C9"/>
            </a:solidFill>
            <a:prstDash val="solid"/>
          </a:ln>
        </p:spPr>
      </p:sp>
      <p:sp>
        <p:nvSpPr>
          <p:cNvPr id="12" name="Text 10"/>
          <p:cNvSpPr/>
          <p:nvPr/>
        </p:nvSpPr>
        <p:spPr>
          <a:xfrm>
            <a:off x="665683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722376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사이니지 재생 PC 세팅까지 해드립니다</a:t>
            </a:r>
            <a:endParaRPr lang="en-US" sz="1450" dirty="0"/>
          </a:p>
        </p:txBody>
      </p:sp>
      <p:sp>
        <p:nvSpPr>
          <p:cNvPr id="14" name="Text 12"/>
          <p:cNvSpPr/>
          <p:nvPr/>
        </p:nvSpPr>
        <p:spPr>
          <a:xfrm>
            <a:off x="665683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화면만 있고 무엇으로 틀지 정해지지 않은 현장이 많습니다. 콘텐츠를 안정적으로 상시 재생할 재생 PC를 현장 화면 규격에 맞춰 세팅해 전달합니다. 담당자가 별도로 장비를 알아보실 필요가 없습니다.</a:t>
            </a:r>
            <a:endParaRPr lang="en-US" sz="1000" dirty="0"/>
          </a:p>
        </p:txBody>
      </p:sp>
      <p:sp>
        <p:nvSpPr>
          <p:cNvPr id="15" name="Shape 13"/>
          <p:cNvSpPr/>
          <p:nvPr/>
        </p:nvSpPr>
        <p:spPr>
          <a:xfrm>
            <a:off x="640080" y="4480560"/>
            <a:ext cx="5349240" cy="1965960"/>
          </a:xfrm>
          <a:prstGeom prst="roundRect">
            <a:avLst>
              <a:gd name="adj" fmla="val 2791"/>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987552" y="4773168"/>
            <a:ext cx="420624" cy="420624"/>
          </a:xfrm>
          <a:prstGeom prst="ellipse">
            <a:avLst/>
          </a:prstGeom>
          <a:solidFill>
            <a:srgbClr val="101B33"/>
          </a:solidFill>
          <a:ln w="12700">
            <a:solidFill>
              <a:srgbClr val="101B33"/>
            </a:solidFill>
            <a:prstDash val="solid"/>
          </a:ln>
        </p:spPr>
      </p:sp>
      <p:sp>
        <p:nvSpPr>
          <p:cNvPr id="17" name="Text 15"/>
          <p:cNvSpPr/>
          <p:nvPr/>
        </p:nvSpPr>
        <p:spPr>
          <a:xfrm>
            <a:off x="98755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155448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공공 API를 대형 사이니지에서 돌립니다</a:t>
            </a:r>
            <a:endParaRPr lang="en-US" sz="1450" dirty="0"/>
          </a:p>
        </p:txBody>
      </p:sp>
      <p:sp>
        <p:nvSpPr>
          <p:cNvPr id="19" name="Text 17"/>
          <p:cNvSpPr/>
          <p:nvPr/>
        </p:nvSpPr>
        <p:spPr>
          <a:xfrm>
            <a:off x="98755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기존 사이니지 재생 프로그램은 공공 API를 직접 받아 화면에 반영하지 못합니다. 정해진 영상 파일을 순서대로 트는 구조이기 때문입니다. 오늘은 봄날은 자체 개발한 방식으로 공공 API를 실시간으로 읽어 화면에 반영하며, 대형 사이니지에서도 같은 방식이 돌아갑니다. 날씨·대기질·기관 데이터가 바뀌면 화면이 따라 바뀝니다.</a:t>
            </a:r>
            <a:endParaRPr lang="en-US" sz="1000" dirty="0"/>
          </a:p>
        </p:txBody>
      </p:sp>
      <p:sp>
        <p:nvSpPr>
          <p:cNvPr id="20" name="Shape 18"/>
          <p:cNvSpPr/>
          <p:nvPr/>
        </p:nvSpPr>
        <p:spPr>
          <a:xfrm>
            <a:off x="6309360" y="448056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6656832" y="4773168"/>
            <a:ext cx="420624" cy="420624"/>
          </a:xfrm>
          <a:prstGeom prst="ellipse">
            <a:avLst/>
          </a:prstGeom>
          <a:solidFill>
            <a:srgbClr val="0075C9"/>
          </a:solidFill>
          <a:ln w="12700">
            <a:solidFill>
              <a:srgbClr val="0075C9"/>
            </a:solidFill>
            <a:prstDash val="solid"/>
          </a:ln>
        </p:spPr>
      </p:sp>
      <p:sp>
        <p:nvSpPr>
          <p:cNvPr id="22" name="Text 20"/>
          <p:cNvSpPr/>
          <p:nvPr/>
        </p:nvSpPr>
        <p:spPr>
          <a:xfrm>
            <a:off x="665683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23" name="Text 21"/>
          <p:cNvSpPr/>
          <p:nvPr/>
        </p:nvSpPr>
        <p:spPr>
          <a:xfrm>
            <a:off x="722376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API 없이 쓰실 때는 영상으로 드립니다</a:t>
            </a:r>
            <a:endParaRPr lang="en-US" sz="1450" dirty="0"/>
          </a:p>
        </p:txBody>
      </p:sp>
      <p:sp>
        <p:nvSpPr>
          <p:cNvPr id="24" name="Text 22"/>
          <p:cNvSpPr/>
          <p:nvPr/>
        </p:nvSpPr>
        <p:spPr>
          <a:xfrm>
            <a:off x="665683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실시간 연동이 필요 없고 화면만 예쁘게 틀고 싶은 경우에는, 설치된 패널 크기에 맞춰 저희가 렌더링해 영상 파일로 전달드립니다. 기존 재생 장비에 그대로 올리시면 됩니다.</a:t>
            </a:r>
            <a:endParaRPr lang="en-US" sz="1000" dirty="0"/>
          </a:p>
        </p:txBody>
      </p:sp>
      <p:sp>
        <p:nvSpPr>
          <p:cNvPr id="25" name="Text 23"/>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REFERENCES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영남권 공공 현장에서 켜져 있는 화면들</a:t>
            </a:r>
            <a:endParaRPr lang="en-US" sz="3200" dirty="0"/>
          </a:p>
        </p:txBody>
      </p:sp>
      <p:pic>
        <p:nvPicPr>
          <p:cNvPr id="4" name="Image 0" descr="/home/user/oneul-bomnal/assets/works/busan-songdo-wave.jpg">    </p:cNvPr>
          <p:cNvPicPr>
            <a:picLocks noChangeAspect="1"/>
          </p:cNvPicPr>
          <p:nvPr/>
        </p:nvPicPr>
        <p:blipFill>
          <a:blip r:embed="rId1"/>
          <a:srcRect l="0" r="0" t="0" b="0"/>
          <a:stretch/>
        </p:blipFill>
        <p:spPr>
          <a:xfrm>
            <a:off x="640080" y="1783080"/>
            <a:ext cx="3520440" cy="1417320"/>
          </a:xfrm>
          <a:prstGeom prst="rect">
            <a:avLst/>
          </a:prstGeom>
        </p:spPr>
      </p:pic>
      <p:sp>
        <p:nvSpPr>
          <p:cNvPr id="5" name="Text 2"/>
          <p:cNvSpPr/>
          <p:nvPr/>
        </p:nvSpPr>
        <p:spPr>
          <a:xfrm>
            <a:off x="64008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부산 서구청 · 송도</a:t>
            </a:r>
            <a:endParaRPr lang="en-US" sz="1200" dirty="0"/>
          </a:p>
        </p:txBody>
      </p:sp>
      <p:sp>
        <p:nvSpPr>
          <p:cNvPr id="6" name="Text 3"/>
          <p:cNvSpPr/>
          <p:nvPr/>
        </p:nvSpPr>
        <p:spPr>
          <a:xfrm>
            <a:off x="64008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실내 대형 벽면 미디어파사드</a:t>
            </a:r>
            <a:endParaRPr lang="en-US" sz="1000" dirty="0"/>
          </a:p>
        </p:txBody>
      </p:sp>
      <p:pic>
        <p:nvPicPr>
          <p:cNvPr id="7" name="Image 1" descr="/home/user/oneul-bomnal/assets/works/daegu-student-center.jpg">    </p:cNvPr>
          <p:cNvPicPr>
            <a:picLocks noChangeAspect="1"/>
          </p:cNvPicPr>
          <p:nvPr/>
        </p:nvPicPr>
        <p:blipFill>
          <a:blip r:embed="rId2"/>
          <a:srcRect l="0" r="0" t="0" b="0"/>
          <a:stretch/>
        </p:blipFill>
        <p:spPr>
          <a:xfrm>
            <a:off x="4434840" y="1783080"/>
            <a:ext cx="3520440" cy="1417320"/>
          </a:xfrm>
          <a:prstGeom prst="rect">
            <a:avLst/>
          </a:prstGeom>
        </p:spPr>
      </p:pic>
      <p:sp>
        <p:nvSpPr>
          <p:cNvPr id="8" name="Text 4"/>
          <p:cNvSpPr/>
          <p:nvPr/>
        </p:nvSpPr>
        <p:spPr>
          <a:xfrm>
            <a:off x="443484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대구학생문화센터</a:t>
            </a:r>
            <a:endParaRPr lang="en-US" sz="1200" dirty="0"/>
          </a:p>
        </p:txBody>
      </p:sp>
      <p:sp>
        <p:nvSpPr>
          <p:cNvPr id="9" name="Text 5"/>
          <p:cNvSpPr/>
          <p:nvPr/>
        </p:nvSpPr>
        <p:spPr>
          <a:xfrm>
            <a:off x="443484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로비 LED 월 미디어아트</a:t>
            </a:r>
            <a:endParaRPr lang="en-US" sz="1000" dirty="0"/>
          </a:p>
        </p:txBody>
      </p:sp>
      <p:pic>
        <p:nvPicPr>
          <p:cNvPr id="10" name="Image 2" descr="/home/user/oneul-bomnal/assets/works/gumi-summer-night.jpg">    </p:cNvPr>
          <p:cNvPicPr>
            <a:picLocks noChangeAspect="1"/>
          </p:cNvPicPr>
          <p:nvPr/>
        </p:nvPicPr>
        <p:blipFill>
          <a:blip r:embed="rId3"/>
          <a:srcRect l="0" r="0" t="0" b="0"/>
          <a:stretch/>
        </p:blipFill>
        <p:spPr>
          <a:xfrm>
            <a:off x="8229600" y="1783080"/>
            <a:ext cx="3520440" cy="1417320"/>
          </a:xfrm>
          <a:prstGeom prst="rect">
            <a:avLst/>
          </a:prstGeom>
        </p:spPr>
      </p:pic>
      <p:sp>
        <p:nvSpPr>
          <p:cNvPr id="11" name="Text 6"/>
          <p:cNvSpPr/>
          <p:nvPr/>
        </p:nvSpPr>
        <p:spPr>
          <a:xfrm>
            <a:off x="822960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 썸머나잇 페스티벌</a:t>
            </a:r>
            <a:endParaRPr lang="en-US" sz="1200" dirty="0"/>
          </a:p>
        </p:txBody>
      </p:sp>
      <p:sp>
        <p:nvSpPr>
          <p:cNvPr id="12" name="Text 7"/>
          <p:cNvSpPr/>
          <p:nvPr/>
        </p:nvSpPr>
        <p:spPr>
          <a:xfrm>
            <a:off x="822960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pic>
        <p:nvPicPr>
          <p:cNvPr id="13" name="Image 3" descr="/home/user/oneul-bomnal/assets/works/gbe-gumico-exhibition.jpg">    </p:cNvPr>
          <p:cNvPicPr>
            <a:picLocks noChangeAspect="1"/>
          </p:cNvPicPr>
          <p:nvPr/>
        </p:nvPicPr>
        <p:blipFill>
          <a:blip r:embed="rId4"/>
          <a:srcRect l="0" r="0" t="0" b="0"/>
          <a:stretch/>
        </p:blipFill>
        <p:spPr>
          <a:xfrm>
            <a:off x="640080" y="3931920"/>
            <a:ext cx="3520440" cy="1417320"/>
          </a:xfrm>
          <a:prstGeom prst="rect">
            <a:avLst/>
          </a:prstGeom>
        </p:spPr>
      </p:pic>
      <p:sp>
        <p:nvSpPr>
          <p:cNvPr id="14" name="Text 8"/>
          <p:cNvSpPr/>
          <p:nvPr/>
        </p:nvSpPr>
        <p:spPr>
          <a:xfrm>
            <a:off x="64008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경북교육청 · 구미코 전시</a:t>
            </a:r>
            <a:endParaRPr lang="en-US" sz="1200" dirty="0"/>
          </a:p>
        </p:txBody>
      </p:sp>
      <p:sp>
        <p:nvSpPr>
          <p:cNvPr id="15" name="Text 9"/>
          <p:cNvSpPr/>
          <p:nvPr/>
        </p:nvSpPr>
        <p:spPr>
          <a:xfrm>
            <a:off x="64008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전시장 미디어파사드</a:t>
            </a:r>
            <a:endParaRPr lang="en-US" sz="1000" dirty="0"/>
          </a:p>
        </p:txBody>
      </p:sp>
      <p:pic>
        <p:nvPicPr>
          <p:cNvPr id="16" name="Image 4" descr="/home/user/oneul-bomnal/assets/works/gumico-signage-yeongchae.jpg">    </p:cNvPr>
          <p:cNvPicPr>
            <a:picLocks noChangeAspect="1"/>
          </p:cNvPicPr>
          <p:nvPr/>
        </p:nvPicPr>
        <p:blipFill>
          <a:blip r:embed="rId5"/>
          <a:srcRect l="0" r="0" t="0" b="0"/>
          <a:stretch/>
        </p:blipFill>
        <p:spPr>
          <a:xfrm>
            <a:off x="4434840" y="3931920"/>
            <a:ext cx="3520440" cy="1417320"/>
          </a:xfrm>
          <a:prstGeom prst="rect">
            <a:avLst/>
          </a:prstGeom>
        </p:spPr>
      </p:pic>
      <p:sp>
        <p:nvSpPr>
          <p:cNvPr id="17" name="Text 10"/>
          <p:cNvSpPr/>
          <p:nvPr/>
        </p:nvSpPr>
        <p:spPr>
          <a:xfrm>
            <a:off x="443484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구미코 · 로비 사이니지</a:t>
            </a:r>
            <a:endParaRPr lang="en-US" sz="1200" dirty="0"/>
          </a:p>
        </p:txBody>
      </p:sp>
      <p:sp>
        <p:nvSpPr>
          <p:cNvPr id="18" name="Text 11"/>
          <p:cNvSpPr/>
          <p:nvPr/>
        </p:nvSpPr>
        <p:spPr>
          <a:xfrm>
            <a:off x="443484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세로형 LED 사이니지</a:t>
            </a:r>
            <a:endParaRPr lang="en-US" sz="1000" dirty="0"/>
          </a:p>
        </p:txBody>
      </p:sp>
      <p:pic>
        <p:nvPicPr>
          <p:cNvPr id="19" name="Image 5" descr="/home/user/oneul-bomnal/assets/works/andong-station-facade.jpg">    </p:cNvPr>
          <p:cNvPicPr>
            <a:picLocks noChangeAspect="1"/>
          </p:cNvPicPr>
          <p:nvPr/>
        </p:nvPicPr>
        <p:blipFill>
          <a:blip r:embed="rId6"/>
          <a:srcRect l="0" r="0" t="0" b="0"/>
          <a:stretch/>
        </p:blipFill>
        <p:spPr>
          <a:xfrm>
            <a:off x="8229600" y="3931920"/>
            <a:ext cx="3520440" cy="1417320"/>
          </a:xfrm>
          <a:prstGeom prst="rect">
            <a:avLst/>
          </a:prstGeom>
        </p:spPr>
      </p:pic>
      <p:sp>
        <p:nvSpPr>
          <p:cNvPr id="20" name="Text 12"/>
          <p:cNvSpPr/>
          <p:nvPr/>
        </p:nvSpPr>
        <p:spPr>
          <a:xfrm>
            <a:off x="822960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안동 · 모디684</a:t>
            </a:r>
            <a:endParaRPr lang="en-US" sz="1200" dirty="0"/>
          </a:p>
        </p:txBody>
      </p:sp>
      <p:sp>
        <p:nvSpPr>
          <p:cNvPr id="21" name="Text 13"/>
          <p:cNvSpPr/>
          <p:nvPr/>
        </p:nvSpPr>
        <p:spPr>
          <a:xfrm>
            <a:off x="822960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sp>
        <p:nvSpPr>
          <p:cNvPr id="22" name="Text 14"/>
          <p:cNvSpPr/>
          <p:nvPr/>
        </p:nvSpPr>
        <p:spPr>
          <a:xfrm>
            <a:off x="640080" y="6053328"/>
            <a:ext cx="9875520" cy="457200"/>
          </a:xfrm>
          <a:prstGeom prst="rect">
            <a:avLst/>
          </a:prstGeom>
          <a:noFill/>
          <a:ln/>
        </p:spPr>
        <p:txBody>
          <a:bodyPr wrap="square" lIns="0" tIns="0" rIns="0" bIns="0" rtlCol="0" anchor="ctr"/>
          <a:lstStyle/>
          <a:p>
            <a:pPr indent="0" marL="0">
              <a:lnSpc>
                <a:spcPts val="1400"/>
              </a:lnSpc>
              <a:buNone/>
            </a:pPr>
            <a:r>
              <a:rPr lang="en-US" sz="1000" dirty="0">
                <a:solidFill>
                  <a:srgbClr val="8A93A3"/>
                </a:solidFill>
                <a:latin typeface="맑은 고딕" pitchFamily="34" charset="0"/>
                <a:ea typeface="맑은 고딕" pitchFamily="34" charset="-122"/>
                <a:cs typeface="맑은 고딕" pitchFamily="34" charset="-120"/>
              </a:rPr>
              <a:t>위 현장은 상상연필과 함께 수행한 레퍼런스입니다. 오늘은 봄날 명의의 납품 실적은 대구 북구청 사이니지 미디어아트 3편이며, 입찰·수의계약용 실적증명서는 요청 시 발송합니다.</a:t>
            </a:r>
            <a:endParaRPr lang="en-US" sz="1000" dirty="0"/>
          </a:p>
        </p:txBody>
      </p:sp>
      <p:sp>
        <p:nvSpPr>
          <p:cNvPr id="23" name="Text 1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CREDENTIALS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공공 발주에 바로 대응합니다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여성기업이므로 공공기관 우선구매 대상이며, 직접생산확인증명서로 중소기업자간 경쟁입찰에 즉시 참여합니다.</a:t>
            </a:r>
            <a:endParaRPr lang="en-US" sz="1300" dirty="0"/>
          </a:p>
        </p:txBody>
      </p:sp>
      <p:sp>
        <p:nvSpPr>
          <p:cNvPr id="5" name="Shape 3"/>
          <p:cNvSpPr/>
          <p:nvPr/>
        </p:nvSpPr>
        <p:spPr>
          <a:xfrm>
            <a:off x="640080" y="2331720"/>
            <a:ext cx="5349240" cy="1234440"/>
          </a:xfrm>
          <a:prstGeom prst="roundRect">
            <a:avLst>
              <a:gd name="adj" fmla="val 4444"/>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Text 4"/>
          <p:cNvSpPr/>
          <p:nvPr/>
        </p:nvSpPr>
        <p:spPr>
          <a:xfrm>
            <a:off x="98755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여성기업 확인서</a:t>
            </a:r>
            <a:endParaRPr lang="en-US" sz="1400" dirty="0"/>
          </a:p>
        </p:txBody>
      </p:sp>
      <p:sp>
        <p:nvSpPr>
          <p:cNvPr id="7" name="Text 5"/>
          <p:cNvSpPr/>
          <p:nvPr/>
        </p:nvSpPr>
        <p:spPr>
          <a:xfrm>
            <a:off x="98755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제0113-2025-35456호   ·   유효 2025.11.07 ~ 2028.11.06</a:t>
            </a:r>
            <a:endParaRPr lang="en-US" sz="1100" dirty="0"/>
          </a:p>
        </p:txBody>
      </p:sp>
      <p:sp>
        <p:nvSpPr>
          <p:cNvPr id="8" name="Text 6"/>
          <p:cNvSpPr/>
          <p:nvPr/>
        </p:nvSpPr>
        <p:spPr>
          <a:xfrm>
            <a:off x="98755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공공기관 우선구매 대상</a:t>
            </a:r>
            <a:endParaRPr lang="en-US" sz="1050" dirty="0"/>
          </a:p>
        </p:txBody>
      </p:sp>
      <p:sp>
        <p:nvSpPr>
          <p:cNvPr id="9" name="Shape 7"/>
          <p:cNvSpPr/>
          <p:nvPr/>
        </p:nvSpPr>
        <p:spPr>
          <a:xfrm>
            <a:off x="6309360" y="2331720"/>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8"/>
          <p:cNvSpPr/>
          <p:nvPr/>
        </p:nvSpPr>
        <p:spPr>
          <a:xfrm>
            <a:off x="665683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직접생산확인증명서</a:t>
            </a:r>
            <a:endParaRPr lang="en-US" sz="1400" dirty="0"/>
          </a:p>
        </p:txBody>
      </p:sp>
      <p:sp>
        <p:nvSpPr>
          <p:cNvPr id="11" name="Text 9"/>
          <p:cNvSpPr/>
          <p:nvPr/>
        </p:nvSpPr>
        <p:spPr>
          <a:xfrm>
            <a:off x="665683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제2025-0495-02141호   ·   유효 2025.10.29 ~ 2027.10.28</a:t>
            </a:r>
            <a:endParaRPr lang="en-US" sz="1100" dirty="0"/>
          </a:p>
        </p:txBody>
      </p:sp>
      <p:sp>
        <p:nvSpPr>
          <p:cNvPr id="12" name="Text 10"/>
          <p:cNvSpPr/>
          <p:nvPr/>
        </p:nvSpPr>
        <p:spPr>
          <a:xfrm>
            <a:off x="665683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동영상제작서비스 · 중소기업자간 경쟁입찰 참여</a:t>
            </a:r>
            <a:endParaRPr lang="en-US" sz="1050" dirty="0"/>
          </a:p>
        </p:txBody>
      </p:sp>
      <p:sp>
        <p:nvSpPr>
          <p:cNvPr id="13" name="Shape 11"/>
          <p:cNvSpPr/>
          <p:nvPr/>
        </p:nvSpPr>
        <p:spPr>
          <a:xfrm>
            <a:off x="64008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2"/>
          <p:cNvSpPr/>
          <p:nvPr/>
        </p:nvSpPr>
        <p:spPr>
          <a:xfrm>
            <a:off x="98755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비디오물제작업 신고증</a:t>
            </a:r>
            <a:endParaRPr lang="en-US" sz="1400" dirty="0"/>
          </a:p>
        </p:txBody>
      </p:sp>
      <p:sp>
        <p:nvSpPr>
          <p:cNvPr id="15" name="Text 13"/>
          <p:cNvSpPr/>
          <p:nvPr/>
        </p:nvSpPr>
        <p:spPr>
          <a:xfrm>
            <a:off x="98755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제2025-000019호</a:t>
            </a:r>
            <a:endParaRPr lang="en-US" sz="1100" dirty="0"/>
          </a:p>
        </p:txBody>
      </p:sp>
      <p:sp>
        <p:nvSpPr>
          <p:cNvPr id="16" name="Text 14"/>
          <p:cNvSpPr/>
          <p:nvPr/>
        </p:nvSpPr>
        <p:spPr>
          <a:xfrm>
            <a:off x="98755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영상물 제작업 등록</a:t>
            </a:r>
            <a:endParaRPr lang="en-US" sz="1050" dirty="0"/>
          </a:p>
        </p:txBody>
      </p:sp>
      <p:sp>
        <p:nvSpPr>
          <p:cNvPr id="17" name="Shape 15"/>
          <p:cNvSpPr/>
          <p:nvPr/>
        </p:nvSpPr>
        <p:spPr>
          <a:xfrm>
            <a:off x="630936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8" name="Text 16"/>
          <p:cNvSpPr/>
          <p:nvPr/>
        </p:nvSpPr>
        <p:spPr>
          <a:xfrm>
            <a:off x="665683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방송영상독립제작사 신고증</a:t>
            </a:r>
            <a:endParaRPr lang="en-US" sz="1400" dirty="0"/>
          </a:p>
        </p:txBody>
      </p:sp>
      <p:sp>
        <p:nvSpPr>
          <p:cNvPr id="19" name="Text 17"/>
          <p:cNvSpPr/>
          <p:nvPr/>
        </p:nvSpPr>
        <p:spPr>
          <a:xfrm>
            <a:off x="665683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제12235호</a:t>
            </a:r>
            <a:endParaRPr lang="en-US" sz="1100" dirty="0"/>
          </a:p>
        </p:txBody>
      </p:sp>
      <p:sp>
        <p:nvSpPr>
          <p:cNvPr id="20" name="Text 18"/>
          <p:cNvSpPr/>
          <p:nvPr/>
        </p:nvSpPr>
        <p:spPr>
          <a:xfrm>
            <a:off x="665683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방송영상 독립제작사</a:t>
            </a:r>
            <a:endParaRPr lang="en-US" sz="1050" dirty="0"/>
          </a:p>
        </p:txBody>
      </p:sp>
      <p:sp>
        <p:nvSpPr>
          <p:cNvPr id="21" name="Shape 19"/>
          <p:cNvSpPr/>
          <p:nvPr/>
        </p:nvSpPr>
        <p:spPr>
          <a:xfrm>
            <a:off x="640080" y="5349240"/>
            <a:ext cx="10972800" cy="868680"/>
          </a:xfrm>
          <a:prstGeom prst="roundRect">
            <a:avLst>
              <a:gd name="adj" fmla="val 6316"/>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2" name="Text 20"/>
          <p:cNvSpPr/>
          <p:nvPr/>
        </p:nvSpPr>
        <p:spPr>
          <a:xfrm>
            <a:off x="960120" y="5532120"/>
            <a:ext cx="10332720" cy="502920"/>
          </a:xfrm>
          <a:prstGeom prst="rect">
            <a:avLst/>
          </a:prstGeom>
          <a:noFill/>
          <a:ln/>
        </p:spPr>
        <p:txBody>
          <a:bodyPr wrap="square" lIns="0" tIns="0" rIns="0" bIns="0" rtlCol="0" anchor="ctr"/>
          <a:lstStyle/>
          <a:p>
            <a:pPr indent="0" marL="0">
              <a:buNone/>
            </a:pPr>
            <a:r>
              <a:rPr lang="en-US" sz="1150" dirty="0">
                <a:solidFill>
                  <a:srgbClr val="101B33"/>
                </a:solidFill>
                <a:latin typeface="맑은 고딕" pitchFamily="34" charset="0"/>
                <a:ea typeface="맑은 고딕" pitchFamily="34" charset="-122"/>
                <a:cs typeface="맑은 고딕" pitchFamily="34" charset="-120"/>
              </a:rPr>
              <a:t>시공 지역   대구광역시 · 경상북도 · 부산광역시 · 경상남도 · 울산광역시      |      대구·경북 우선, 부산·경남·울산까지 시공. 그 외 지역은 협의.</a:t>
            </a:r>
            <a:endParaRPr lang="en-US" sz="1150" dirty="0"/>
          </a:p>
        </p:txBody>
      </p:sp>
      <p:sp>
        <p:nvSpPr>
          <p:cNvPr id="23" name="Text 21"/>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사업비 구성</a:t>
            </a:r>
            <a:endParaRPr lang="en-US" sz="3200" dirty="0"/>
          </a:p>
        </p:txBody>
      </p:sp>
      <p:sp>
        <p:nvSpPr>
          <p:cNvPr id="4" name="Shape 2"/>
          <p:cNvSpPr/>
          <p:nvPr/>
        </p:nvSpPr>
        <p:spPr>
          <a:xfrm>
            <a:off x="640080" y="1920240"/>
            <a:ext cx="10881360" cy="1371600"/>
          </a:xfrm>
          <a:prstGeom prst="roundRect">
            <a:avLst>
              <a:gd name="adj" fmla="val 4000"/>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Text 3"/>
          <p:cNvSpPr/>
          <p:nvPr/>
        </p:nvSpPr>
        <p:spPr>
          <a:xfrm>
            <a:off x="1005840" y="2148840"/>
            <a:ext cx="1828800" cy="292608"/>
          </a:xfrm>
          <a:prstGeom prst="rect">
            <a:avLst/>
          </a:prstGeom>
          <a:noFill/>
          <a:ln/>
        </p:spPr>
        <p:txBody>
          <a:bodyPr wrap="square" lIns="0" tIns="0" rIns="0" bIns="0" rtlCol="0" anchor="ctr"/>
          <a:lstStyle/>
          <a:p>
            <a:pPr indent="0" marL="0">
              <a:buNone/>
            </a:pPr>
            <a:r>
              <a:rPr lang="en-US" sz="1200" b="1" dirty="0">
                <a:solidFill>
                  <a:srgbClr val="4A5262"/>
                </a:solidFill>
                <a:latin typeface="맑은 고딕" pitchFamily="34" charset="0"/>
                <a:ea typeface="맑은 고딕" pitchFamily="34" charset="-122"/>
                <a:cs typeface="맑은 고딕" pitchFamily="34" charset="-120"/>
              </a:rPr>
              <a:t>총 사업비</a:t>
            </a:r>
            <a:endParaRPr lang="en-US" sz="1200" dirty="0"/>
          </a:p>
        </p:txBody>
      </p:sp>
      <p:sp>
        <p:nvSpPr>
          <p:cNvPr id="6" name="Text 4"/>
          <p:cNvSpPr/>
          <p:nvPr/>
        </p:nvSpPr>
        <p:spPr>
          <a:xfrm>
            <a:off x="1005840" y="2450592"/>
            <a:ext cx="2743200" cy="548640"/>
          </a:xfrm>
          <a:prstGeom prst="rect">
            <a:avLst/>
          </a:prstGeom>
          <a:noFill/>
          <a:ln/>
        </p:spPr>
        <p:txBody>
          <a:bodyPr wrap="square" lIns="0" tIns="0" rIns="0" bIns="0" rtlCol="0" anchor="ctr"/>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4,000만원</a:t>
            </a:r>
            <a:endParaRPr lang="en-US" sz="3000" dirty="0"/>
          </a:p>
        </p:txBody>
      </p:sp>
      <p:sp>
        <p:nvSpPr>
          <p:cNvPr id="7" name="Shape 5"/>
          <p:cNvSpPr/>
          <p:nvPr/>
        </p:nvSpPr>
        <p:spPr>
          <a:xfrm>
            <a:off x="4206240" y="2395728"/>
            <a:ext cx="5559552" cy="566928"/>
          </a:xfrm>
          <a:prstGeom prst="rect">
            <a:avLst/>
          </a:prstGeom>
          <a:solidFill>
            <a:srgbClr val="0075C9"/>
          </a:solidFill>
          <a:ln/>
        </p:spPr>
      </p:sp>
      <p:sp>
        <p:nvSpPr>
          <p:cNvPr id="8" name="Shape 6"/>
          <p:cNvSpPr/>
          <p:nvPr/>
        </p:nvSpPr>
        <p:spPr>
          <a:xfrm>
            <a:off x="9765792" y="2395728"/>
            <a:ext cx="1389888" cy="566928"/>
          </a:xfrm>
          <a:prstGeom prst="rect">
            <a:avLst/>
          </a:prstGeom>
          <a:solidFill>
            <a:srgbClr val="101B33"/>
          </a:solidFill>
          <a:ln/>
        </p:spPr>
      </p:sp>
      <p:sp>
        <p:nvSpPr>
          <p:cNvPr id="9" name="Text 7"/>
          <p:cNvSpPr/>
          <p:nvPr/>
        </p:nvSpPr>
        <p:spPr>
          <a:xfrm>
            <a:off x="4352544" y="2395728"/>
            <a:ext cx="5285232" cy="566928"/>
          </a:xfrm>
          <a:prstGeom prst="rect">
            <a:avLst/>
          </a:prstGeom>
          <a:noFill/>
          <a:ln/>
        </p:spPr>
        <p:txBody>
          <a:bodyPr wrap="square" lIns="0" tIns="0" rIns="0" bIns="0" rtlCol="0" anchor="ct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정부지원금 80%   3,200만원</a:t>
            </a:r>
            <a:endParaRPr lang="en-US" sz="1250" dirty="0"/>
          </a:p>
        </p:txBody>
      </p:sp>
      <p:sp>
        <p:nvSpPr>
          <p:cNvPr id="10" name="Text 8"/>
          <p:cNvSpPr/>
          <p:nvPr/>
        </p:nvSpPr>
        <p:spPr>
          <a:xfrm>
            <a:off x="9875520" y="2377440"/>
            <a:ext cx="1389888" cy="603504"/>
          </a:xfrm>
          <a:prstGeom prst="rect">
            <a:avLst/>
          </a:prstGeom>
          <a:noFill/>
          <a:ln/>
        </p:spPr>
        <p:txBody>
          <a:bodyPr wrap="square" lIns="0" tIns="0" rIns="0" bIns="0" rtlCol="0" anchor="ctr"/>
          <a:lstStyle/>
          <a:p>
            <a:pPr indent="0" marL="0">
              <a:lnSpc>
                <a:spcPts val="1100"/>
              </a:lnSpc>
              <a:buNone/>
            </a:pPr>
            <a:r>
              <a:rPr lang="en-US" sz="950" b="1" dirty="0">
                <a:solidFill>
                  <a:srgbClr val="FFFFFF"/>
                </a:solidFill>
                <a:latin typeface="맑은 고딕" pitchFamily="34" charset="0"/>
                <a:ea typeface="맑은 고딕" pitchFamily="34" charset="-122"/>
                <a:cs typeface="맑은 고딕" pitchFamily="34" charset="-120"/>
              </a:rPr>
              <a:t>대응자금 20%</a:t>
            </a:r>
            <a:endParaRPr lang="en-US" sz="950" dirty="0"/>
          </a:p>
          <a:p>
            <a:pPr indent="0" marL="0">
              <a:lnSpc>
                <a:spcPts val="1100"/>
              </a:lnSpc>
              <a:buNone/>
            </a:pPr>
            <a:r>
              <a:rPr lang="en-US" sz="950" b="1" dirty="0">
                <a:solidFill>
                  <a:srgbClr val="FFFFFF"/>
                </a:solidFill>
                <a:latin typeface="맑은 고딕" pitchFamily="34" charset="0"/>
                <a:ea typeface="맑은 고딕" pitchFamily="34" charset="-122"/>
                <a:cs typeface="맑은 고딕" pitchFamily="34" charset="-120"/>
              </a:rPr>
              <a:t>800만원</a:t>
            </a:r>
            <a:endParaRPr lang="en-US" sz="950" dirty="0"/>
          </a:p>
        </p:txBody>
      </p:sp>
      <p:sp>
        <p:nvSpPr>
          <p:cNvPr id="11" name="Text 9"/>
          <p:cNvSpPr/>
          <p:nvPr/>
        </p:nvSpPr>
        <p:spPr>
          <a:xfrm>
            <a:off x="4206240" y="3054096"/>
            <a:ext cx="6949440" cy="274320"/>
          </a:xfrm>
          <a:prstGeom prst="rect">
            <a:avLst/>
          </a:prstGeom>
          <a:noFill/>
          <a:ln/>
        </p:spPr>
        <p:txBody>
          <a:bodyPr wrap="square" lIns="0" tIns="0" rIns="0" bIns="0" rtlCol="0" anchor="ctr"/>
          <a:lstStyle/>
          <a:p>
            <a:pPr indent="0" marL="0">
              <a:buNone/>
            </a:pPr>
            <a:r>
              <a:rPr lang="en-US" sz="950" dirty="0">
                <a:solidFill>
                  <a:srgbClr val="4A5262"/>
                </a:solidFill>
                <a:latin typeface="맑은 고딕" pitchFamily="34" charset="0"/>
                <a:ea typeface="맑은 고딕" pitchFamily="34" charset="-122"/>
                <a:cs typeface="맑은 고딕" pitchFamily="34" charset="-120"/>
              </a:rPr>
              <a:t>대응자금은 현금 또는 현물. 현물은 대표자·기 고용 인력 인건비, 사무실 임차료, 이행보증보험증권 수수료.</a:t>
            </a:r>
            <a:endParaRPr lang="en-US" sz="950" dirty="0"/>
          </a:p>
        </p:txBody>
      </p:sp>
      <p:sp>
        <p:nvSpPr>
          <p:cNvPr id="12" name="Text 10"/>
          <p:cNvSpPr/>
          <p:nvPr/>
        </p:nvSpPr>
        <p:spPr>
          <a:xfrm>
            <a:off x="640080" y="3346704"/>
            <a:ext cx="5486400" cy="237744"/>
          </a:xfrm>
          <a:prstGeom prst="rect">
            <a:avLst/>
          </a:prstGeom>
          <a:noFill/>
          <a:ln/>
        </p:spPr>
        <p:txBody>
          <a:bodyPr wrap="square" lIns="0" tIns="0" rIns="0" bIns="0" rtlCol="0" anchor="ctr"/>
          <a:lstStyle/>
          <a:p>
            <a:pPr indent="0" marL="0">
              <a:buNone/>
            </a:pPr>
            <a:r>
              <a:rPr lang="en-US" sz="1100" b="1" dirty="0">
                <a:solidFill>
                  <a:srgbClr val="0075C9"/>
                </a:solidFill>
                <a:latin typeface="맑은 고딕" pitchFamily="34" charset="0"/>
                <a:ea typeface="맑은 고딕" pitchFamily="34" charset="-122"/>
                <a:cs typeface="맑은 고딕" pitchFamily="34" charset="-120"/>
              </a:rPr>
              <a:t>정부지원금 비목별 배분</a:t>
            </a:r>
            <a:endParaRPr lang="en-US" sz="1100" dirty="0"/>
          </a:p>
        </p:txBody>
      </p:sp>
      <p:sp>
        <p:nvSpPr>
          <p:cNvPr id="13" name="Text 11"/>
          <p:cNvSpPr/>
          <p:nvPr/>
        </p:nvSpPr>
        <p:spPr>
          <a:xfrm>
            <a:off x="685800" y="3621024"/>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제품·서비스 고도화</a:t>
            </a:r>
            <a:endParaRPr lang="en-US" sz="900" dirty="0"/>
          </a:p>
        </p:txBody>
      </p:sp>
      <p:sp>
        <p:nvSpPr>
          <p:cNvPr id="14" name="Text 12"/>
          <p:cNvSpPr/>
          <p:nvPr/>
        </p:nvSpPr>
        <p:spPr>
          <a:xfrm>
            <a:off x="2834640" y="3621024"/>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온 미디어아트 에디트 고도화 외주</a:t>
            </a:r>
            <a:endParaRPr lang="en-US" sz="900" dirty="0"/>
          </a:p>
        </p:txBody>
      </p:sp>
      <p:sp>
        <p:nvSpPr>
          <p:cNvPr id="15" name="Shape 13"/>
          <p:cNvSpPr/>
          <p:nvPr/>
        </p:nvSpPr>
        <p:spPr>
          <a:xfrm>
            <a:off x="7635240" y="3700272"/>
            <a:ext cx="2377440" cy="128016"/>
          </a:xfrm>
          <a:prstGeom prst="rect">
            <a:avLst/>
          </a:prstGeom>
          <a:solidFill>
            <a:srgbClr val="0075C9"/>
          </a:solidFill>
          <a:ln/>
        </p:spPr>
      </p:sp>
      <p:sp>
        <p:nvSpPr>
          <p:cNvPr id="16" name="Text 14"/>
          <p:cNvSpPr/>
          <p:nvPr/>
        </p:nvSpPr>
        <p:spPr>
          <a:xfrm>
            <a:off x="10104120" y="3621024"/>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960만원</a:t>
            </a:r>
            <a:endParaRPr lang="en-US" sz="900" dirty="0"/>
          </a:p>
        </p:txBody>
      </p:sp>
      <p:sp>
        <p:nvSpPr>
          <p:cNvPr id="17" name="Shape 15"/>
          <p:cNvSpPr/>
          <p:nvPr/>
        </p:nvSpPr>
        <p:spPr>
          <a:xfrm>
            <a:off x="685800" y="3907536"/>
            <a:ext cx="10789920" cy="0"/>
          </a:xfrm>
          <a:prstGeom prst="line">
            <a:avLst/>
          </a:prstGeom>
          <a:noFill/>
          <a:ln w="12700">
            <a:solidFill>
              <a:srgbClr val="DFE3EA"/>
            </a:solidFill>
            <a:prstDash val="solid"/>
          </a:ln>
        </p:spPr>
      </p:sp>
      <p:sp>
        <p:nvSpPr>
          <p:cNvPr id="18" name="Text 16"/>
          <p:cNvSpPr/>
          <p:nvPr/>
        </p:nvSpPr>
        <p:spPr>
          <a:xfrm>
            <a:off x="685800" y="3907536"/>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AI 활용 도입</a:t>
            </a:r>
            <a:endParaRPr lang="en-US" sz="900" dirty="0"/>
          </a:p>
        </p:txBody>
      </p:sp>
      <p:sp>
        <p:nvSpPr>
          <p:cNvPr id="19" name="Text 17"/>
          <p:cNvSpPr/>
          <p:nvPr/>
        </p:nvSpPr>
        <p:spPr>
          <a:xfrm>
            <a:off x="2834640" y="3907536"/>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공공 API · 기관 DB 연동 모듈</a:t>
            </a:r>
            <a:endParaRPr lang="en-US" sz="900" dirty="0"/>
          </a:p>
        </p:txBody>
      </p:sp>
      <p:sp>
        <p:nvSpPr>
          <p:cNvPr id="20" name="Shape 18"/>
          <p:cNvSpPr/>
          <p:nvPr/>
        </p:nvSpPr>
        <p:spPr>
          <a:xfrm>
            <a:off x="7635240" y="3986784"/>
            <a:ext cx="1426464" cy="128016"/>
          </a:xfrm>
          <a:prstGeom prst="rect">
            <a:avLst/>
          </a:prstGeom>
          <a:solidFill>
            <a:srgbClr val="0075C9"/>
          </a:solidFill>
          <a:ln/>
        </p:spPr>
      </p:sp>
      <p:sp>
        <p:nvSpPr>
          <p:cNvPr id="21" name="Text 19"/>
          <p:cNvSpPr/>
          <p:nvPr/>
        </p:nvSpPr>
        <p:spPr>
          <a:xfrm>
            <a:off x="10104120" y="3907536"/>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576만원</a:t>
            </a:r>
            <a:endParaRPr lang="en-US" sz="900" dirty="0"/>
          </a:p>
        </p:txBody>
      </p:sp>
      <p:sp>
        <p:nvSpPr>
          <p:cNvPr id="22" name="Shape 20"/>
          <p:cNvSpPr/>
          <p:nvPr/>
        </p:nvSpPr>
        <p:spPr>
          <a:xfrm>
            <a:off x="685800" y="4194048"/>
            <a:ext cx="10789920" cy="0"/>
          </a:xfrm>
          <a:prstGeom prst="line">
            <a:avLst/>
          </a:prstGeom>
          <a:noFill/>
          <a:ln w="12700">
            <a:solidFill>
              <a:srgbClr val="DFE3EA"/>
            </a:solidFill>
            <a:prstDash val="solid"/>
          </a:ln>
        </p:spPr>
      </p:sp>
      <p:sp>
        <p:nvSpPr>
          <p:cNvPr id="23" name="Text 21"/>
          <p:cNvSpPr/>
          <p:nvPr/>
        </p:nvSpPr>
        <p:spPr>
          <a:xfrm>
            <a:off x="685800" y="4194048"/>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홍보비</a:t>
            </a:r>
            <a:endParaRPr lang="en-US" sz="900" dirty="0"/>
          </a:p>
        </p:txBody>
      </p:sp>
      <p:sp>
        <p:nvSpPr>
          <p:cNvPr id="24" name="Text 22"/>
          <p:cNvSpPr/>
          <p:nvPr/>
        </p:nvSpPr>
        <p:spPr>
          <a:xfrm>
            <a:off x="2834640" y="4194048"/>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다국어 홍보 시퀀스 확장 · 현지 감수</a:t>
            </a:r>
            <a:endParaRPr lang="en-US" sz="900" dirty="0"/>
          </a:p>
        </p:txBody>
      </p:sp>
      <p:sp>
        <p:nvSpPr>
          <p:cNvPr id="25" name="Shape 23"/>
          <p:cNvSpPr/>
          <p:nvPr/>
        </p:nvSpPr>
        <p:spPr>
          <a:xfrm>
            <a:off x="7635240" y="4273296"/>
            <a:ext cx="554736" cy="128016"/>
          </a:xfrm>
          <a:prstGeom prst="rect">
            <a:avLst/>
          </a:prstGeom>
          <a:solidFill>
            <a:srgbClr val="0075C9"/>
          </a:solidFill>
          <a:ln/>
        </p:spPr>
      </p:sp>
      <p:sp>
        <p:nvSpPr>
          <p:cNvPr id="26" name="Text 24"/>
          <p:cNvSpPr/>
          <p:nvPr/>
        </p:nvSpPr>
        <p:spPr>
          <a:xfrm>
            <a:off x="10104120" y="4194048"/>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224만원</a:t>
            </a:r>
            <a:endParaRPr lang="en-US" sz="900" dirty="0"/>
          </a:p>
        </p:txBody>
      </p:sp>
      <p:sp>
        <p:nvSpPr>
          <p:cNvPr id="27" name="Shape 25"/>
          <p:cNvSpPr/>
          <p:nvPr/>
        </p:nvSpPr>
        <p:spPr>
          <a:xfrm>
            <a:off x="685800" y="4480560"/>
            <a:ext cx="10789920" cy="0"/>
          </a:xfrm>
          <a:prstGeom prst="line">
            <a:avLst/>
          </a:prstGeom>
          <a:noFill/>
          <a:ln w="12700">
            <a:solidFill>
              <a:srgbClr val="DFE3EA"/>
            </a:solidFill>
            <a:prstDash val="solid"/>
          </a:ln>
        </p:spPr>
      </p:sp>
      <p:sp>
        <p:nvSpPr>
          <p:cNvPr id="28" name="Text 26"/>
          <p:cNvSpPr/>
          <p:nvPr/>
        </p:nvSpPr>
        <p:spPr>
          <a:xfrm>
            <a:off x="685800" y="4480560"/>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수수료및사용료</a:t>
            </a:r>
            <a:endParaRPr lang="en-US" sz="900" dirty="0"/>
          </a:p>
        </p:txBody>
      </p:sp>
      <p:sp>
        <p:nvSpPr>
          <p:cNvPr id="29" name="Text 27"/>
          <p:cNvSpPr/>
          <p:nvPr/>
        </p:nvSpPr>
        <p:spPr>
          <a:xfrm>
            <a:off x="2834640" y="4480560"/>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AI 솔루션 이용료 · 라이선스 · 구독료</a:t>
            </a:r>
            <a:endParaRPr lang="en-US" sz="900" dirty="0"/>
          </a:p>
        </p:txBody>
      </p:sp>
      <p:sp>
        <p:nvSpPr>
          <p:cNvPr id="30" name="Shape 28"/>
          <p:cNvSpPr/>
          <p:nvPr/>
        </p:nvSpPr>
        <p:spPr>
          <a:xfrm>
            <a:off x="7635240" y="4559808"/>
            <a:ext cx="950976" cy="128016"/>
          </a:xfrm>
          <a:prstGeom prst="rect">
            <a:avLst/>
          </a:prstGeom>
          <a:solidFill>
            <a:srgbClr val="0075C9"/>
          </a:solidFill>
          <a:ln/>
        </p:spPr>
      </p:sp>
      <p:sp>
        <p:nvSpPr>
          <p:cNvPr id="31" name="Text 29"/>
          <p:cNvSpPr/>
          <p:nvPr/>
        </p:nvSpPr>
        <p:spPr>
          <a:xfrm>
            <a:off x="10104120" y="4480560"/>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384만원</a:t>
            </a:r>
            <a:endParaRPr lang="en-US" sz="900" dirty="0"/>
          </a:p>
        </p:txBody>
      </p:sp>
      <p:sp>
        <p:nvSpPr>
          <p:cNvPr id="32" name="Shape 30"/>
          <p:cNvSpPr/>
          <p:nvPr/>
        </p:nvSpPr>
        <p:spPr>
          <a:xfrm>
            <a:off x="685800" y="4767072"/>
            <a:ext cx="10789920" cy="0"/>
          </a:xfrm>
          <a:prstGeom prst="line">
            <a:avLst/>
          </a:prstGeom>
          <a:noFill/>
          <a:ln w="12700">
            <a:solidFill>
              <a:srgbClr val="DFE3EA"/>
            </a:solidFill>
            <a:prstDash val="solid"/>
          </a:ln>
        </p:spPr>
      </p:sp>
      <p:sp>
        <p:nvSpPr>
          <p:cNvPr id="33" name="Text 31"/>
          <p:cNvSpPr/>
          <p:nvPr/>
        </p:nvSpPr>
        <p:spPr>
          <a:xfrm>
            <a:off x="685800" y="4767072"/>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수수료및사용료</a:t>
            </a:r>
            <a:endParaRPr lang="en-US" sz="900" dirty="0"/>
          </a:p>
        </p:txBody>
      </p:sp>
      <p:sp>
        <p:nvSpPr>
          <p:cNvPr id="34" name="Text 32"/>
          <p:cNvSpPr/>
          <p:nvPr/>
        </p:nvSpPr>
        <p:spPr>
          <a:xfrm>
            <a:off x="2834640" y="4767072"/>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산업재산권 출원등록</a:t>
            </a:r>
            <a:endParaRPr lang="en-US" sz="900" dirty="0"/>
          </a:p>
        </p:txBody>
      </p:sp>
      <p:sp>
        <p:nvSpPr>
          <p:cNvPr id="35" name="Shape 33"/>
          <p:cNvSpPr/>
          <p:nvPr/>
        </p:nvSpPr>
        <p:spPr>
          <a:xfrm>
            <a:off x="7635240" y="4846320"/>
            <a:ext cx="396240" cy="128016"/>
          </a:xfrm>
          <a:prstGeom prst="rect">
            <a:avLst/>
          </a:prstGeom>
          <a:solidFill>
            <a:srgbClr val="0075C9"/>
          </a:solidFill>
          <a:ln/>
        </p:spPr>
      </p:sp>
      <p:sp>
        <p:nvSpPr>
          <p:cNvPr id="36" name="Text 34"/>
          <p:cNvSpPr/>
          <p:nvPr/>
        </p:nvSpPr>
        <p:spPr>
          <a:xfrm>
            <a:off x="10104120" y="4767072"/>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160만원</a:t>
            </a:r>
            <a:endParaRPr lang="en-US" sz="900" dirty="0"/>
          </a:p>
        </p:txBody>
      </p:sp>
      <p:sp>
        <p:nvSpPr>
          <p:cNvPr id="37" name="Shape 35"/>
          <p:cNvSpPr/>
          <p:nvPr/>
        </p:nvSpPr>
        <p:spPr>
          <a:xfrm>
            <a:off x="685800" y="5053584"/>
            <a:ext cx="10789920" cy="0"/>
          </a:xfrm>
          <a:prstGeom prst="line">
            <a:avLst/>
          </a:prstGeom>
          <a:noFill/>
          <a:ln w="12700">
            <a:solidFill>
              <a:srgbClr val="DFE3EA"/>
            </a:solidFill>
            <a:prstDash val="solid"/>
          </a:ln>
        </p:spPr>
      </p:sp>
      <p:sp>
        <p:nvSpPr>
          <p:cNvPr id="38" name="Text 36"/>
          <p:cNvSpPr/>
          <p:nvPr/>
        </p:nvSpPr>
        <p:spPr>
          <a:xfrm>
            <a:off x="685800" y="5053584"/>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공고료및광고료</a:t>
            </a:r>
            <a:endParaRPr lang="en-US" sz="900" dirty="0"/>
          </a:p>
        </p:txBody>
      </p:sp>
      <p:sp>
        <p:nvSpPr>
          <p:cNvPr id="39" name="Text 37"/>
          <p:cNvSpPr/>
          <p:nvPr/>
        </p:nvSpPr>
        <p:spPr>
          <a:xfrm>
            <a:off x="2834640" y="5053584"/>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온라인 광고 집행</a:t>
            </a:r>
            <a:endParaRPr lang="en-US" sz="900" dirty="0"/>
          </a:p>
        </p:txBody>
      </p:sp>
      <p:sp>
        <p:nvSpPr>
          <p:cNvPr id="40" name="Shape 38"/>
          <p:cNvSpPr/>
          <p:nvPr/>
        </p:nvSpPr>
        <p:spPr>
          <a:xfrm>
            <a:off x="7635240" y="5132832"/>
            <a:ext cx="633984" cy="128016"/>
          </a:xfrm>
          <a:prstGeom prst="rect">
            <a:avLst/>
          </a:prstGeom>
          <a:solidFill>
            <a:srgbClr val="0075C9"/>
          </a:solidFill>
          <a:ln/>
        </p:spPr>
      </p:sp>
      <p:sp>
        <p:nvSpPr>
          <p:cNvPr id="41" name="Text 39"/>
          <p:cNvSpPr/>
          <p:nvPr/>
        </p:nvSpPr>
        <p:spPr>
          <a:xfrm>
            <a:off x="10104120" y="5053584"/>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256만원</a:t>
            </a:r>
            <a:endParaRPr lang="en-US" sz="900" dirty="0"/>
          </a:p>
        </p:txBody>
      </p:sp>
      <p:sp>
        <p:nvSpPr>
          <p:cNvPr id="42" name="Shape 40"/>
          <p:cNvSpPr/>
          <p:nvPr/>
        </p:nvSpPr>
        <p:spPr>
          <a:xfrm>
            <a:off x="685800" y="5340096"/>
            <a:ext cx="10789920" cy="0"/>
          </a:xfrm>
          <a:prstGeom prst="line">
            <a:avLst/>
          </a:prstGeom>
          <a:noFill/>
          <a:ln w="12700">
            <a:solidFill>
              <a:srgbClr val="DFE3EA"/>
            </a:solidFill>
            <a:prstDash val="solid"/>
          </a:ln>
        </p:spPr>
      </p:sp>
      <p:sp>
        <p:nvSpPr>
          <p:cNvPr id="43" name="Text 41"/>
          <p:cNvSpPr/>
          <p:nvPr/>
        </p:nvSpPr>
        <p:spPr>
          <a:xfrm>
            <a:off x="685800" y="5340096"/>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전문가활용비</a:t>
            </a:r>
            <a:endParaRPr lang="en-US" sz="900" dirty="0"/>
          </a:p>
        </p:txBody>
      </p:sp>
      <p:sp>
        <p:nvSpPr>
          <p:cNvPr id="44" name="Text 42"/>
          <p:cNvSpPr/>
          <p:nvPr/>
        </p:nvSpPr>
        <p:spPr>
          <a:xfrm>
            <a:off x="2834640" y="5340096"/>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외부 전문가 자문</a:t>
            </a:r>
            <a:endParaRPr lang="en-US" sz="900" dirty="0"/>
          </a:p>
        </p:txBody>
      </p:sp>
      <p:sp>
        <p:nvSpPr>
          <p:cNvPr id="45" name="Shape 43"/>
          <p:cNvSpPr/>
          <p:nvPr/>
        </p:nvSpPr>
        <p:spPr>
          <a:xfrm>
            <a:off x="7635240" y="5419344"/>
            <a:ext cx="396240" cy="128016"/>
          </a:xfrm>
          <a:prstGeom prst="rect">
            <a:avLst/>
          </a:prstGeom>
          <a:solidFill>
            <a:srgbClr val="0075C9"/>
          </a:solidFill>
          <a:ln/>
        </p:spPr>
      </p:sp>
      <p:sp>
        <p:nvSpPr>
          <p:cNvPr id="46" name="Text 44"/>
          <p:cNvSpPr/>
          <p:nvPr/>
        </p:nvSpPr>
        <p:spPr>
          <a:xfrm>
            <a:off x="10104120" y="5340096"/>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160만원</a:t>
            </a:r>
            <a:endParaRPr lang="en-US" sz="900" dirty="0"/>
          </a:p>
        </p:txBody>
      </p:sp>
      <p:sp>
        <p:nvSpPr>
          <p:cNvPr id="47" name="Shape 45"/>
          <p:cNvSpPr/>
          <p:nvPr/>
        </p:nvSpPr>
        <p:spPr>
          <a:xfrm>
            <a:off x="685800" y="5626608"/>
            <a:ext cx="10789920" cy="0"/>
          </a:xfrm>
          <a:prstGeom prst="line">
            <a:avLst/>
          </a:prstGeom>
          <a:noFill/>
          <a:ln w="12700">
            <a:solidFill>
              <a:srgbClr val="DFE3EA"/>
            </a:solidFill>
            <a:prstDash val="solid"/>
          </a:ln>
        </p:spPr>
      </p:sp>
      <p:sp>
        <p:nvSpPr>
          <p:cNvPr id="48" name="Text 46"/>
          <p:cNvSpPr/>
          <p:nvPr/>
        </p:nvSpPr>
        <p:spPr>
          <a:xfrm>
            <a:off x="685800" y="5626608"/>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임차비</a:t>
            </a:r>
            <a:endParaRPr lang="en-US" sz="900" dirty="0"/>
          </a:p>
        </p:txBody>
      </p:sp>
      <p:sp>
        <p:nvSpPr>
          <p:cNvPr id="49" name="Text 47"/>
          <p:cNvSpPr/>
          <p:nvPr/>
        </p:nvSpPr>
        <p:spPr>
          <a:xfrm>
            <a:off x="2834640" y="5626608"/>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렌더 장비 · 실증용 패널 임차</a:t>
            </a:r>
            <a:endParaRPr lang="en-US" sz="900" dirty="0"/>
          </a:p>
        </p:txBody>
      </p:sp>
      <p:sp>
        <p:nvSpPr>
          <p:cNvPr id="50" name="Shape 48"/>
          <p:cNvSpPr/>
          <p:nvPr/>
        </p:nvSpPr>
        <p:spPr>
          <a:xfrm>
            <a:off x="7635240" y="5705856"/>
            <a:ext cx="792480" cy="128016"/>
          </a:xfrm>
          <a:prstGeom prst="rect">
            <a:avLst/>
          </a:prstGeom>
          <a:solidFill>
            <a:srgbClr val="0075C9"/>
          </a:solidFill>
          <a:ln/>
        </p:spPr>
      </p:sp>
      <p:sp>
        <p:nvSpPr>
          <p:cNvPr id="51" name="Text 49"/>
          <p:cNvSpPr/>
          <p:nvPr/>
        </p:nvSpPr>
        <p:spPr>
          <a:xfrm>
            <a:off x="10104120" y="5626608"/>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320만원</a:t>
            </a:r>
            <a:endParaRPr lang="en-US" sz="900" dirty="0"/>
          </a:p>
        </p:txBody>
      </p:sp>
      <p:sp>
        <p:nvSpPr>
          <p:cNvPr id="52" name="Shape 50"/>
          <p:cNvSpPr/>
          <p:nvPr/>
        </p:nvSpPr>
        <p:spPr>
          <a:xfrm>
            <a:off x="685800" y="5913120"/>
            <a:ext cx="10789920" cy="0"/>
          </a:xfrm>
          <a:prstGeom prst="line">
            <a:avLst/>
          </a:prstGeom>
          <a:noFill/>
          <a:ln w="12700">
            <a:solidFill>
              <a:srgbClr val="DFE3EA"/>
            </a:solidFill>
            <a:prstDash val="solid"/>
          </a:ln>
        </p:spPr>
      </p:sp>
      <p:sp>
        <p:nvSpPr>
          <p:cNvPr id="53" name="Text 51"/>
          <p:cNvSpPr/>
          <p:nvPr/>
        </p:nvSpPr>
        <p:spPr>
          <a:xfrm>
            <a:off x="685800" y="5913120"/>
            <a:ext cx="2103120" cy="286512"/>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재료구입비</a:t>
            </a:r>
            <a:endParaRPr lang="en-US" sz="900" dirty="0"/>
          </a:p>
        </p:txBody>
      </p:sp>
      <p:sp>
        <p:nvSpPr>
          <p:cNvPr id="54" name="Text 52"/>
          <p:cNvSpPr/>
          <p:nvPr/>
        </p:nvSpPr>
        <p:spPr>
          <a:xfrm>
            <a:off x="2834640" y="5913120"/>
            <a:ext cx="4663440" cy="286512"/>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실증 재료 · 데이터셋</a:t>
            </a:r>
            <a:endParaRPr lang="en-US" sz="900" dirty="0"/>
          </a:p>
        </p:txBody>
      </p:sp>
      <p:sp>
        <p:nvSpPr>
          <p:cNvPr id="55" name="Shape 53"/>
          <p:cNvSpPr/>
          <p:nvPr/>
        </p:nvSpPr>
        <p:spPr>
          <a:xfrm>
            <a:off x="7635240" y="5992368"/>
            <a:ext cx="396240" cy="128016"/>
          </a:xfrm>
          <a:prstGeom prst="rect">
            <a:avLst/>
          </a:prstGeom>
          <a:solidFill>
            <a:srgbClr val="0075C9"/>
          </a:solidFill>
          <a:ln/>
        </p:spPr>
      </p:sp>
      <p:sp>
        <p:nvSpPr>
          <p:cNvPr id="56" name="Text 54"/>
          <p:cNvSpPr/>
          <p:nvPr/>
        </p:nvSpPr>
        <p:spPr>
          <a:xfrm>
            <a:off x="10104120" y="5913120"/>
            <a:ext cx="1371600" cy="286512"/>
          </a:xfrm>
          <a:prstGeom prst="rect">
            <a:avLst/>
          </a:prstGeom>
          <a:noFill/>
          <a:ln/>
        </p:spPr>
        <p:txBody>
          <a:bodyPr wrap="square" lIns="0" tIns="0" rIns="0" bIns="0" rtlCol="0" anchor="ctr"/>
          <a:lstStyle/>
          <a:p>
            <a:pPr algn="r" indent="0" marL="0">
              <a:buNone/>
            </a:pPr>
            <a:r>
              <a:rPr lang="en-US" sz="900" b="1" dirty="0">
                <a:solidFill>
                  <a:srgbClr val="101B33"/>
                </a:solidFill>
                <a:latin typeface="맑은 고딕" pitchFamily="34" charset="0"/>
                <a:ea typeface="맑은 고딕" pitchFamily="34" charset="-122"/>
                <a:cs typeface="맑은 고딕" pitchFamily="34" charset="-120"/>
              </a:rPr>
              <a:t>160만원</a:t>
            </a:r>
            <a:endParaRPr lang="en-US" sz="900" dirty="0"/>
          </a:p>
        </p:txBody>
      </p:sp>
      <p:sp>
        <p:nvSpPr>
          <p:cNvPr id="57" name="Shape 55"/>
          <p:cNvSpPr/>
          <p:nvPr/>
        </p:nvSpPr>
        <p:spPr>
          <a:xfrm>
            <a:off x="685800" y="6199632"/>
            <a:ext cx="10789920" cy="0"/>
          </a:xfrm>
          <a:prstGeom prst="line">
            <a:avLst/>
          </a:prstGeom>
          <a:noFill/>
          <a:ln w="12700">
            <a:solidFill>
              <a:srgbClr val="DFE3EA"/>
            </a:solidFill>
            <a:prstDash val="solid"/>
          </a:ln>
        </p:spPr>
      </p:sp>
      <p:sp>
        <p:nvSpPr>
          <p:cNvPr id="58" name="Text 56"/>
          <p:cNvSpPr/>
          <p:nvPr/>
        </p:nvSpPr>
        <p:spPr>
          <a:xfrm>
            <a:off x="640080" y="6291072"/>
            <a:ext cx="10881360" cy="384048"/>
          </a:xfrm>
          <a:prstGeom prst="rect">
            <a:avLst/>
          </a:prstGeom>
          <a:noFill/>
          <a:ln/>
        </p:spPr>
        <p:txBody>
          <a:bodyPr wrap="square" lIns="0" tIns="0" rIns="0" bIns="0" rtlCol="0" anchor="ctr"/>
          <a:lstStyle/>
          <a:p>
            <a:pPr indent="0" marL="0">
              <a:lnSpc>
                <a:spcPts val="1100"/>
              </a:lnSpc>
              <a:buNone/>
            </a:pPr>
            <a:r>
              <a:rPr lang="en-US" sz="850" i="1" dirty="0">
                <a:solidFill>
                  <a:srgbClr val="9AA3B0"/>
                </a:solidFill>
                <a:latin typeface="맑은 고딕" pitchFamily="34" charset="0"/>
                <a:ea typeface="맑은 고딕" pitchFamily="34" charset="-122"/>
                <a:cs typeface="맑은 고딕" pitchFamily="34" charset="-120"/>
              </a:rPr>
              <a:t>총사업비는 아직 확정 전이라 집행기준 &lt;별표 11&gt;의 예시 금액(4,000만원)을 그대로 넣어 두었다. 실제 협약 금액이 나오면 amount만 고치고 build-deck.js를 다시 돌리면 표와 비율이 함께 바뀐다.</a:t>
            </a:r>
            <a:endParaRPr lang="en-US" sz="850" dirty="0"/>
          </a:p>
        </p:txBody>
      </p:sp>
      <p:sp>
        <p:nvSpPr>
          <p:cNvPr id="59" name="Text 57"/>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 · 정부지원금</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무엇에 쓰고, 왜 필요한가</a:t>
            </a:r>
            <a:endParaRPr lang="en-US" sz="3000" dirty="0"/>
          </a:p>
        </p:txBody>
      </p:sp>
      <p:sp>
        <p:nvSpPr>
          <p:cNvPr id="4" name="Text 2"/>
          <p:cNvSpPr/>
          <p:nvPr/>
        </p:nvSpPr>
        <p:spPr>
          <a:xfrm>
            <a:off x="685800" y="1600200"/>
            <a:ext cx="237744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비목 · 세목</a:t>
            </a:r>
            <a:endParaRPr lang="en-US" sz="950" dirty="0"/>
          </a:p>
        </p:txBody>
      </p:sp>
      <p:sp>
        <p:nvSpPr>
          <p:cNvPr id="5" name="Text 3"/>
          <p:cNvSpPr/>
          <p:nvPr/>
        </p:nvSpPr>
        <p:spPr>
          <a:xfrm>
            <a:off x="3108960" y="1600200"/>
            <a:ext cx="137160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집행항목</a:t>
            </a:r>
            <a:endParaRPr lang="en-US" sz="950" dirty="0"/>
          </a:p>
        </p:txBody>
      </p:sp>
      <p:sp>
        <p:nvSpPr>
          <p:cNvPr id="6" name="Text 4"/>
          <p:cNvSpPr/>
          <p:nvPr/>
        </p:nvSpPr>
        <p:spPr>
          <a:xfrm>
            <a:off x="4526280" y="1600200"/>
            <a:ext cx="274320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우리 지출</a:t>
            </a:r>
            <a:endParaRPr lang="en-US" sz="950" dirty="0"/>
          </a:p>
        </p:txBody>
      </p:sp>
      <p:sp>
        <p:nvSpPr>
          <p:cNvPr id="7" name="Text 5"/>
          <p:cNvSpPr/>
          <p:nvPr/>
        </p:nvSpPr>
        <p:spPr>
          <a:xfrm>
            <a:off x="7315200" y="1600200"/>
            <a:ext cx="416052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필요한 이유</a:t>
            </a:r>
            <a:endParaRPr lang="en-US" sz="950" dirty="0"/>
          </a:p>
        </p:txBody>
      </p:sp>
      <p:sp>
        <p:nvSpPr>
          <p:cNvPr id="8" name="Shape 6"/>
          <p:cNvSpPr/>
          <p:nvPr/>
        </p:nvSpPr>
        <p:spPr>
          <a:xfrm>
            <a:off x="685800" y="1856232"/>
            <a:ext cx="10789920" cy="0"/>
          </a:xfrm>
          <a:prstGeom prst="line">
            <a:avLst/>
          </a:prstGeom>
          <a:noFill/>
          <a:ln w="19050">
            <a:solidFill>
              <a:srgbClr val="101B33"/>
            </a:solidFill>
            <a:prstDash val="solid"/>
          </a:ln>
        </p:spPr>
      </p:sp>
      <p:sp>
        <p:nvSpPr>
          <p:cNvPr id="9" name="Text 7"/>
          <p:cNvSpPr/>
          <p:nvPr/>
        </p:nvSpPr>
        <p:spPr>
          <a:xfrm>
            <a:off x="685800" y="1929384"/>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운영비(210)-일반용역비(14)</a:t>
            </a:r>
            <a:endParaRPr lang="en-US" sz="850" dirty="0"/>
          </a:p>
        </p:txBody>
      </p:sp>
      <p:sp>
        <p:nvSpPr>
          <p:cNvPr id="10" name="Text 8"/>
          <p:cNvSpPr/>
          <p:nvPr/>
        </p:nvSpPr>
        <p:spPr>
          <a:xfrm>
            <a:off x="3108960" y="1929384"/>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제품·서비스 고도화</a:t>
            </a:r>
            <a:endParaRPr lang="en-US" sz="950" dirty="0"/>
          </a:p>
        </p:txBody>
      </p:sp>
      <p:sp>
        <p:nvSpPr>
          <p:cNvPr id="11" name="Text 9"/>
          <p:cNvSpPr/>
          <p:nvPr/>
        </p:nvSpPr>
        <p:spPr>
          <a:xfrm>
            <a:off x="4526280" y="1929384"/>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온 미디어아트 에디트 고도화 외주</a:t>
            </a:r>
            <a:endParaRPr lang="en-US" sz="950" dirty="0"/>
          </a:p>
        </p:txBody>
      </p:sp>
      <p:sp>
        <p:nvSpPr>
          <p:cNvPr id="12" name="Text 10"/>
          <p:cNvSpPr/>
          <p:nvPr/>
        </p:nvSpPr>
        <p:spPr>
          <a:xfrm>
            <a:off x="7315200" y="1929384"/>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오늘 만든 에디터는 브라우저 안에서만 돌고 설정도 고객 브라우저에만 남는다. 여러 담당자가 같은 건을 이어 보려면 서버가 필요하다.</a:t>
            </a:r>
            <a:endParaRPr lang="en-US" sz="850" dirty="0"/>
          </a:p>
        </p:txBody>
      </p:sp>
      <p:sp>
        <p:nvSpPr>
          <p:cNvPr id="13" name="Shape 11"/>
          <p:cNvSpPr/>
          <p:nvPr/>
        </p:nvSpPr>
        <p:spPr>
          <a:xfrm>
            <a:off x="685800" y="2372868"/>
            <a:ext cx="10789920" cy="0"/>
          </a:xfrm>
          <a:prstGeom prst="line">
            <a:avLst/>
          </a:prstGeom>
          <a:noFill/>
          <a:ln w="12700">
            <a:solidFill>
              <a:srgbClr val="DFE3EA"/>
            </a:solidFill>
            <a:prstDash val="solid"/>
          </a:ln>
        </p:spPr>
      </p:sp>
      <p:sp>
        <p:nvSpPr>
          <p:cNvPr id="14" name="Text 12"/>
          <p:cNvSpPr/>
          <p:nvPr/>
        </p:nvSpPr>
        <p:spPr>
          <a:xfrm>
            <a:off x="685800" y="2427732"/>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운영비(210)-일반용역비(14)</a:t>
            </a:r>
            <a:endParaRPr lang="en-US" sz="850" dirty="0"/>
          </a:p>
        </p:txBody>
      </p:sp>
      <p:sp>
        <p:nvSpPr>
          <p:cNvPr id="15" name="Text 13"/>
          <p:cNvSpPr/>
          <p:nvPr/>
        </p:nvSpPr>
        <p:spPr>
          <a:xfrm>
            <a:off x="3108960" y="2427732"/>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AI 활용 도입</a:t>
            </a:r>
            <a:endParaRPr lang="en-US" sz="950" dirty="0"/>
          </a:p>
        </p:txBody>
      </p:sp>
      <p:sp>
        <p:nvSpPr>
          <p:cNvPr id="16" name="Text 14"/>
          <p:cNvSpPr/>
          <p:nvPr/>
        </p:nvSpPr>
        <p:spPr>
          <a:xfrm>
            <a:off x="4526280" y="2427732"/>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공공 API · 기관 DB 연동 모듈</a:t>
            </a:r>
            <a:endParaRPr lang="en-US" sz="950" dirty="0"/>
          </a:p>
        </p:txBody>
      </p:sp>
      <p:sp>
        <p:nvSpPr>
          <p:cNvPr id="17" name="Text 15"/>
          <p:cNvSpPr/>
          <p:nvPr/>
        </p:nvSpPr>
        <p:spPr>
          <a:xfrm>
            <a:off x="7315200" y="2427732"/>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AX의 핵심이 여기다. 지금은 작품마다 따로 붙이고 있어 현장이 늘면 그만큼 손이 든다.</a:t>
            </a:r>
            <a:endParaRPr lang="en-US" sz="850" dirty="0"/>
          </a:p>
        </p:txBody>
      </p:sp>
      <p:sp>
        <p:nvSpPr>
          <p:cNvPr id="18" name="Shape 16"/>
          <p:cNvSpPr/>
          <p:nvPr/>
        </p:nvSpPr>
        <p:spPr>
          <a:xfrm>
            <a:off x="685800" y="2871216"/>
            <a:ext cx="10789920" cy="0"/>
          </a:xfrm>
          <a:prstGeom prst="line">
            <a:avLst/>
          </a:prstGeom>
          <a:noFill/>
          <a:ln w="12700">
            <a:solidFill>
              <a:srgbClr val="DFE3EA"/>
            </a:solidFill>
            <a:prstDash val="solid"/>
          </a:ln>
        </p:spPr>
      </p:sp>
      <p:sp>
        <p:nvSpPr>
          <p:cNvPr id="19" name="Text 17"/>
          <p:cNvSpPr/>
          <p:nvPr/>
        </p:nvSpPr>
        <p:spPr>
          <a:xfrm>
            <a:off x="685800" y="2926080"/>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운영비(210)-일반용역비(14)</a:t>
            </a:r>
            <a:endParaRPr lang="en-US" sz="850" dirty="0"/>
          </a:p>
        </p:txBody>
      </p:sp>
      <p:sp>
        <p:nvSpPr>
          <p:cNvPr id="20" name="Text 18"/>
          <p:cNvSpPr/>
          <p:nvPr/>
        </p:nvSpPr>
        <p:spPr>
          <a:xfrm>
            <a:off x="3108960" y="2926080"/>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홍보비</a:t>
            </a:r>
            <a:endParaRPr lang="en-US" sz="950" dirty="0"/>
          </a:p>
        </p:txBody>
      </p:sp>
      <p:sp>
        <p:nvSpPr>
          <p:cNvPr id="21" name="Text 19"/>
          <p:cNvSpPr/>
          <p:nvPr/>
        </p:nvSpPr>
        <p:spPr>
          <a:xfrm>
            <a:off x="4526280" y="2926080"/>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다국어 홍보 시퀀스 확장 · 현지 감수</a:t>
            </a:r>
            <a:endParaRPr lang="en-US" sz="950" dirty="0"/>
          </a:p>
        </p:txBody>
      </p:sp>
      <p:sp>
        <p:nvSpPr>
          <p:cNvPr id="22" name="Text 20"/>
          <p:cNvSpPr/>
          <p:nvPr/>
        </p:nvSpPr>
        <p:spPr>
          <a:xfrm>
            <a:off x="7315200" y="2926080"/>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번역 초벌은 만들어 두었다. 공공기관 대상 문구라 어투 감수가 필요하다.</a:t>
            </a:r>
            <a:endParaRPr lang="en-US" sz="850" dirty="0"/>
          </a:p>
        </p:txBody>
      </p:sp>
      <p:sp>
        <p:nvSpPr>
          <p:cNvPr id="23" name="Shape 21"/>
          <p:cNvSpPr/>
          <p:nvPr/>
        </p:nvSpPr>
        <p:spPr>
          <a:xfrm>
            <a:off x="685800" y="3369564"/>
            <a:ext cx="10789920" cy="0"/>
          </a:xfrm>
          <a:prstGeom prst="line">
            <a:avLst/>
          </a:prstGeom>
          <a:noFill/>
          <a:ln w="12700">
            <a:solidFill>
              <a:srgbClr val="DFE3EA"/>
            </a:solidFill>
            <a:prstDash val="solid"/>
          </a:ln>
        </p:spPr>
      </p:sp>
      <p:sp>
        <p:nvSpPr>
          <p:cNvPr id="24" name="Text 22"/>
          <p:cNvSpPr/>
          <p:nvPr/>
        </p:nvSpPr>
        <p:spPr>
          <a:xfrm>
            <a:off x="685800" y="3424428"/>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25" name="Text 23"/>
          <p:cNvSpPr/>
          <p:nvPr/>
        </p:nvSpPr>
        <p:spPr>
          <a:xfrm>
            <a:off x="3108960" y="3424428"/>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수수료및사용료</a:t>
            </a:r>
            <a:endParaRPr lang="en-US" sz="950" dirty="0"/>
          </a:p>
        </p:txBody>
      </p:sp>
      <p:sp>
        <p:nvSpPr>
          <p:cNvPr id="26" name="Text 24"/>
          <p:cNvSpPr/>
          <p:nvPr/>
        </p:nvSpPr>
        <p:spPr>
          <a:xfrm>
            <a:off x="4526280" y="3424428"/>
            <a:ext cx="2743200" cy="406908"/>
          </a:xfrm>
          <a:prstGeom prst="rect">
            <a:avLst/>
          </a:prstGeom>
          <a:noFill/>
          <a:ln/>
        </p:spPr>
        <p:txBody>
          <a:bodyPr wrap="square" lIns="0" tIns="0" rIns="0" bIns="0" rtlCol="0" anchor="ctr"/>
          <a:lstStyle/>
          <a:p>
            <a:pPr indent="0" marL="0">
              <a:buNone/>
            </a:pPr>
            <a:r>
              <a:rPr lang="en-US" sz="950" b="1" dirty="0">
                <a:solidFill>
                  <a:srgbClr val="B0442C"/>
                </a:solidFill>
                <a:latin typeface="맑은 고딕" pitchFamily="34" charset="0"/>
                <a:ea typeface="맑은 고딕" pitchFamily="34" charset="-122"/>
                <a:cs typeface="맑은 고딕" pitchFamily="34" charset="-120"/>
              </a:rPr>
              <a:t>AI 솔루션 이용료 · 라이선스 · 구독료</a:t>
            </a:r>
            <a:endParaRPr lang="en-US" sz="950" dirty="0"/>
          </a:p>
        </p:txBody>
      </p:sp>
      <p:sp>
        <p:nvSpPr>
          <p:cNvPr id="27" name="Text 25"/>
          <p:cNvSpPr/>
          <p:nvPr/>
        </p:nvSpPr>
        <p:spPr>
          <a:xfrm>
            <a:off x="7315200" y="3424428"/>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협약기간 이내분만 집행 가능하므로 연 단위 결제 대신 월 결제로 끊는다.</a:t>
            </a:r>
            <a:endParaRPr lang="en-US" sz="850" dirty="0"/>
          </a:p>
        </p:txBody>
      </p:sp>
      <p:sp>
        <p:nvSpPr>
          <p:cNvPr id="28" name="Shape 26"/>
          <p:cNvSpPr/>
          <p:nvPr/>
        </p:nvSpPr>
        <p:spPr>
          <a:xfrm>
            <a:off x="685800" y="3867912"/>
            <a:ext cx="10789920" cy="0"/>
          </a:xfrm>
          <a:prstGeom prst="line">
            <a:avLst/>
          </a:prstGeom>
          <a:noFill/>
          <a:ln w="12700">
            <a:solidFill>
              <a:srgbClr val="DFE3EA"/>
            </a:solidFill>
            <a:prstDash val="solid"/>
          </a:ln>
        </p:spPr>
      </p:sp>
      <p:sp>
        <p:nvSpPr>
          <p:cNvPr id="29" name="Text 27"/>
          <p:cNvSpPr/>
          <p:nvPr/>
        </p:nvSpPr>
        <p:spPr>
          <a:xfrm>
            <a:off x="685800" y="3922776"/>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30" name="Text 28"/>
          <p:cNvSpPr/>
          <p:nvPr/>
        </p:nvSpPr>
        <p:spPr>
          <a:xfrm>
            <a:off x="3108960" y="3922776"/>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수수료및사용료</a:t>
            </a:r>
            <a:endParaRPr lang="en-US" sz="950" dirty="0"/>
          </a:p>
        </p:txBody>
      </p:sp>
      <p:sp>
        <p:nvSpPr>
          <p:cNvPr id="31" name="Text 29"/>
          <p:cNvSpPr/>
          <p:nvPr/>
        </p:nvSpPr>
        <p:spPr>
          <a:xfrm>
            <a:off x="4526280" y="3922776"/>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산업재산권 출원등록</a:t>
            </a:r>
            <a:endParaRPr lang="en-US" sz="950" dirty="0"/>
          </a:p>
        </p:txBody>
      </p:sp>
      <p:sp>
        <p:nvSpPr>
          <p:cNvPr id="32" name="Text 30"/>
          <p:cNvSpPr/>
          <p:nvPr/>
        </p:nvSpPr>
        <p:spPr>
          <a:xfrm>
            <a:off x="7315200" y="3922776"/>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협약기간 안에 출원·취득이 가능한 건만 집행할 수 있다.</a:t>
            </a:r>
            <a:endParaRPr lang="en-US" sz="850" dirty="0"/>
          </a:p>
        </p:txBody>
      </p:sp>
      <p:sp>
        <p:nvSpPr>
          <p:cNvPr id="33" name="Shape 31"/>
          <p:cNvSpPr/>
          <p:nvPr/>
        </p:nvSpPr>
        <p:spPr>
          <a:xfrm>
            <a:off x="685800" y="4366260"/>
            <a:ext cx="10789920" cy="0"/>
          </a:xfrm>
          <a:prstGeom prst="line">
            <a:avLst/>
          </a:prstGeom>
          <a:noFill/>
          <a:ln w="12700">
            <a:solidFill>
              <a:srgbClr val="DFE3EA"/>
            </a:solidFill>
            <a:prstDash val="solid"/>
          </a:ln>
        </p:spPr>
      </p:sp>
      <p:sp>
        <p:nvSpPr>
          <p:cNvPr id="34" name="Text 32"/>
          <p:cNvSpPr/>
          <p:nvPr/>
        </p:nvSpPr>
        <p:spPr>
          <a:xfrm>
            <a:off x="685800" y="4421124"/>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35" name="Text 33"/>
          <p:cNvSpPr/>
          <p:nvPr/>
        </p:nvSpPr>
        <p:spPr>
          <a:xfrm>
            <a:off x="3108960" y="4421124"/>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공고료및광고료</a:t>
            </a:r>
            <a:endParaRPr lang="en-US" sz="950" dirty="0"/>
          </a:p>
        </p:txBody>
      </p:sp>
      <p:sp>
        <p:nvSpPr>
          <p:cNvPr id="36" name="Text 34"/>
          <p:cNvSpPr/>
          <p:nvPr/>
        </p:nvSpPr>
        <p:spPr>
          <a:xfrm>
            <a:off x="4526280" y="4421124"/>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온라인 광고 집행</a:t>
            </a:r>
            <a:endParaRPr lang="en-US" sz="950" dirty="0"/>
          </a:p>
        </p:txBody>
      </p:sp>
      <p:sp>
        <p:nvSpPr>
          <p:cNvPr id="37" name="Text 35"/>
          <p:cNvSpPr/>
          <p:nvPr/>
        </p:nvSpPr>
        <p:spPr>
          <a:xfrm>
            <a:off x="7315200" y="4421124"/>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우리가 직접 집행하면 광고료, 대행사에 맡기면 일반용역비다. 비목이 갈리므로 미리 정해 둔다.</a:t>
            </a:r>
            <a:endParaRPr lang="en-US" sz="850" dirty="0"/>
          </a:p>
        </p:txBody>
      </p:sp>
      <p:sp>
        <p:nvSpPr>
          <p:cNvPr id="38" name="Shape 36"/>
          <p:cNvSpPr/>
          <p:nvPr/>
        </p:nvSpPr>
        <p:spPr>
          <a:xfrm>
            <a:off x="685800" y="4864608"/>
            <a:ext cx="10789920" cy="0"/>
          </a:xfrm>
          <a:prstGeom prst="line">
            <a:avLst/>
          </a:prstGeom>
          <a:noFill/>
          <a:ln w="12700">
            <a:solidFill>
              <a:srgbClr val="DFE3EA"/>
            </a:solidFill>
            <a:prstDash val="solid"/>
          </a:ln>
        </p:spPr>
      </p:sp>
      <p:sp>
        <p:nvSpPr>
          <p:cNvPr id="39" name="Text 37"/>
          <p:cNvSpPr/>
          <p:nvPr/>
        </p:nvSpPr>
        <p:spPr>
          <a:xfrm>
            <a:off x="685800" y="4919472"/>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40" name="Text 38"/>
          <p:cNvSpPr/>
          <p:nvPr/>
        </p:nvSpPr>
        <p:spPr>
          <a:xfrm>
            <a:off x="3108960" y="4919472"/>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전문가활용비</a:t>
            </a:r>
            <a:endParaRPr lang="en-US" sz="950" dirty="0"/>
          </a:p>
        </p:txBody>
      </p:sp>
      <p:sp>
        <p:nvSpPr>
          <p:cNvPr id="41" name="Text 39"/>
          <p:cNvSpPr/>
          <p:nvPr/>
        </p:nvSpPr>
        <p:spPr>
          <a:xfrm>
            <a:off x="4526280" y="4919472"/>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외부 전문가 자문</a:t>
            </a:r>
            <a:endParaRPr lang="en-US" sz="950" dirty="0"/>
          </a:p>
        </p:txBody>
      </p:sp>
      <p:sp>
        <p:nvSpPr>
          <p:cNvPr id="42" name="Text 40"/>
          <p:cNvSpPr/>
          <p:nvPr/>
        </p:nvSpPr>
        <p:spPr>
          <a:xfrm>
            <a:off x="7315200" y="4919472"/>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시간당 10만원·1일 30만원 한도. 1인에게 사업비의 30% 이상이 가면 주관기관이 제한할 수 있다.</a:t>
            </a:r>
            <a:endParaRPr lang="en-US" sz="850" dirty="0"/>
          </a:p>
        </p:txBody>
      </p:sp>
      <p:sp>
        <p:nvSpPr>
          <p:cNvPr id="43" name="Shape 41"/>
          <p:cNvSpPr/>
          <p:nvPr/>
        </p:nvSpPr>
        <p:spPr>
          <a:xfrm>
            <a:off x="685800" y="5362956"/>
            <a:ext cx="10789920" cy="0"/>
          </a:xfrm>
          <a:prstGeom prst="line">
            <a:avLst/>
          </a:prstGeom>
          <a:noFill/>
          <a:ln w="12700">
            <a:solidFill>
              <a:srgbClr val="DFE3EA"/>
            </a:solidFill>
            <a:prstDash val="solid"/>
          </a:ln>
        </p:spPr>
      </p:sp>
      <p:sp>
        <p:nvSpPr>
          <p:cNvPr id="44" name="Text 42"/>
          <p:cNvSpPr/>
          <p:nvPr/>
        </p:nvSpPr>
        <p:spPr>
          <a:xfrm>
            <a:off x="685800" y="5417820"/>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운영비(210)-임차료(07)</a:t>
            </a:r>
            <a:endParaRPr lang="en-US" sz="850" dirty="0"/>
          </a:p>
        </p:txBody>
      </p:sp>
      <p:sp>
        <p:nvSpPr>
          <p:cNvPr id="45" name="Text 43"/>
          <p:cNvSpPr/>
          <p:nvPr/>
        </p:nvSpPr>
        <p:spPr>
          <a:xfrm>
            <a:off x="3108960" y="5417820"/>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임차비</a:t>
            </a:r>
            <a:endParaRPr lang="en-US" sz="950" dirty="0"/>
          </a:p>
        </p:txBody>
      </p:sp>
      <p:sp>
        <p:nvSpPr>
          <p:cNvPr id="46" name="Text 44"/>
          <p:cNvSpPr/>
          <p:nvPr/>
        </p:nvSpPr>
        <p:spPr>
          <a:xfrm>
            <a:off x="4526280" y="5417820"/>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렌더 장비 · 실증용 패널 임차</a:t>
            </a:r>
            <a:endParaRPr lang="en-US" sz="950" dirty="0"/>
          </a:p>
        </p:txBody>
      </p:sp>
      <p:sp>
        <p:nvSpPr>
          <p:cNvPr id="47" name="Text 45"/>
          <p:cNvSpPr/>
          <p:nvPr/>
        </p:nvSpPr>
        <p:spPr>
          <a:xfrm>
            <a:off x="7315200" y="5417820"/>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기기·장비는 1개월 이상 사용하는 것만 임차료로 잡힌다. 총 임차기간은 협약기간을 넘길 수 없다.</a:t>
            </a:r>
            <a:endParaRPr lang="en-US" sz="850" dirty="0"/>
          </a:p>
        </p:txBody>
      </p:sp>
      <p:sp>
        <p:nvSpPr>
          <p:cNvPr id="48" name="Shape 46"/>
          <p:cNvSpPr/>
          <p:nvPr/>
        </p:nvSpPr>
        <p:spPr>
          <a:xfrm>
            <a:off x="685800" y="5861304"/>
            <a:ext cx="10789920" cy="0"/>
          </a:xfrm>
          <a:prstGeom prst="line">
            <a:avLst/>
          </a:prstGeom>
          <a:noFill/>
          <a:ln w="12700">
            <a:solidFill>
              <a:srgbClr val="DFE3EA"/>
            </a:solidFill>
            <a:prstDash val="solid"/>
          </a:ln>
        </p:spPr>
      </p:sp>
      <p:sp>
        <p:nvSpPr>
          <p:cNvPr id="49" name="Text 47"/>
          <p:cNvSpPr/>
          <p:nvPr/>
        </p:nvSpPr>
        <p:spPr>
          <a:xfrm>
            <a:off x="685800" y="5916168"/>
            <a:ext cx="2377440" cy="4069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운영비(210)-재료비(11)</a:t>
            </a:r>
            <a:endParaRPr lang="en-US" sz="850" dirty="0"/>
          </a:p>
        </p:txBody>
      </p:sp>
      <p:sp>
        <p:nvSpPr>
          <p:cNvPr id="50" name="Text 48"/>
          <p:cNvSpPr/>
          <p:nvPr/>
        </p:nvSpPr>
        <p:spPr>
          <a:xfrm>
            <a:off x="3108960" y="5916168"/>
            <a:ext cx="1371600" cy="406908"/>
          </a:xfrm>
          <a:prstGeom prst="rect">
            <a:avLst/>
          </a:prstGeom>
          <a:noFill/>
          <a:ln/>
        </p:spPr>
        <p:txBody>
          <a:bodyPr wrap="square" lIns="0" tIns="0" rIns="0" bIns="0" rtlCol="0" anchor="ctr"/>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재료구입비</a:t>
            </a:r>
            <a:endParaRPr lang="en-US" sz="950" dirty="0"/>
          </a:p>
        </p:txBody>
      </p:sp>
      <p:sp>
        <p:nvSpPr>
          <p:cNvPr id="51" name="Text 49"/>
          <p:cNvSpPr/>
          <p:nvPr/>
        </p:nvSpPr>
        <p:spPr>
          <a:xfrm>
            <a:off x="4526280" y="5916168"/>
            <a:ext cx="2743200" cy="406908"/>
          </a:xfrm>
          <a:prstGeom prst="rect">
            <a:avLst/>
          </a:prstGeom>
          <a:noFill/>
          <a:ln/>
        </p:spPr>
        <p:txBody>
          <a:bodyPr wrap="square" lIns="0" tIns="0" rIns="0" bIns="0" rtlCol="0" anchor="ctr"/>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실증 재료 · 데이터셋</a:t>
            </a:r>
            <a:endParaRPr lang="en-US" sz="950" dirty="0"/>
          </a:p>
        </p:txBody>
      </p:sp>
      <p:sp>
        <p:nvSpPr>
          <p:cNvPr id="52" name="Text 50"/>
          <p:cNvSpPr/>
          <p:nvPr/>
        </p:nvSpPr>
        <p:spPr>
          <a:xfrm>
            <a:off x="7315200" y="5916168"/>
            <a:ext cx="4160520" cy="406908"/>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데이터 등 무형 재료도 재료비로 잡힌다. 품목당 구매합계 100만원 이상이면 비교견적서가 필요하다.</a:t>
            </a:r>
            <a:endParaRPr lang="en-US" sz="850" dirty="0"/>
          </a:p>
        </p:txBody>
      </p:sp>
      <p:sp>
        <p:nvSpPr>
          <p:cNvPr id="53" name="Shape 51"/>
          <p:cNvSpPr/>
          <p:nvPr/>
        </p:nvSpPr>
        <p:spPr>
          <a:xfrm>
            <a:off x="685800" y="6359652"/>
            <a:ext cx="10789920" cy="0"/>
          </a:xfrm>
          <a:prstGeom prst="line">
            <a:avLst/>
          </a:prstGeom>
          <a:noFill/>
          <a:ln w="12700">
            <a:solidFill>
              <a:srgbClr val="DFE3EA"/>
            </a:solidFill>
            <a:prstDash val="solid"/>
          </a:ln>
        </p:spPr>
      </p:sp>
      <p:sp>
        <p:nvSpPr>
          <p:cNvPr id="54" name="Text 52"/>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 · 대응자금</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20%는 현물로 채운다</a:t>
            </a:r>
            <a:endParaRPr lang="en-US" sz="3000" dirty="0"/>
          </a:p>
        </p:txBody>
      </p:sp>
      <p:sp>
        <p:nvSpPr>
          <p:cNvPr id="4" name="Text 2"/>
          <p:cNvSpPr/>
          <p:nvPr/>
        </p:nvSpPr>
        <p:spPr>
          <a:xfrm>
            <a:off x="640080" y="1783080"/>
            <a:ext cx="1088136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대응자금은 100% 소진이 필수이며, 계획에 대해 주관기관 사전 승인이 필요하다.</a:t>
            </a:r>
            <a:endParaRPr lang="en-US" sz="1100" dirty="0"/>
          </a:p>
        </p:txBody>
      </p:sp>
      <p:sp>
        <p:nvSpPr>
          <p:cNvPr id="5" name="Shape 3"/>
          <p:cNvSpPr/>
          <p:nvPr/>
        </p:nvSpPr>
        <p:spPr>
          <a:xfrm>
            <a:off x="640080" y="2286000"/>
            <a:ext cx="35204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14400" y="2560320"/>
            <a:ext cx="420624" cy="420624"/>
          </a:xfrm>
          <a:prstGeom prst="ellipse">
            <a:avLst/>
          </a:prstGeom>
          <a:solidFill>
            <a:srgbClr val="101B33"/>
          </a:solidFill>
          <a:ln w="12700">
            <a:solidFill>
              <a:srgbClr val="101B33"/>
            </a:solidFill>
            <a:prstDash val="solid"/>
          </a:ln>
        </p:spPr>
      </p:sp>
      <p:sp>
        <p:nvSpPr>
          <p:cNvPr id="7" name="Text 5"/>
          <p:cNvSpPr/>
          <p:nvPr/>
        </p:nvSpPr>
        <p:spPr>
          <a:xfrm>
            <a:off x="914400" y="25603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8" name="Text 6"/>
          <p:cNvSpPr/>
          <p:nvPr/>
        </p:nvSpPr>
        <p:spPr>
          <a:xfrm>
            <a:off x="914400" y="3090672"/>
            <a:ext cx="2971800"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대표자 인건비</a:t>
            </a:r>
            <a:endParaRPr lang="en-US" sz="1400" dirty="0"/>
          </a:p>
        </p:txBody>
      </p:sp>
      <p:sp>
        <p:nvSpPr>
          <p:cNvPr id="9" name="Text 7"/>
          <p:cNvSpPr/>
          <p:nvPr/>
        </p:nvSpPr>
        <p:spPr>
          <a:xfrm>
            <a:off x="914400" y="3383280"/>
            <a:ext cx="297180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480만원</a:t>
            </a:r>
            <a:endParaRPr lang="en-US" sz="1300" dirty="0"/>
          </a:p>
        </p:txBody>
      </p:sp>
      <p:sp>
        <p:nvSpPr>
          <p:cNvPr id="10" name="Text 8"/>
          <p:cNvSpPr/>
          <p:nvPr/>
        </p:nvSpPr>
        <p:spPr>
          <a:xfrm>
            <a:off x="914400" y="3694176"/>
            <a:ext cx="2971800" cy="457200"/>
          </a:xfrm>
          <a:prstGeom prst="rect">
            <a:avLst/>
          </a:prstGeom>
          <a:noFill/>
          <a:ln/>
        </p:spPr>
        <p:txBody>
          <a:bodyPr wrap="square" lIns="0" tIns="0" rIns="0" bIns="0" rtlCol="0" anchor="ctr"/>
          <a:lstStyle/>
          <a:p>
            <a:pPr indent="0" marL="0">
              <a:lnSpc>
                <a:spcPts val="1200"/>
              </a:lnSpc>
              <a:buNone/>
            </a:pPr>
            <a:r>
              <a:rPr lang="en-US" sz="950" dirty="0">
                <a:solidFill>
                  <a:srgbClr val="4A5262"/>
                </a:solidFill>
                <a:latin typeface="맑은 고딕" pitchFamily="34" charset="0"/>
                <a:ea typeface="맑은 고딕" pitchFamily="34" charset="-122"/>
                <a:cs typeface="맑은 고딕" pitchFamily="34" charset="-120"/>
              </a:rPr>
              <a:t>박성실 대표 · 과제참여율 기준</a:t>
            </a:r>
            <a:endParaRPr lang="en-US" sz="950" dirty="0"/>
          </a:p>
        </p:txBody>
      </p:sp>
      <p:sp>
        <p:nvSpPr>
          <p:cNvPr id="11" name="Shape 9"/>
          <p:cNvSpPr/>
          <p:nvPr/>
        </p:nvSpPr>
        <p:spPr>
          <a:xfrm>
            <a:off x="4416552" y="2286000"/>
            <a:ext cx="35204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2" name="Shape 10"/>
          <p:cNvSpPr/>
          <p:nvPr/>
        </p:nvSpPr>
        <p:spPr>
          <a:xfrm>
            <a:off x="4690872" y="2560320"/>
            <a:ext cx="420624" cy="420624"/>
          </a:xfrm>
          <a:prstGeom prst="ellipse">
            <a:avLst/>
          </a:prstGeom>
          <a:solidFill>
            <a:srgbClr val="101B33"/>
          </a:solidFill>
          <a:ln w="12700">
            <a:solidFill>
              <a:srgbClr val="101B33"/>
            </a:solidFill>
            <a:prstDash val="solid"/>
          </a:ln>
        </p:spPr>
      </p:sp>
      <p:sp>
        <p:nvSpPr>
          <p:cNvPr id="13" name="Text 11"/>
          <p:cNvSpPr/>
          <p:nvPr/>
        </p:nvSpPr>
        <p:spPr>
          <a:xfrm>
            <a:off x="4690872" y="25603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4" name="Text 12"/>
          <p:cNvSpPr/>
          <p:nvPr/>
        </p:nvSpPr>
        <p:spPr>
          <a:xfrm>
            <a:off x="4690872" y="3090672"/>
            <a:ext cx="2971800"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사업장 임차료</a:t>
            </a:r>
            <a:endParaRPr lang="en-US" sz="1400" dirty="0"/>
          </a:p>
        </p:txBody>
      </p:sp>
      <p:sp>
        <p:nvSpPr>
          <p:cNvPr id="15" name="Text 13"/>
          <p:cNvSpPr/>
          <p:nvPr/>
        </p:nvSpPr>
        <p:spPr>
          <a:xfrm>
            <a:off x="4690872" y="3383280"/>
            <a:ext cx="297180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256만원</a:t>
            </a:r>
            <a:endParaRPr lang="en-US" sz="1300" dirty="0"/>
          </a:p>
        </p:txBody>
      </p:sp>
      <p:sp>
        <p:nvSpPr>
          <p:cNvPr id="16" name="Text 14"/>
          <p:cNvSpPr/>
          <p:nvPr/>
        </p:nvSpPr>
        <p:spPr>
          <a:xfrm>
            <a:off x="4690872" y="3694176"/>
            <a:ext cx="2971800" cy="457200"/>
          </a:xfrm>
          <a:prstGeom prst="rect">
            <a:avLst/>
          </a:prstGeom>
          <a:noFill/>
          <a:ln/>
        </p:spPr>
        <p:txBody>
          <a:bodyPr wrap="square" lIns="0" tIns="0" rIns="0" bIns="0" rtlCol="0" anchor="ctr"/>
          <a:lstStyle/>
          <a:p>
            <a:pPr indent="0" marL="0">
              <a:lnSpc>
                <a:spcPts val="1200"/>
              </a:lnSpc>
              <a:buNone/>
            </a:pPr>
            <a:r>
              <a:rPr lang="en-US" sz="950" dirty="0">
                <a:solidFill>
                  <a:srgbClr val="4A5262"/>
                </a:solidFill>
                <a:latin typeface="맑은 고딕" pitchFamily="34" charset="0"/>
                <a:ea typeface="맑은 고딕" pitchFamily="34" charset="-122"/>
                <a:cs typeface="맑은 고딕" pitchFamily="34" charset="-120"/>
              </a:rPr>
              <a:t>대구 수성구 사무실 월 임차료</a:t>
            </a:r>
            <a:endParaRPr lang="en-US" sz="950" dirty="0"/>
          </a:p>
        </p:txBody>
      </p:sp>
      <p:sp>
        <p:nvSpPr>
          <p:cNvPr id="17" name="Shape 15"/>
          <p:cNvSpPr/>
          <p:nvPr/>
        </p:nvSpPr>
        <p:spPr>
          <a:xfrm>
            <a:off x="8193024" y="2286000"/>
            <a:ext cx="35204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8" name="Shape 16"/>
          <p:cNvSpPr/>
          <p:nvPr/>
        </p:nvSpPr>
        <p:spPr>
          <a:xfrm>
            <a:off x="8467344" y="2560320"/>
            <a:ext cx="420624" cy="420624"/>
          </a:xfrm>
          <a:prstGeom prst="ellipse">
            <a:avLst/>
          </a:prstGeom>
          <a:solidFill>
            <a:srgbClr val="101B33"/>
          </a:solidFill>
          <a:ln w="12700">
            <a:solidFill>
              <a:srgbClr val="101B33"/>
            </a:solidFill>
            <a:prstDash val="solid"/>
          </a:ln>
        </p:spPr>
      </p:sp>
      <p:sp>
        <p:nvSpPr>
          <p:cNvPr id="19" name="Text 17"/>
          <p:cNvSpPr/>
          <p:nvPr/>
        </p:nvSpPr>
        <p:spPr>
          <a:xfrm>
            <a:off x="8467344" y="25603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20" name="Text 18"/>
          <p:cNvSpPr/>
          <p:nvPr/>
        </p:nvSpPr>
        <p:spPr>
          <a:xfrm>
            <a:off x="8467344" y="3090672"/>
            <a:ext cx="2971800"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수수료및사용료</a:t>
            </a:r>
            <a:endParaRPr lang="en-US" sz="1400" dirty="0"/>
          </a:p>
        </p:txBody>
      </p:sp>
      <p:sp>
        <p:nvSpPr>
          <p:cNvPr id="21" name="Text 19"/>
          <p:cNvSpPr/>
          <p:nvPr/>
        </p:nvSpPr>
        <p:spPr>
          <a:xfrm>
            <a:off x="8467344" y="3383280"/>
            <a:ext cx="297180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64만원</a:t>
            </a:r>
            <a:endParaRPr lang="en-US" sz="1300" dirty="0"/>
          </a:p>
        </p:txBody>
      </p:sp>
      <p:sp>
        <p:nvSpPr>
          <p:cNvPr id="22" name="Text 20"/>
          <p:cNvSpPr/>
          <p:nvPr/>
        </p:nvSpPr>
        <p:spPr>
          <a:xfrm>
            <a:off x="8467344" y="3694176"/>
            <a:ext cx="2971800" cy="457200"/>
          </a:xfrm>
          <a:prstGeom prst="rect">
            <a:avLst/>
          </a:prstGeom>
          <a:noFill/>
          <a:ln/>
        </p:spPr>
        <p:txBody>
          <a:bodyPr wrap="square" lIns="0" tIns="0" rIns="0" bIns="0" rtlCol="0" anchor="ctr"/>
          <a:lstStyle/>
          <a:p>
            <a:pPr indent="0" marL="0">
              <a:lnSpc>
                <a:spcPts val="1200"/>
              </a:lnSpc>
              <a:buNone/>
            </a:pPr>
            <a:r>
              <a:rPr lang="en-US" sz="950" dirty="0">
                <a:solidFill>
                  <a:srgbClr val="4A5262"/>
                </a:solidFill>
                <a:latin typeface="맑은 고딕" pitchFamily="34" charset="0"/>
                <a:ea typeface="맑은 고딕" pitchFamily="34" charset="-122"/>
                <a:cs typeface="맑은 고딕" pitchFamily="34" charset="-120"/>
              </a:rPr>
              <a:t>이행(지급)보증보험증권 수수료</a:t>
            </a:r>
            <a:endParaRPr lang="en-US" sz="950" dirty="0"/>
          </a:p>
        </p:txBody>
      </p:sp>
      <p:sp>
        <p:nvSpPr>
          <p:cNvPr id="23" name="Text 21"/>
          <p:cNvSpPr/>
          <p:nvPr/>
        </p:nvSpPr>
        <p:spPr>
          <a:xfrm>
            <a:off x="640080" y="4526280"/>
            <a:ext cx="5486400" cy="237744"/>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비목별 증빙자료</a:t>
            </a:r>
            <a:endParaRPr lang="en-US" sz="1150" dirty="0"/>
          </a:p>
        </p:txBody>
      </p:sp>
      <p:sp>
        <p:nvSpPr>
          <p:cNvPr id="24" name="Text 22"/>
          <p:cNvSpPr/>
          <p:nvPr/>
        </p:nvSpPr>
        <p:spPr>
          <a:xfrm>
            <a:off x="685800" y="4800600"/>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일반용역비</a:t>
            </a:r>
            <a:endParaRPr lang="en-US" sz="900" dirty="0"/>
          </a:p>
        </p:txBody>
      </p:sp>
      <p:sp>
        <p:nvSpPr>
          <p:cNvPr id="25" name="Text 23"/>
          <p:cNvSpPr/>
          <p:nvPr/>
        </p:nvSpPr>
        <p:spPr>
          <a:xfrm>
            <a:off x="2377440" y="4800600"/>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계획서·완료보고서 / 계약서 / 견적서·비교견적서 / 집행증빙 / 검수조서 또는 결과보고서(증빙사진 필수)</a:t>
            </a:r>
            <a:endParaRPr lang="en-US" sz="850" dirty="0"/>
          </a:p>
        </p:txBody>
      </p:sp>
      <p:sp>
        <p:nvSpPr>
          <p:cNvPr id="26" name="Text 24"/>
          <p:cNvSpPr/>
          <p:nvPr/>
        </p:nvSpPr>
        <p:spPr>
          <a:xfrm>
            <a:off x="685800" y="5093208"/>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일반수용비</a:t>
            </a:r>
            <a:endParaRPr lang="en-US" sz="900" dirty="0"/>
          </a:p>
        </p:txBody>
      </p:sp>
      <p:sp>
        <p:nvSpPr>
          <p:cNvPr id="27" name="Text 25"/>
          <p:cNvSpPr/>
          <p:nvPr/>
        </p:nvSpPr>
        <p:spPr>
          <a:xfrm>
            <a:off x="2377440" y="5093208"/>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견적서 / 집행증빙(전자세금계산서+사업자등록증+통장사본 또는 카드매출전표+사업자등록증) / 광고는 집행내역서·광고리포트</a:t>
            </a:r>
            <a:endParaRPr lang="en-US" sz="850" dirty="0"/>
          </a:p>
        </p:txBody>
      </p:sp>
      <p:sp>
        <p:nvSpPr>
          <p:cNvPr id="28" name="Text 26"/>
          <p:cNvSpPr/>
          <p:nvPr/>
        </p:nvSpPr>
        <p:spPr>
          <a:xfrm>
            <a:off x="685800" y="5385816"/>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전문가활용비</a:t>
            </a:r>
            <a:endParaRPr lang="en-US" sz="900" dirty="0"/>
          </a:p>
        </p:txBody>
      </p:sp>
      <p:sp>
        <p:nvSpPr>
          <p:cNvPr id="29" name="Text 27"/>
          <p:cNvSpPr/>
          <p:nvPr/>
        </p:nvSpPr>
        <p:spPr>
          <a:xfrm>
            <a:off x="2377440" y="5385816"/>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자문계획서·결과보고서(증빙사진·이력·일자·시간) / 수당지급조서 / 전문가 이력 확인자료</a:t>
            </a:r>
            <a:endParaRPr lang="en-US" sz="850" dirty="0"/>
          </a:p>
        </p:txBody>
      </p:sp>
      <p:sp>
        <p:nvSpPr>
          <p:cNvPr id="30" name="Text 28"/>
          <p:cNvSpPr/>
          <p:nvPr/>
        </p:nvSpPr>
        <p:spPr>
          <a:xfrm>
            <a:off x="685800" y="5678424"/>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임차료</a:t>
            </a:r>
            <a:endParaRPr lang="en-US" sz="900" dirty="0"/>
          </a:p>
        </p:txBody>
      </p:sp>
      <p:sp>
        <p:nvSpPr>
          <p:cNvPr id="31" name="Text 29"/>
          <p:cNvSpPr/>
          <p:nvPr/>
        </p:nvSpPr>
        <p:spPr>
          <a:xfrm>
            <a:off x="2377440" y="5678424"/>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사용계획서·결과보고서(증빙사진) / 계약서 / 견적서 / 집행증빙 / 반납증명서</a:t>
            </a:r>
            <a:endParaRPr lang="en-US" sz="850" dirty="0"/>
          </a:p>
        </p:txBody>
      </p:sp>
      <p:sp>
        <p:nvSpPr>
          <p:cNvPr id="32" name="Text 30"/>
          <p:cNvSpPr/>
          <p:nvPr/>
        </p:nvSpPr>
        <p:spPr>
          <a:xfrm>
            <a:off x="685800" y="5971032"/>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재료비</a:t>
            </a:r>
            <a:endParaRPr lang="en-US" sz="900" dirty="0"/>
          </a:p>
        </p:txBody>
      </p:sp>
      <p:sp>
        <p:nvSpPr>
          <p:cNvPr id="33" name="Text 31"/>
          <p:cNvSpPr/>
          <p:nvPr/>
        </p:nvSpPr>
        <p:spPr>
          <a:xfrm>
            <a:off x="2377440" y="5971032"/>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재료비 활용계획서 / 견적서·비교견적서(품목·수량 필수) / 집행증빙 / 검수조서(증빙사진 필수)</a:t>
            </a:r>
            <a:endParaRPr lang="en-US" sz="850" dirty="0"/>
          </a:p>
        </p:txBody>
      </p:sp>
      <p:sp>
        <p:nvSpPr>
          <p:cNvPr id="34" name="Text 32"/>
          <p:cNvSpPr/>
          <p:nvPr/>
        </p:nvSpPr>
        <p:spPr>
          <a:xfrm>
            <a:off x="685800" y="6263640"/>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대응자금(현물)</a:t>
            </a:r>
            <a:endParaRPr lang="en-US" sz="900" dirty="0"/>
          </a:p>
        </p:txBody>
      </p:sp>
      <p:sp>
        <p:nvSpPr>
          <p:cNvPr id="35" name="Text 33"/>
          <p:cNvSpPr/>
          <p:nvPr/>
        </p:nvSpPr>
        <p:spPr>
          <a:xfrm>
            <a:off x="2377440" y="6263640"/>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대응자금(현물) 납부 확인서 / 신분확인서 / 원천징수영수증 또는 최저임금 고시문 / 임대차계약서·공간사진·이체확인증</a:t>
            </a:r>
            <a:endParaRPr lang="en-US" sz="850" dirty="0"/>
          </a:p>
        </p:txBody>
      </p:sp>
      <p:sp>
        <p:nvSpPr>
          <p:cNvPr id="36" name="Text 3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 · 집행</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미리 알고 가는 열 가지</a:t>
            </a:r>
            <a:endParaRPr lang="en-US" sz="3000" dirty="0"/>
          </a:p>
        </p:txBody>
      </p:sp>
      <p:sp>
        <p:nvSpPr>
          <p:cNvPr id="4" name="Text 2"/>
          <p:cNvSpPr/>
          <p:nvPr/>
        </p:nvSpPr>
        <p:spPr>
          <a:xfrm>
            <a:off x="640080" y="1783080"/>
            <a:ext cx="1088136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소상공인 사업비 집행기준 &lt;별표 11&gt; · 집행 유의사항 &lt;별표 12&gt;에서 우리 사업에 걸리는 것만 추렸다.</a:t>
            </a:r>
            <a:endParaRPr lang="en-US" sz="1050" dirty="0"/>
          </a:p>
        </p:txBody>
      </p:sp>
      <p:sp>
        <p:nvSpPr>
          <p:cNvPr id="5" name="Shape 3"/>
          <p:cNvSpPr/>
          <p:nvPr/>
        </p:nvSpPr>
        <p:spPr>
          <a:xfrm>
            <a:off x="640080" y="2240280"/>
            <a:ext cx="41148" cy="786384"/>
          </a:xfrm>
          <a:prstGeom prst="rect">
            <a:avLst/>
          </a:prstGeom>
          <a:solidFill>
            <a:srgbClr val="0075C9"/>
          </a:solidFill>
          <a:ln/>
        </p:spPr>
      </p:sp>
      <p:sp>
        <p:nvSpPr>
          <p:cNvPr id="6" name="Text 4"/>
          <p:cNvSpPr/>
          <p:nvPr/>
        </p:nvSpPr>
        <p:spPr>
          <a:xfrm>
            <a:off x="841248" y="2258568"/>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부가세 10%는 사업비로 못 쓴다</a:t>
            </a:r>
            <a:endParaRPr lang="en-US" sz="1100" dirty="0"/>
          </a:p>
        </p:txBody>
      </p:sp>
      <p:sp>
        <p:nvSpPr>
          <p:cNvPr id="7" name="Text 5"/>
          <p:cNvSpPr/>
          <p:nvPr/>
        </p:nvSpPr>
        <p:spPr>
          <a:xfrm>
            <a:off x="841248" y="2514600"/>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모든 견적을 공급가액 기준으로 받고, 부가세는 우리 돈으로 낸다. 4,000만원 사업이면 부가세만 400만원이 따로 든다.</a:t>
            </a:r>
            <a:endParaRPr lang="en-US" sz="880" dirty="0"/>
          </a:p>
        </p:txBody>
      </p:sp>
      <p:sp>
        <p:nvSpPr>
          <p:cNvPr id="8" name="Shape 6"/>
          <p:cNvSpPr/>
          <p:nvPr/>
        </p:nvSpPr>
        <p:spPr>
          <a:xfrm>
            <a:off x="6309360" y="2240280"/>
            <a:ext cx="41148" cy="786384"/>
          </a:xfrm>
          <a:prstGeom prst="rect">
            <a:avLst/>
          </a:prstGeom>
          <a:solidFill>
            <a:srgbClr val="B0442C"/>
          </a:solidFill>
          <a:ln/>
        </p:spPr>
      </p:sp>
      <p:sp>
        <p:nvSpPr>
          <p:cNvPr id="9" name="Text 7"/>
          <p:cNvSpPr/>
          <p:nvPr/>
        </p:nvSpPr>
        <p:spPr>
          <a:xfrm>
            <a:off x="6510528" y="2258568"/>
            <a:ext cx="5074920" cy="256032"/>
          </a:xfrm>
          <a:prstGeom prst="rect">
            <a:avLst/>
          </a:prstGeom>
          <a:noFill/>
          <a:ln/>
        </p:spPr>
        <p:txBody>
          <a:bodyPr wrap="square" lIns="0" tIns="0" rIns="0" bIns="0" rtlCol="0" anchor="ctr"/>
          <a:lstStyle/>
          <a:p>
            <a:pPr indent="0" marL="0">
              <a:buNone/>
            </a:pPr>
            <a:r>
              <a:rPr lang="en-US" sz="1100" b="1" dirty="0">
                <a:solidFill>
                  <a:srgbClr val="B0442C"/>
                </a:solidFill>
                <a:latin typeface="맑은 고딕" pitchFamily="34" charset="0"/>
                <a:ea typeface="맑은 고딕" pitchFamily="34" charset="-122"/>
                <a:cs typeface="맑은 고딕" pitchFamily="34" charset="-120"/>
              </a:rPr>
              <a:t>해외 업체와 직접 거래는 집행 불가</a:t>
            </a:r>
            <a:endParaRPr lang="en-US" sz="1100" dirty="0"/>
          </a:p>
        </p:txBody>
      </p:sp>
      <p:sp>
        <p:nvSpPr>
          <p:cNvPr id="10" name="Text 8"/>
          <p:cNvSpPr/>
          <p:nvPr/>
        </p:nvSpPr>
        <p:spPr>
          <a:xfrm>
            <a:off x="6510528" y="2514600"/>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생성형 AI API·클라우드 GPU는 대부분 해외 결제다. 국내 총판이나 리셀러를 통해 전자세금계산서를 받아야 한다. 우리 서비스에서 가장 걸리기 쉬운 항목이다.</a:t>
            </a:r>
            <a:endParaRPr lang="en-US" sz="880" dirty="0"/>
          </a:p>
        </p:txBody>
      </p:sp>
      <p:sp>
        <p:nvSpPr>
          <p:cNvPr id="11" name="Shape 9"/>
          <p:cNvSpPr/>
          <p:nvPr/>
        </p:nvSpPr>
        <p:spPr>
          <a:xfrm>
            <a:off x="640080" y="3118104"/>
            <a:ext cx="41148" cy="786384"/>
          </a:xfrm>
          <a:prstGeom prst="rect">
            <a:avLst/>
          </a:prstGeom>
          <a:solidFill>
            <a:srgbClr val="0F7A4A"/>
          </a:solidFill>
          <a:ln/>
        </p:spPr>
      </p:sp>
      <p:sp>
        <p:nvSpPr>
          <p:cNvPr id="12" name="Text 10"/>
          <p:cNvSpPr/>
          <p:nvPr/>
        </p:nvSpPr>
        <p:spPr>
          <a:xfrm>
            <a:off x="841248" y="3136392"/>
            <a:ext cx="5074920" cy="256032"/>
          </a:xfrm>
          <a:prstGeom prst="rect">
            <a:avLst/>
          </a:prstGeom>
          <a:noFill/>
          <a:ln/>
        </p:spPr>
        <p:txBody>
          <a:bodyPr wrap="square" lIns="0" tIns="0" rIns="0" bIns="0" rtlCol="0" anchor="ctr"/>
          <a:lstStyle/>
          <a:p>
            <a:pPr indent="0" marL="0">
              <a:buNone/>
            </a:pPr>
            <a:r>
              <a:rPr lang="en-US" sz="1100" b="1" dirty="0">
                <a:solidFill>
                  <a:srgbClr val="0F7A4A"/>
                </a:solidFill>
                <a:latin typeface="맑은 고딕" pitchFamily="34" charset="0"/>
                <a:ea typeface="맑은 고딕" pitchFamily="34" charset="-122"/>
                <a:cs typeface="맑은 고딕" pitchFamily="34" charset="-120"/>
              </a:rPr>
              <a:t>여성기업이라 수의계약 한도가 5천만원</a:t>
            </a:r>
            <a:endParaRPr lang="en-US" sz="1100" dirty="0"/>
          </a:p>
        </p:txBody>
      </p:sp>
      <p:sp>
        <p:nvSpPr>
          <p:cNvPr id="13" name="Text 11"/>
          <p:cNvSpPr/>
          <p:nvPr/>
        </p:nvSpPr>
        <p:spPr>
          <a:xfrm>
            <a:off x="841248" y="3392424"/>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일반기업·소기업·소상공인은 2천만원까지지만 여성기업은 5천만원까지다. 계약 체결 시점에 여성기업 확인서가 유효해야 한다. 우리 확인서는 2028.11.06까지다.</a:t>
            </a:r>
            <a:endParaRPr lang="en-US" sz="880" dirty="0"/>
          </a:p>
        </p:txBody>
      </p:sp>
      <p:sp>
        <p:nvSpPr>
          <p:cNvPr id="14" name="Shape 12"/>
          <p:cNvSpPr/>
          <p:nvPr/>
        </p:nvSpPr>
        <p:spPr>
          <a:xfrm>
            <a:off x="6309360" y="3118104"/>
            <a:ext cx="41148" cy="786384"/>
          </a:xfrm>
          <a:prstGeom prst="rect">
            <a:avLst/>
          </a:prstGeom>
          <a:solidFill>
            <a:srgbClr val="0075C9"/>
          </a:solidFill>
          <a:ln/>
        </p:spPr>
      </p:sp>
      <p:sp>
        <p:nvSpPr>
          <p:cNvPr id="15" name="Text 13"/>
          <p:cNvSpPr/>
          <p:nvPr/>
        </p:nvSpPr>
        <p:spPr>
          <a:xfrm>
            <a:off x="6510528" y="3136392"/>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사전 공문 승인이 필요한 두 경우</a:t>
            </a:r>
            <a:endParaRPr lang="en-US" sz="1100" dirty="0"/>
          </a:p>
        </p:txBody>
      </p:sp>
      <p:sp>
        <p:nvSpPr>
          <p:cNvPr id="16" name="Text 14"/>
          <p:cNvSpPr/>
          <p:nvPr/>
        </p:nvSpPr>
        <p:spPr>
          <a:xfrm>
            <a:off x="6510528" y="3392424"/>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① 외주용역 공급가액 2천만원 이상 또는 업력 1년 이하 업체와 계약할 때 ② 집행항목별 공급가액이 정부지원금의 50% 이상일 때. 승인 전에 결제하면 인정되지 않는다.</a:t>
            </a:r>
            <a:endParaRPr lang="en-US" sz="880" dirty="0"/>
          </a:p>
        </p:txBody>
      </p:sp>
      <p:sp>
        <p:nvSpPr>
          <p:cNvPr id="17" name="Shape 15"/>
          <p:cNvSpPr/>
          <p:nvPr/>
        </p:nvSpPr>
        <p:spPr>
          <a:xfrm>
            <a:off x="640080" y="3995928"/>
            <a:ext cx="41148" cy="786384"/>
          </a:xfrm>
          <a:prstGeom prst="rect">
            <a:avLst/>
          </a:prstGeom>
          <a:solidFill>
            <a:srgbClr val="0075C9"/>
          </a:solidFill>
          <a:ln/>
        </p:spPr>
      </p:sp>
      <p:sp>
        <p:nvSpPr>
          <p:cNvPr id="18" name="Text 16"/>
          <p:cNvSpPr/>
          <p:nvPr/>
        </p:nvSpPr>
        <p:spPr>
          <a:xfrm>
            <a:off x="841248" y="4014216"/>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구독료·라이선스는 협약기간 이내분만</a:t>
            </a:r>
            <a:endParaRPr lang="en-US" sz="1100" dirty="0"/>
          </a:p>
        </p:txBody>
      </p:sp>
      <p:sp>
        <p:nvSpPr>
          <p:cNvPr id="19" name="Text 17"/>
          <p:cNvSpPr/>
          <p:nvPr/>
        </p:nvSpPr>
        <p:spPr>
          <a:xfrm>
            <a:off x="841248" y="4270248"/>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연 단위로 끊으면 협약기간을 넘는 몫은 인정되지 않는다. 월 결제로 끊는다.</a:t>
            </a:r>
            <a:endParaRPr lang="en-US" sz="880" dirty="0"/>
          </a:p>
        </p:txBody>
      </p:sp>
      <p:sp>
        <p:nvSpPr>
          <p:cNvPr id="20" name="Shape 18"/>
          <p:cNvSpPr/>
          <p:nvPr/>
        </p:nvSpPr>
        <p:spPr>
          <a:xfrm>
            <a:off x="6309360" y="3995928"/>
            <a:ext cx="41148" cy="786384"/>
          </a:xfrm>
          <a:prstGeom prst="rect">
            <a:avLst/>
          </a:prstGeom>
          <a:solidFill>
            <a:srgbClr val="0075C9"/>
          </a:solidFill>
          <a:ln/>
        </p:spPr>
      </p:sp>
      <p:sp>
        <p:nvSpPr>
          <p:cNvPr id="21" name="Text 19"/>
          <p:cNvSpPr/>
          <p:nvPr/>
        </p:nvSpPr>
        <p:spPr>
          <a:xfrm>
            <a:off x="6510528" y="4014216"/>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사업비카드 또는 세금계산서만</a:t>
            </a:r>
            <a:endParaRPr lang="en-US" sz="1100" dirty="0"/>
          </a:p>
        </p:txBody>
      </p:sp>
      <p:sp>
        <p:nvSpPr>
          <p:cNvPr id="22" name="Text 20"/>
          <p:cNvSpPr/>
          <p:nvPr/>
        </p:nvSpPr>
        <p:spPr>
          <a:xfrm>
            <a:off x="6510528" y="4270248"/>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e나라도움 전용 사업비카드가 원칙이고 개인·법인카드는 금지다. 협약 시 신고한 사업비 통장에서의 직접 계좌이체만 인정된다.</a:t>
            </a:r>
            <a:endParaRPr lang="en-US" sz="880" dirty="0"/>
          </a:p>
        </p:txBody>
      </p:sp>
      <p:sp>
        <p:nvSpPr>
          <p:cNvPr id="23" name="Shape 21"/>
          <p:cNvSpPr/>
          <p:nvPr/>
        </p:nvSpPr>
        <p:spPr>
          <a:xfrm>
            <a:off x="640080" y="4873752"/>
            <a:ext cx="41148" cy="786384"/>
          </a:xfrm>
          <a:prstGeom prst="rect">
            <a:avLst/>
          </a:prstGeom>
          <a:solidFill>
            <a:srgbClr val="0075C9"/>
          </a:solidFill>
          <a:ln/>
        </p:spPr>
      </p:sp>
      <p:sp>
        <p:nvSpPr>
          <p:cNvPr id="24" name="Text 22"/>
          <p:cNvSpPr/>
          <p:nvPr/>
        </p:nvSpPr>
        <p:spPr>
          <a:xfrm>
            <a:off x="841248" y="4892040"/>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대응자금은 100% 소진이 필수</a:t>
            </a:r>
            <a:endParaRPr lang="en-US" sz="1100" dirty="0"/>
          </a:p>
        </p:txBody>
      </p:sp>
      <p:sp>
        <p:nvSpPr>
          <p:cNvPr id="25" name="Text 23"/>
          <p:cNvSpPr/>
          <p:nvPr/>
        </p:nvSpPr>
        <p:spPr>
          <a:xfrm>
            <a:off x="841248" y="5148072"/>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계획에 대해 주관기관 사전 승인을 받아야 하고, 쓰다 남기면 안 된다.</a:t>
            </a:r>
            <a:endParaRPr lang="en-US" sz="880" dirty="0"/>
          </a:p>
        </p:txBody>
      </p:sp>
      <p:sp>
        <p:nvSpPr>
          <p:cNvPr id="26" name="Shape 24"/>
          <p:cNvSpPr/>
          <p:nvPr/>
        </p:nvSpPr>
        <p:spPr>
          <a:xfrm>
            <a:off x="6309360" y="4873752"/>
            <a:ext cx="41148" cy="786384"/>
          </a:xfrm>
          <a:prstGeom prst="rect">
            <a:avLst/>
          </a:prstGeom>
          <a:solidFill>
            <a:srgbClr val="0075C9"/>
          </a:solidFill>
          <a:ln/>
        </p:spPr>
      </p:sp>
      <p:sp>
        <p:nvSpPr>
          <p:cNvPr id="27" name="Text 25"/>
          <p:cNvSpPr/>
          <p:nvPr/>
        </p:nvSpPr>
        <p:spPr>
          <a:xfrm>
            <a:off x="6510528" y="4892040"/>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선금은 계약금액의 50%를 넘길 수 없다</a:t>
            </a:r>
            <a:endParaRPr lang="en-US" sz="1100" dirty="0"/>
          </a:p>
        </p:txBody>
      </p:sp>
      <p:sp>
        <p:nvSpPr>
          <p:cNvPr id="28" name="Text 26"/>
          <p:cNvSpPr/>
          <p:nvPr/>
        </p:nvSpPr>
        <p:spPr>
          <a:xfrm>
            <a:off x="6510528" y="5148072"/>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외주용역비는 수행 완료 후 일시납이 원칙이고, 예외적으로 선급금·잔금 분할이 가능하다.</a:t>
            </a:r>
            <a:endParaRPr lang="en-US" sz="880" dirty="0"/>
          </a:p>
        </p:txBody>
      </p:sp>
      <p:sp>
        <p:nvSpPr>
          <p:cNvPr id="29" name="Shape 27"/>
          <p:cNvSpPr/>
          <p:nvPr/>
        </p:nvSpPr>
        <p:spPr>
          <a:xfrm>
            <a:off x="640080" y="5751576"/>
            <a:ext cx="41148" cy="786384"/>
          </a:xfrm>
          <a:prstGeom prst="rect">
            <a:avLst/>
          </a:prstGeom>
          <a:solidFill>
            <a:srgbClr val="0075C9"/>
          </a:solidFill>
          <a:ln/>
        </p:spPr>
      </p:sp>
      <p:sp>
        <p:nvSpPr>
          <p:cNvPr id="30" name="Text 28"/>
          <p:cNvSpPr/>
          <p:nvPr/>
        </p:nvSpPr>
        <p:spPr>
          <a:xfrm>
            <a:off x="841248" y="5769864"/>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같은 거래처에 유사 건으로 쪼개 쓸 수 없다</a:t>
            </a:r>
            <a:endParaRPr lang="en-US" sz="1100" dirty="0"/>
          </a:p>
        </p:txBody>
      </p:sp>
      <p:sp>
        <p:nvSpPr>
          <p:cNvPr id="31" name="Text 29"/>
          <p:cNvSpPr/>
          <p:nvPr/>
        </p:nvSpPr>
        <p:spPr>
          <a:xfrm>
            <a:off x="841248" y="6025896"/>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한도를 피하려고 나누면 집행 불가다.</a:t>
            </a:r>
            <a:endParaRPr lang="en-US" sz="880" dirty="0"/>
          </a:p>
        </p:txBody>
      </p:sp>
      <p:sp>
        <p:nvSpPr>
          <p:cNvPr id="32" name="Shape 30"/>
          <p:cNvSpPr/>
          <p:nvPr/>
        </p:nvSpPr>
        <p:spPr>
          <a:xfrm>
            <a:off x="6309360" y="5751576"/>
            <a:ext cx="41148" cy="786384"/>
          </a:xfrm>
          <a:prstGeom prst="rect">
            <a:avLst/>
          </a:prstGeom>
          <a:solidFill>
            <a:srgbClr val="0075C9"/>
          </a:solidFill>
          <a:ln/>
        </p:spPr>
      </p:sp>
      <p:sp>
        <p:nvSpPr>
          <p:cNvPr id="33" name="Text 31"/>
          <p:cNvSpPr/>
          <p:nvPr/>
        </p:nvSpPr>
        <p:spPr>
          <a:xfrm>
            <a:off x="6510528" y="5769864"/>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집행기간은 협약종료일까지</a:t>
            </a:r>
            <a:endParaRPr lang="en-US" sz="1100" dirty="0"/>
          </a:p>
        </p:txBody>
      </p:sp>
      <p:sp>
        <p:nvSpPr>
          <p:cNvPr id="34" name="Text 32"/>
          <p:cNvSpPr/>
          <p:nvPr/>
        </p:nvSpPr>
        <p:spPr>
          <a:xfrm>
            <a:off x="6510528" y="6025896"/>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카드승인일·세금계산서 작성일·영수증 발행일이 전부 협약기간 안이어야 한다. 결과물과 검수확인도 그 안에 끝내야 한다.</a:t>
            </a:r>
            <a:endParaRPr lang="en-US" sz="880" dirty="0"/>
          </a:p>
        </p:txBody>
      </p:sp>
      <p:sp>
        <p:nvSpPr>
          <p:cNvPr id="35" name="Text 33"/>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B33"/>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STATUS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FFFFFF"/>
                </a:solidFill>
                <a:latin typeface="맑은 고딕" pitchFamily="34" charset="0"/>
                <a:ea typeface="맑은 고딕" pitchFamily="34" charset="-122"/>
                <a:cs typeface="맑은 고딕" pitchFamily="34" charset="-120"/>
              </a:rPr>
              <a:t>오늘 만든 것</a:t>
            </a:r>
            <a:endParaRPr lang="en-US" sz="3000" dirty="0"/>
          </a:p>
        </p:txBody>
      </p:sp>
      <p:sp>
        <p:nvSpPr>
          <p:cNvPr id="4" name="Text 2"/>
          <p:cNvSpPr/>
          <p:nvPr/>
        </p:nvSpPr>
        <p:spPr>
          <a:xfrm>
            <a:off x="640080" y="1783080"/>
            <a:ext cx="10881360" cy="310896"/>
          </a:xfrm>
          <a:prstGeom prst="rect">
            <a:avLst/>
          </a:prstGeom>
          <a:noFill/>
          <a:ln/>
        </p:spPr>
        <p:txBody>
          <a:bodyPr wrap="square" lIns="0" tIns="0" rIns="0" bIns="0" rtlCol="0" anchor="ctr"/>
          <a:lstStyle/>
          <a:p>
            <a:pPr indent="0" marL="0">
              <a:buNone/>
            </a:pPr>
            <a:r>
              <a:rPr lang="en-US" sz="1050" dirty="0">
                <a:solidFill>
                  <a:srgbClr val="8FA0BE"/>
                </a:solidFill>
                <a:latin typeface="맑은 고딕" pitchFamily="34" charset="0"/>
                <a:ea typeface="맑은 고딕" pitchFamily="34" charset="-122"/>
                <a:cs typeface="맑은 고딕" pitchFamily="34" charset="-120"/>
              </a:rPr>
              <a:t>아래는 이번 협약 이전에 자체 비용으로 만든 결과물이다. 사업비로 집행한 것이 아니므로 정산 대상이 아니며, 고도화의 출발점으로 제시한다.</a:t>
            </a:r>
            <a:endParaRPr lang="en-US" sz="1050" dirty="0"/>
          </a:p>
        </p:txBody>
      </p:sp>
      <p:sp>
        <p:nvSpPr>
          <p:cNvPr id="5" name="Shape 3"/>
          <p:cNvSpPr/>
          <p:nvPr/>
        </p:nvSpPr>
        <p:spPr>
          <a:xfrm>
            <a:off x="685800" y="2459736"/>
            <a:ext cx="182880" cy="182880"/>
          </a:xfrm>
          <a:prstGeom prst="ellipse">
            <a:avLst/>
          </a:prstGeom>
          <a:solidFill>
            <a:srgbClr val="0075C9"/>
          </a:solidFill>
          <a:ln w="12700">
            <a:solidFill>
              <a:srgbClr val="0075C9"/>
            </a:solidFill>
            <a:prstDash val="solid"/>
          </a:ln>
        </p:spPr>
      </p:sp>
      <p:sp>
        <p:nvSpPr>
          <p:cNvPr id="6" name="Text 4"/>
          <p:cNvSpPr/>
          <p:nvPr/>
        </p:nvSpPr>
        <p:spPr>
          <a:xfrm>
            <a:off x="1097280" y="2331720"/>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온 미디어아트 에디트</a:t>
            </a:r>
            <a:endParaRPr lang="en-US" sz="1400" dirty="0"/>
          </a:p>
        </p:txBody>
      </p:sp>
      <p:sp>
        <p:nvSpPr>
          <p:cNvPr id="7" name="Text 5"/>
          <p:cNvSpPr/>
          <p:nvPr/>
        </p:nvSpPr>
        <p:spPr>
          <a:xfrm>
            <a:off x="4526280" y="2350008"/>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고객이 20가지 스타일 · 12가지 색으로 미디어아트를 직접 만드는 웹 도구. 만든 설정 그대로 제작 의뢰까지 이어진다.</a:t>
            </a:r>
            <a:endParaRPr lang="en-US" sz="1000" dirty="0"/>
          </a:p>
        </p:txBody>
      </p:sp>
      <p:sp>
        <p:nvSpPr>
          <p:cNvPr id="8" name="Shape 6"/>
          <p:cNvSpPr/>
          <p:nvPr/>
        </p:nvSpPr>
        <p:spPr>
          <a:xfrm>
            <a:off x="1097280" y="3008376"/>
            <a:ext cx="10378440" cy="0"/>
          </a:xfrm>
          <a:prstGeom prst="line">
            <a:avLst/>
          </a:prstGeom>
          <a:noFill/>
          <a:ln w="12700">
            <a:solidFill>
              <a:srgbClr val="2C3A57"/>
            </a:solidFill>
            <a:prstDash val="solid"/>
          </a:ln>
        </p:spPr>
      </p:sp>
      <p:sp>
        <p:nvSpPr>
          <p:cNvPr id="9" name="Shape 7"/>
          <p:cNvSpPr/>
          <p:nvPr/>
        </p:nvSpPr>
        <p:spPr>
          <a:xfrm>
            <a:off x="685800" y="3246120"/>
            <a:ext cx="182880" cy="182880"/>
          </a:xfrm>
          <a:prstGeom prst="ellipse">
            <a:avLst/>
          </a:prstGeom>
          <a:solidFill>
            <a:srgbClr val="0075C9"/>
          </a:solidFill>
          <a:ln w="12700">
            <a:solidFill>
              <a:srgbClr val="0075C9"/>
            </a:solidFill>
            <a:prstDash val="solid"/>
          </a:ln>
        </p:spPr>
      </p:sp>
      <p:sp>
        <p:nvSpPr>
          <p:cNvPr id="10" name="Text 8"/>
          <p:cNvSpPr/>
          <p:nvPr/>
        </p:nvSpPr>
        <p:spPr>
          <a:xfrm>
            <a:off x="1097280" y="3118104"/>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결정론적 렌더 엔진</a:t>
            </a:r>
            <a:endParaRPr lang="en-US" sz="1400" dirty="0"/>
          </a:p>
        </p:txBody>
      </p:sp>
      <p:sp>
        <p:nvSpPr>
          <p:cNvPr id="11" name="Text 9"/>
          <p:cNvSpPr/>
          <p:nvPr/>
        </p:nvSpPr>
        <p:spPr>
          <a:xfrm>
            <a:off x="4526280" y="3136392"/>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같은 시드·같은 설정이면 언제 돌려도 같은 그림이 나온다. 고객이 화면에서 고른 그대로 4K 납품본이 되는 근거.</a:t>
            </a:r>
            <a:endParaRPr lang="en-US" sz="1000" dirty="0"/>
          </a:p>
        </p:txBody>
      </p:sp>
      <p:sp>
        <p:nvSpPr>
          <p:cNvPr id="12" name="Shape 10"/>
          <p:cNvSpPr/>
          <p:nvPr/>
        </p:nvSpPr>
        <p:spPr>
          <a:xfrm>
            <a:off x="1097280" y="3794760"/>
            <a:ext cx="10378440" cy="0"/>
          </a:xfrm>
          <a:prstGeom prst="line">
            <a:avLst/>
          </a:prstGeom>
          <a:noFill/>
          <a:ln w="12700">
            <a:solidFill>
              <a:srgbClr val="2C3A57"/>
            </a:solidFill>
            <a:prstDash val="solid"/>
          </a:ln>
        </p:spPr>
      </p:sp>
      <p:sp>
        <p:nvSpPr>
          <p:cNvPr id="13" name="Shape 11"/>
          <p:cNvSpPr/>
          <p:nvPr/>
        </p:nvSpPr>
        <p:spPr>
          <a:xfrm>
            <a:off x="685800" y="4032504"/>
            <a:ext cx="182880" cy="182880"/>
          </a:xfrm>
          <a:prstGeom prst="ellipse">
            <a:avLst/>
          </a:prstGeom>
          <a:solidFill>
            <a:srgbClr val="0075C9"/>
          </a:solidFill>
          <a:ln w="12700">
            <a:solidFill>
              <a:srgbClr val="0075C9"/>
            </a:solidFill>
            <a:prstDash val="solid"/>
          </a:ln>
        </p:spPr>
      </p:sp>
      <p:sp>
        <p:nvSpPr>
          <p:cNvPr id="14" name="Text 12"/>
          <p:cNvSpPr/>
          <p:nvPr/>
        </p:nvSpPr>
        <p:spPr>
          <a:xfrm>
            <a:off x="1097280" y="3904488"/>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4K 렌더 파이프라인</a:t>
            </a:r>
            <a:endParaRPr lang="en-US" sz="1400" dirty="0"/>
          </a:p>
        </p:txBody>
      </p:sp>
      <p:sp>
        <p:nvSpPr>
          <p:cNvPr id="15" name="Text 13"/>
          <p:cNvSpPr/>
          <p:nvPr/>
        </p:nvSpPr>
        <p:spPr>
          <a:xfrm>
            <a:off x="4526280" y="3922776"/>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고객 설정 한 줄을 넣으면 프레임을 뽑아 H.264·HEVC·ProRes로 인코딩한다.</a:t>
            </a:r>
            <a:endParaRPr lang="en-US" sz="1000" dirty="0"/>
          </a:p>
        </p:txBody>
      </p:sp>
      <p:sp>
        <p:nvSpPr>
          <p:cNvPr id="16" name="Shape 14"/>
          <p:cNvSpPr/>
          <p:nvPr/>
        </p:nvSpPr>
        <p:spPr>
          <a:xfrm>
            <a:off x="1097280" y="4581144"/>
            <a:ext cx="10378440" cy="0"/>
          </a:xfrm>
          <a:prstGeom prst="line">
            <a:avLst/>
          </a:prstGeom>
          <a:noFill/>
          <a:ln w="12700">
            <a:solidFill>
              <a:srgbClr val="2C3A57"/>
            </a:solidFill>
            <a:prstDash val="solid"/>
          </a:ln>
        </p:spPr>
      </p:sp>
      <p:sp>
        <p:nvSpPr>
          <p:cNvPr id="17" name="Shape 15"/>
          <p:cNvSpPr/>
          <p:nvPr/>
        </p:nvSpPr>
        <p:spPr>
          <a:xfrm>
            <a:off x="685800" y="4818888"/>
            <a:ext cx="182880" cy="182880"/>
          </a:xfrm>
          <a:prstGeom prst="ellipse">
            <a:avLst/>
          </a:prstGeom>
          <a:solidFill>
            <a:srgbClr val="0075C9"/>
          </a:solidFill>
          <a:ln w="12700">
            <a:solidFill>
              <a:srgbClr val="0075C9"/>
            </a:solidFill>
            <a:prstDash val="solid"/>
          </a:ln>
        </p:spPr>
      </p:sp>
      <p:sp>
        <p:nvSpPr>
          <p:cNvPr id="18" name="Text 16"/>
          <p:cNvSpPr/>
          <p:nvPr/>
        </p:nvSpPr>
        <p:spPr>
          <a:xfrm>
            <a:off x="1097280" y="4690872"/>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미디어아트 AX 소개 페이지</a:t>
            </a:r>
            <a:endParaRPr lang="en-US" sz="1400" dirty="0"/>
          </a:p>
        </p:txBody>
      </p:sp>
      <p:sp>
        <p:nvSpPr>
          <p:cNvPr id="19" name="Text 17"/>
          <p:cNvSpPr/>
          <p:nvPr/>
        </p:nvSpPr>
        <p:spPr>
          <a:xfrm>
            <a:off x="4526280" y="4709160"/>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서비스 홍보 시퀀스를 영상 파일이 아니라 편집표로 만들었다. 한국어·영어·일본어·중국어·아랍어 5개 국어.</a:t>
            </a:r>
            <a:endParaRPr lang="en-US" sz="1000" dirty="0"/>
          </a:p>
        </p:txBody>
      </p:sp>
      <p:sp>
        <p:nvSpPr>
          <p:cNvPr id="20" name="Shape 18"/>
          <p:cNvSpPr/>
          <p:nvPr/>
        </p:nvSpPr>
        <p:spPr>
          <a:xfrm>
            <a:off x="1097280" y="5367528"/>
            <a:ext cx="10378440" cy="0"/>
          </a:xfrm>
          <a:prstGeom prst="line">
            <a:avLst/>
          </a:prstGeom>
          <a:noFill/>
          <a:ln w="12700">
            <a:solidFill>
              <a:srgbClr val="2C3A57"/>
            </a:solidFill>
            <a:prstDash val="solid"/>
          </a:ln>
        </p:spPr>
      </p:sp>
      <p:sp>
        <p:nvSpPr>
          <p:cNvPr id="21" name="Shape 19"/>
          <p:cNvSpPr/>
          <p:nvPr/>
        </p:nvSpPr>
        <p:spPr>
          <a:xfrm>
            <a:off x="685800" y="5605272"/>
            <a:ext cx="182880" cy="182880"/>
          </a:xfrm>
          <a:prstGeom prst="ellipse">
            <a:avLst/>
          </a:prstGeom>
          <a:solidFill>
            <a:srgbClr val="0075C9"/>
          </a:solidFill>
          <a:ln w="12700">
            <a:solidFill>
              <a:srgbClr val="0075C9"/>
            </a:solidFill>
            <a:prstDash val="solid"/>
          </a:ln>
        </p:spPr>
      </p:sp>
      <p:sp>
        <p:nvSpPr>
          <p:cNvPr id="22" name="Text 20"/>
          <p:cNvSpPr/>
          <p:nvPr/>
        </p:nvSpPr>
        <p:spPr>
          <a:xfrm>
            <a:off x="1097280" y="5477256"/>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제작 요청 창구</a:t>
            </a:r>
            <a:endParaRPr lang="en-US" sz="1400" dirty="0"/>
          </a:p>
        </p:txBody>
      </p:sp>
      <p:sp>
        <p:nvSpPr>
          <p:cNvPr id="23" name="Text 21"/>
          <p:cNvSpPr/>
          <p:nvPr/>
        </p:nvSpPr>
        <p:spPr>
          <a:xfrm>
            <a:off x="4526280" y="5495544"/>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기관 담당자가 현장 규격·연동 데이터·방향·납품 형태를 네 단계로 적어 보내는 화면.</a:t>
            </a:r>
            <a:endParaRPr lang="en-US" sz="1000" dirty="0"/>
          </a:p>
        </p:txBody>
      </p:sp>
      <p:sp>
        <p:nvSpPr>
          <p:cNvPr id="24" name="Shape 22"/>
          <p:cNvSpPr/>
          <p:nvPr/>
        </p:nvSpPr>
        <p:spPr>
          <a:xfrm>
            <a:off x="1097280" y="6153912"/>
            <a:ext cx="10378440" cy="0"/>
          </a:xfrm>
          <a:prstGeom prst="line">
            <a:avLst/>
          </a:prstGeom>
          <a:noFill/>
          <a:ln w="12700">
            <a:solidFill>
              <a:srgbClr val="2C3A57"/>
            </a:solidFill>
            <a:prstDash val="solid"/>
          </a:ln>
        </p:spPr>
      </p:sp>
      <p:sp>
        <p:nvSpPr>
          <p:cNvPr id="25" name="Text 23"/>
          <p:cNvSpPr/>
          <p:nvPr/>
        </p:nvSpPr>
        <p:spPr>
          <a:xfrm>
            <a:off x="640080" y="6263640"/>
            <a:ext cx="10881360" cy="274320"/>
          </a:xfrm>
          <a:prstGeom prst="rect">
            <a:avLst/>
          </a:prstGeom>
          <a:noFill/>
          <a:ln/>
        </p:spPr>
        <p:txBody>
          <a:bodyPr wrap="square" lIns="0" tIns="0" rIns="0" bIns="0" rtlCol="0" anchor="ctr"/>
          <a:lstStyle/>
          <a:p>
            <a:pPr indent="0" marL="0">
              <a:buNone/>
            </a:pPr>
            <a:r>
              <a:rPr lang="en-US" sz="1050" dirty="0">
                <a:solidFill>
                  <a:srgbClr val="0075C9"/>
                </a:solidFill>
                <a:latin typeface="맑은 고딕" pitchFamily="34" charset="0"/>
                <a:ea typeface="맑은 고딕" pitchFamily="34" charset="-122"/>
                <a:cs typeface="맑은 고딕" pitchFamily="34" charset="-120"/>
              </a:rPr>
              <a:t>publicbloom.art/studio  ·  publicbloom.art/ai  ·  publicbloom.art/ax-studio</a:t>
            </a:r>
            <a:endParaRPr lang="en-US" sz="1050" dirty="0"/>
          </a:p>
        </p:txBody>
      </p:sp>
      <p:sp>
        <p:nvSpPr>
          <p:cNvPr id="26" name="Text 2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1B33"/>
        </a:solidFill>
      </p:bgPr>
    </p:bg>
    <p:spTree>
      <p:nvGrpSpPr>
        <p:cNvPr id="1" name=""/>
        <p:cNvGrpSpPr/>
        <p:nvPr/>
      </p:nvGrpSpPr>
      <p:grpSpPr>
        <a:xfrm>
          <a:off x="0" y="0"/>
          <a:ext cx="0" cy="0"/>
          <a:chOff x="0" y="0"/>
          <a:chExt cx="0" cy="0"/>
        </a:xfrm>
      </p:grpSpPr>
      <p:sp>
        <p:nvSpPr>
          <p:cNvPr id="2" name="Text 0"/>
          <p:cNvSpPr/>
          <p:nvPr/>
        </p:nvSpPr>
        <p:spPr>
          <a:xfrm>
            <a:off x="822960" y="137160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현장 사진 한 장이면 검토가 시작됩니다</a:t>
            </a:r>
            <a:endParaRPr lang="en-US" sz="3400" dirty="0"/>
          </a:p>
        </p:txBody>
      </p:sp>
      <p:sp>
        <p:nvSpPr>
          <p:cNvPr id="3" name="Text 1"/>
          <p:cNvSpPr/>
          <p:nvPr/>
        </p:nvSpPr>
        <p:spPr>
          <a:xfrm>
            <a:off x="822960" y="2286000"/>
            <a:ext cx="10515600" cy="822960"/>
          </a:xfrm>
          <a:prstGeom prst="rect">
            <a:avLst/>
          </a:prstGeom>
          <a:noFill/>
          <a:ln/>
        </p:spPr>
        <p:txBody>
          <a:bodyPr wrap="square" lIns="0" tIns="0" rIns="0" bIns="0" rtlCol="0" anchor="ctr"/>
          <a:lstStyle/>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설치 장소와 벽면 · 화면 크기, 일정만 알려주시면 실측 후 회계연도 기준 견적서를 보내드립니다.</a:t>
            </a:r>
            <a:endParaRPr lang="en-US" sz="1400" dirty="0"/>
          </a:p>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여성기업 확인서와 직접생산확인증명서를 함께 발행합니다.</a:t>
            </a:r>
            <a:endParaRPr lang="en-US" sz="1400" dirty="0"/>
          </a:p>
        </p:txBody>
      </p:sp>
      <p:sp>
        <p:nvSpPr>
          <p:cNvPr id="4" name="Text 2"/>
          <p:cNvSpPr/>
          <p:nvPr/>
        </p:nvSpPr>
        <p:spPr>
          <a:xfrm>
            <a:off x="82296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대표</a:t>
            </a:r>
            <a:endParaRPr lang="en-US" sz="1150" dirty="0"/>
          </a:p>
        </p:txBody>
      </p:sp>
      <p:sp>
        <p:nvSpPr>
          <p:cNvPr id="5" name="Text 3"/>
          <p:cNvSpPr/>
          <p:nvPr/>
        </p:nvSpPr>
        <p:spPr>
          <a:xfrm>
            <a:off x="246888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박성실</a:t>
            </a:r>
            <a:endParaRPr lang="en-US" sz="1300" dirty="0"/>
          </a:p>
        </p:txBody>
      </p:sp>
      <p:sp>
        <p:nvSpPr>
          <p:cNvPr id="6" name="Shape 4"/>
          <p:cNvSpPr/>
          <p:nvPr/>
        </p:nvSpPr>
        <p:spPr>
          <a:xfrm>
            <a:off x="822960" y="3959352"/>
            <a:ext cx="5349240" cy="0"/>
          </a:xfrm>
          <a:prstGeom prst="line">
            <a:avLst/>
          </a:prstGeom>
          <a:noFill/>
          <a:ln w="12700">
            <a:solidFill>
              <a:srgbClr val="2C3A57"/>
            </a:solidFill>
            <a:prstDash val="solid"/>
          </a:ln>
        </p:spPr>
      </p:sp>
      <p:sp>
        <p:nvSpPr>
          <p:cNvPr id="7" name="Text 5"/>
          <p:cNvSpPr/>
          <p:nvPr/>
        </p:nvSpPr>
        <p:spPr>
          <a:xfrm>
            <a:off x="649224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연락처</a:t>
            </a:r>
            <a:endParaRPr lang="en-US" sz="1150" dirty="0"/>
          </a:p>
        </p:txBody>
      </p:sp>
      <p:sp>
        <p:nvSpPr>
          <p:cNvPr id="8" name="Text 6"/>
          <p:cNvSpPr/>
          <p:nvPr/>
        </p:nvSpPr>
        <p:spPr>
          <a:xfrm>
            <a:off x="813816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010-4292-1999</a:t>
            </a:r>
            <a:endParaRPr lang="en-US" sz="1300" dirty="0"/>
          </a:p>
        </p:txBody>
      </p:sp>
      <p:sp>
        <p:nvSpPr>
          <p:cNvPr id="9" name="Shape 7"/>
          <p:cNvSpPr/>
          <p:nvPr/>
        </p:nvSpPr>
        <p:spPr>
          <a:xfrm>
            <a:off x="6492240" y="3959352"/>
            <a:ext cx="5349240" cy="0"/>
          </a:xfrm>
          <a:prstGeom prst="line">
            <a:avLst/>
          </a:prstGeom>
          <a:noFill/>
          <a:ln w="12700">
            <a:solidFill>
              <a:srgbClr val="2C3A57"/>
            </a:solidFill>
            <a:prstDash val="solid"/>
          </a:ln>
        </p:spPr>
      </p:sp>
      <p:sp>
        <p:nvSpPr>
          <p:cNvPr id="10" name="Text 8"/>
          <p:cNvSpPr/>
          <p:nvPr/>
        </p:nvSpPr>
        <p:spPr>
          <a:xfrm>
            <a:off x="82296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이메일</a:t>
            </a:r>
            <a:endParaRPr lang="en-US" sz="1150" dirty="0"/>
          </a:p>
        </p:txBody>
      </p:sp>
      <p:sp>
        <p:nvSpPr>
          <p:cNvPr id="11" name="Text 9"/>
          <p:cNvSpPr/>
          <p:nvPr/>
        </p:nvSpPr>
        <p:spPr>
          <a:xfrm>
            <a:off x="246888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studio@publicbloom.art</a:t>
            </a:r>
            <a:endParaRPr lang="en-US" sz="1300" dirty="0"/>
          </a:p>
        </p:txBody>
      </p:sp>
      <p:sp>
        <p:nvSpPr>
          <p:cNvPr id="12" name="Shape 10"/>
          <p:cNvSpPr/>
          <p:nvPr/>
        </p:nvSpPr>
        <p:spPr>
          <a:xfrm>
            <a:off x="822960" y="4617720"/>
            <a:ext cx="5349240" cy="0"/>
          </a:xfrm>
          <a:prstGeom prst="line">
            <a:avLst/>
          </a:prstGeom>
          <a:noFill/>
          <a:ln w="12700">
            <a:solidFill>
              <a:srgbClr val="2C3A57"/>
            </a:solidFill>
            <a:prstDash val="solid"/>
          </a:ln>
        </p:spPr>
      </p:sp>
      <p:sp>
        <p:nvSpPr>
          <p:cNvPr id="13" name="Text 11"/>
          <p:cNvSpPr/>
          <p:nvPr/>
        </p:nvSpPr>
        <p:spPr>
          <a:xfrm>
            <a:off x="649224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홈페이지</a:t>
            </a:r>
            <a:endParaRPr lang="en-US" sz="1150" dirty="0"/>
          </a:p>
        </p:txBody>
      </p:sp>
      <p:sp>
        <p:nvSpPr>
          <p:cNvPr id="14" name="Text 12"/>
          <p:cNvSpPr/>
          <p:nvPr/>
        </p:nvSpPr>
        <p:spPr>
          <a:xfrm>
            <a:off x="813816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publicbloom.art</a:t>
            </a:r>
            <a:endParaRPr lang="en-US" sz="1300" dirty="0"/>
          </a:p>
        </p:txBody>
      </p:sp>
      <p:sp>
        <p:nvSpPr>
          <p:cNvPr id="15" name="Shape 13"/>
          <p:cNvSpPr/>
          <p:nvPr/>
        </p:nvSpPr>
        <p:spPr>
          <a:xfrm>
            <a:off x="6492240" y="4617720"/>
            <a:ext cx="5349240" cy="0"/>
          </a:xfrm>
          <a:prstGeom prst="line">
            <a:avLst/>
          </a:prstGeom>
          <a:noFill/>
          <a:ln w="12700">
            <a:solidFill>
              <a:srgbClr val="2C3A57"/>
            </a:solidFill>
            <a:prstDash val="solid"/>
          </a:ln>
        </p:spPr>
      </p:sp>
      <p:sp>
        <p:nvSpPr>
          <p:cNvPr id="16" name="Text 14"/>
          <p:cNvSpPr/>
          <p:nvPr/>
        </p:nvSpPr>
        <p:spPr>
          <a:xfrm>
            <a:off x="82296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주소</a:t>
            </a:r>
            <a:endParaRPr lang="en-US" sz="1150" dirty="0"/>
          </a:p>
        </p:txBody>
      </p:sp>
      <p:sp>
        <p:nvSpPr>
          <p:cNvPr id="17" name="Text 15"/>
          <p:cNvSpPr/>
          <p:nvPr/>
        </p:nvSpPr>
        <p:spPr>
          <a:xfrm>
            <a:off x="246888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대구광역시 수성구 동대구로 250, 102동 1층</a:t>
            </a:r>
            <a:endParaRPr lang="en-US" sz="1300" dirty="0"/>
          </a:p>
        </p:txBody>
      </p:sp>
      <p:sp>
        <p:nvSpPr>
          <p:cNvPr id="18" name="Shape 16"/>
          <p:cNvSpPr/>
          <p:nvPr/>
        </p:nvSpPr>
        <p:spPr>
          <a:xfrm>
            <a:off x="822960" y="5276088"/>
            <a:ext cx="5349240" cy="0"/>
          </a:xfrm>
          <a:prstGeom prst="line">
            <a:avLst/>
          </a:prstGeom>
          <a:noFill/>
          <a:ln w="12700">
            <a:solidFill>
              <a:srgbClr val="2C3A57"/>
            </a:solidFill>
            <a:prstDash val="solid"/>
          </a:ln>
        </p:spPr>
      </p:sp>
      <p:sp>
        <p:nvSpPr>
          <p:cNvPr id="19" name="Text 17"/>
          <p:cNvSpPr/>
          <p:nvPr/>
        </p:nvSpPr>
        <p:spPr>
          <a:xfrm>
            <a:off x="649224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사업자등록번호</a:t>
            </a:r>
            <a:endParaRPr lang="en-US" sz="1150" dirty="0"/>
          </a:p>
        </p:txBody>
      </p:sp>
      <p:sp>
        <p:nvSpPr>
          <p:cNvPr id="20" name="Text 18"/>
          <p:cNvSpPr/>
          <p:nvPr/>
        </p:nvSpPr>
        <p:spPr>
          <a:xfrm>
            <a:off x="813816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575-19-00976</a:t>
            </a:r>
            <a:endParaRPr lang="en-US" sz="1300" dirty="0"/>
          </a:p>
        </p:txBody>
      </p:sp>
      <p:sp>
        <p:nvSpPr>
          <p:cNvPr id="21" name="Shape 19"/>
          <p:cNvSpPr/>
          <p:nvPr/>
        </p:nvSpPr>
        <p:spPr>
          <a:xfrm>
            <a:off x="6492240" y="5276088"/>
            <a:ext cx="5349240" cy="0"/>
          </a:xfrm>
          <a:prstGeom prst="line">
            <a:avLst/>
          </a:prstGeom>
          <a:noFill/>
          <a:ln w="12700">
            <a:solidFill>
              <a:srgbClr val="2C3A57"/>
            </a:solidFill>
            <a:prstDash val="solid"/>
          </a:ln>
        </p:spPr>
      </p:sp>
      <p:sp>
        <p:nvSpPr>
          <p:cNvPr id="22" name="Text 20"/>
          <p:cNvSpPr/>
          <p:nvPr/>
        </p:nvSpPr>
        <p:spPr>
          <a:xfrm>
            <a:off x="822960" y="6172200"/>
            <a:ext cx="10515600" cy="320040"/>
          </a:xfrm>
          <a:prstGeom prst="rect">
            <a:avLst/>
          </a:prstGeom>
          <a:noFill/>
          <a:ln/>
        </p:spPr>
        <p:txBody>
          <a:bodyPr wrap="square" lIns="0" tIns="0" rIns="0" bIns="0" rtlCol="0" anchor="ctr"/>
          <a:lstStyle/>
          <a:p>
            <a:pPr indent="0" marL="0">
              <a:buNone/>
            </a:pPr>
            <a:r>
              <a:rPr lang="en-US" sz="1150" dirty="0">
                <a:solidFill>
                  <a:srgbClr val="8FA0BE"/>
                </a:solidFill>
                <a:latin typeface="맑은 고딕" pitchFamily="34" charset="0"/>
                <a:ea typeface="맑은 고딕" pitchFamily="34" charset="-122"/>
                <a:cs typeface="맑은 고딕" pitchFamily="34" charset="-120"/>
              </a:rPr>
              <a:t>오늘은 봄날   ·   AI 미디어아트 기업   ·   대구 여성기업</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오늘은 봄날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오늘은 봄날 회사소개서</dc:title>
  <dc:subject>PptxGenJS Presentation</dc:subject>
  <dc:creator>오늘은 봄날</dc:creator>
  <cp:lastModifiedBy>오늘은 봄날</cp:lastModifiedBy>
  <cp:revision>1</cp:revision>
  <dcterms:created xsi:type="dcterms:W3CDTF">2026-09-02T15:40:45Z</dcterms:created>
  <dcterms:modified xsi:type="dcterms:W3CDTF">2026-09-02T15:40:45Z</dcterms:modified>
</cp:coreProperties>
</file>