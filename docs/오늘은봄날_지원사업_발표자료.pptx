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회사명과 한 줄 정의, 사업영역 3종, 여성기업 자격, 연락처.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사업영역 네 가지를 한 화면에. 상세는 뒤에서 각각 설명.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image" Target="../media/image-8-5.jpg"/><Relationship Id="rId6" Type="http://schemas.openxmlformats.org/officeDocument/2006/relationships/image" Target="../media/image-8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neul-bomnal/assets/deck/eyewall.jp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rcRect l="0" r="0" t="0" b="0"/>
          <a:stretch/>
        </p:blipFill>
        <p:spPr>
          <a:xfrm>
            <a:off x="0" y="4160520"/>
            <a:ext cx="12161520" cy="2697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61520" cy="822960"/>
          </a:xfrm>
          <a:prstGeom prst="rect">
            <a:avLst/>
          </a:prstGeom>
          <a:solidFill>
            <a:srgbClr val="101B33">
              <a:alpha val="70000"/>
            </a:srgbClr>
          </a:solidFill>
          <a:ln w="12700">
            <a:solidFill>
              <a:srgbClr val="101B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MEDIA ART STUDIO · DAEGU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22960" y="141732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봄날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822960" y="2606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D6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미디어아트를 코드로 만드는 AI 기업입니다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22960" y="3154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미디어파사드 콘텐츠 제작  ·  LED 패널 · 전광판 설치  ·  빔프로젝터 미디어파사드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3703320"/>
            <a:ext cx="2286000" cy="384048"/>
          </a:xfrm>
          <a:prstGeom prst="roundRect">
            <a:avLst>
              <a:gd name="adj" fmla="val 47619"/>
            </a:avLst>
          </a:prstGeom>
          <a:solidFill>
            <a:srgbClr val="0075C9"/>
          </a:solidFill>
          <a:ln w="12700">
            <a:solidFill>
              <a:srgbClr val="0075C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703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여성기업 · 대구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D6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010-4292-1999   |   studio@publicbloom.art   |   publicbloom.art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WHO WE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412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콘텐츠부터 화면 자체까지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봄날은 대구광역시 수성구에 있는 여성기업이자 AI 미디어아트 기업입니다.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미디어아트를 영상 편집이 아니라 코드로 만들고, LED 패널·전광판 설치와 빔프로젝터 미디어파사드 시공까지 직접 수행합니다.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33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990088"/>
            <a:ext cx="420624" cy="420624"/>
          </a:xfrm>
          <a:prstGeom prst="ellipse">
            <a:avLst/>
          </a:prstGeom>
          <a:solidFill>
            <a:srgbClr val="0075C9"/>
          </a:solidFill>
          <a:ln w="12700">
            <a:solidFill>
              <a:srgbClr val="0075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990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353872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미디어아트 AX 서비스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4251960"/>
            <a:ext cx="19659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269748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33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94760" y="2990088"/>
            <a:ext cx="420624" cy="420624"/>
          </a:xfrm>
          <a:prstGeom prst="ellipse">
            <a:avLst/>
          </a:prstGeom>
          <a:solidFill>
            <a:srgbClr val="0075C9"/>
          </a:solidFill>
          <a:ln w="12700">
            <a:solidFill>
              <a:srgbClr val="0075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2990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94760" y="353872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· 코드 기반 미디어아트 제작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94760" y="4251960"/>
            <a:ext cx="19659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편집이 아니라 코드로 만듭니다. 현장 화면 비율·해상도에 맞춰 다시 출력할 수 있고, 데이터를 연결하면 화면이 매일 달라집니다.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269748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33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29400" y="2990088"/>
            <a:ext cx="420624" cy="420624"/>
          </a:xfrm>
          <a:prstGeom prst="ellipse">
            <a:avLst/>
          </a:prstGeom>
          <a:solidFill>
            <a:srgbClr val="0075C9"/>
          </a:solidFill>
          <a:ln w="12700">
            <a:solidFill>
              <a:srgbClr val="0075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2990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353872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빠른 제작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29400" y="4251960"/>
            <a:ext cx="19659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시안 3종을 요청 후 1주일 이내에 제시합니다. 영상 외주 제작이 통상 1개월 이상 걸리는 것과 비교되는 지점입니다.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0" y="269748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33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464040" y="2990088"/>
            <a:ext cx="420624" cy="420624"/>
          </a:xfrm>
          <a:prstGeom prst="ellipse">
            <a:avLst/>
          </a:prstGeom>
          <a:solidFill>
            <a:srgbClr val="0075C9"/>
          </a:solidFill>
          <a:ln w="12700">
            <a:solidFill>
              <a:srgbClr val="0075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64040" y="2990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464040" y="353872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LED 패널 · LED 전광판 설치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464040" y="4251960"/>
            <a:ext cx="19659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로비 미디어월, 외벽 전광판, 세로형 사이니지를 사양 산정부터 공급·설치·배선까지 직접 시공합니다.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978640" y="269748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33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2298680" y="2990088"/>
            <a:ext cx="420624" cy="420624"/>
          </a:xfrm>
          <a:prstGeom prst="ellipse">
            <a:avLst/>
          </a:prstGeom>
          <a:solidFill>
            <a:srgbClr val="0075C9"/>
          </a:solidFill>
          <a:ln w="12700">
            <a:solidFill>
              <a:srgbClr val="0075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298680" y="2990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298680" y="353872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빔프로젝터 미디어파사드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298680" y="4251960"/>
            <a:ext cx="19659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외벽과 전시장 벽면에 빔프로젝터를 설치하고 프로젝션 매핑으로 미디어파사드를 만듭니다.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155680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412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발주처가 겪던 세 가지가 사라집니다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384048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33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3774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여성기업</a:t>
            </a:r>
            <a:pPr indent="0" marL="0">
              <a:buNone/>
            </a:pP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05840" y="33832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공공기관 우선구매 대상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393192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여성기업 확인서와 직접생산확인증명서를 보유해 우선구매와 중소기업자간 경쟁입찰에 바로 참여합니다. 회계연도 기준 견적서를 즉시 발행합니다.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920240"/>
            <a:ext cx="3520440" cy="384048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33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23774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pPr indent="0" marL="0">
              <a:buNone/>
            </a:pPr>
            <a:r>
              <a:rPr lang="en-US" sz="2000" b="1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800600" y="33832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시안 3종 제시까지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393192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외주 제작이 통상 1개월 이상 걸리는 데 비해 짧습니다. 미디어아트를 코드로 만들기 때문에 기획·카피·비주얼을 한 번에 생성합니다. 자세히 알려주실수록 시안 디테일이 올라갑니다.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1920240"/>
            <a:ext cx="3520440" cy="384048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33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95360" y="23774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pPr indent="0" marL="0">
              <a:buNone/>
            </a:pPr>
            <a:r>
              <a:rPr lang="en-US" sz="2000" b="1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 계약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8595360" y="33832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콘텐츠와 시공을 한 업체가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95360" y="393192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대부분의 발주에서 콘텐츠 업체와 시공 업체가 쪼개집니다. 오늘은 봄날에서는 쪼개지지 않아 담당자가 사이에서 조율할 일이 없습니다.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155680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WE 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412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가지를 한 계약 안에서 합니다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606040" cy="35661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33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23160"/>
            <a:ext cx="420624" cy="420624"/>
          </a:xfrm>
          <a:prstGeom prst="ellipse">
            <a:avLst/>
          </a:prstGeom>
          <a:solidFill>
            <a:srgbClr val="101B33"/>
          </a:solidFill>
          <a:ln w="12700">
            <a:solidFill>
              <a:srgbClr val="101B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423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990088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미디어아트 AX 서비스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3685032"/>
            <a:ext cx="1965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 API · 기관 보유 DB 연동 실시간 콘텐츠</a:t>
            </a:r>
            <a:endParaRPr lang="en-US" sz="10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대형 사이니지에서 도는 실시간 데이터 반영</a:t>
            </a:r>
            <a:endParaRPr lang="en-US" sz="10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제작 파이프라인 대행 · 시안 3종 1주일 이내</a:t>
            </a:r>
            <a:endParaRPr lang="en-US" sz="10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연동이 필요 없으면 패널 크기에 맞춘 4K 영상으로 납품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2057400"/>
            <a:ext cx="2606040" cy="35661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33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94760" y="2423160"/>
            <a:ext cx="420624" cy="420624"/>
          </a:xfrm>
          <a:prstGeom prst="ellipse">
            <a:avLst/>
          </a:prstGeom>
          <a:solidFill>
            <a:srgbClr val="0075C9"/>
          </a:solidFill>
          <a:ln w="12700">
            <a:solidFill>
              <a:srgbClr val="0075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2423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94760" y="2990088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· 코드 기반 미디어아트 제작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94760" y="3685032"/>
            <a:ext cx="1965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생성형·제너러티브 미디어아트 제작</a:t>
            </a:r>
            <a:endParaRPr lang="en-US" sz="10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공공데이터·기관 DB 연동 데이터 미디어아트</a:t>
            </a:r>
            <a:endParaRPr lang="en-US" sz="10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화면 규격 맞춤 재출력 (비율·해상도·길이)</a:t>
            </a:r>
            <a:endParaRPr lang="en-US" sz="10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다국어 타이포 미디어아트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2057400"/>
            <a:ext cx="2606040" cy="35661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33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29400" y="2423160"/>
            <a:ext cx="420624" cy="420624"/>
          </a:xfrm>
          <a:prstGeom prst="ellipse">
            <a:avLst/>
          </a:prstGeom>
          <a:solidFill>
            <a:srgbClr val="0075C9"/>
          </a:solidFill>
          <a:ln w="12700">
            <a:solidFill>
              <a:srgbClr val="0075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2423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29400" y="2990088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LED 패널 · LED 전광판 설치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29400" y="3685032"/>
            <a:ext cx="1965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LED 패널 사양 산정 · 공급 · 설치</a:t>
            </a:r>
            <a:endParaRPr lang="en-US" sz="10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LED 전광판 설치 · 구조 보강 · 배선</a:t>
            </a:r>
            <a:endParaRPr lang="en-US" sz="10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로비 LED 미디어월 구축</a:t>
            </a:r>
            <a:endParaRPr lang="en-US" sz="10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패널 활용 시 콘텐츠만 교체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0" y="2057400"/>
            <a:ext cx="2606040" cy="35661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33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64040" y="2423160"/>
            <a:ext cx="420624" cy="420624"/>
          </a:xfrm>
          <a:prstGeom prst="ellipse">
            <a:avLst/>
          </a:prstGeom>
          <a:solidFill>
            <a:srgbClr val="0075C9"/>
          </a:solidFill>
          <a:ln w="12700">
            <a:solidFill>
              <a:srgbClr val="0075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64040" y="2423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464040" y="2990088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빔프로젝터 미디어파사드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64040" y="3685032"/>
            <a:ext cx="1965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실측 · 프로젝터 배치 설계</a:t>
            </a:r>
            <a:endParaRPr lang="en-US" sz="10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벽면 형태 맞춤 프로젝션 매핑</a:t>
            </a:r>
            <a:endParaRPr lang="en-US" sz="10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축제·개관·전시 단기 설치와 철거</a:t>
            </a:r>
            <a:endParaRPr lang="en-US" sz="10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상시 상영 스케줄 운영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C25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미디어아트를 AI와 코드로 직접 만들어 기관이 가진 데이터가 화면에 실시간으로 반영되게 하고, LED 패널·전광판 설치와 빔프로젝터 미디어파사드까지 한 계약으로 끝내는 대구 여성기업입니다.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155680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FITS WHERE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412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종류가 다르면 영상도 달라집니다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16:9로 만든 영상을 32:9 화면에 올리면 좌우가 비거나 위아래가 잘립니다. 보는 거리도 다릅니다.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697480" cy="356616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33">
                <a:alpha val="7000"/>
              </a:srgbClr>
            </a:outerShdw>
          </a:effectLst>
        </p:spPr>
      </p:sp>
      <p:pic>
        <p:nvPicPr>
          <p:cNvPr id="6" name="Image 0" descr="/home/user/oneul-bomnal/assets/deck/eyewa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" y="2450592"/>
            <a:ext cx="2368296" cy="1325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3913632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외벽 대형 LED 전광판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96112" y="4480560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가로로 긴 띠형 화면 (예: 32:9)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96112" y="4828032"/>
            <a:ext cx="2185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멀리서 스쳐 보는 화면. 글자보다 색과 움직임으로 읽히는 추상 영상이 맞습니다.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547872" y="2286000"/>
            <a:ext cx="2697480" cy="356616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33">
                <a:alpha val="7000"/>
              </a:srgbClr>
            </a:outerShdw>
          </a:effectLst>
        </p:spPr>
      </p:sp>
      <p:pic>
        <p:nvPicPr>
          <p:cNvPr id="11" name="Image 1" descr="/home/user/oneul-bomnal/assets/deck/flowribbon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12464" y="2450592"/>
            <a:ext cx="2368296" cy="1325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03904" y="3913632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관공서·기업 로비 LED 미디어월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803904" y="4480560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16:9 대형 화면 상시 재생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803904" y="4828032"/>
            <a:ext cx="2185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머무는 사람이 보는 화면. 천천히 흐르는 컬러 무빙과 기관 데이터 시각화가 맞습니다.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455664" y="2286000"/>
            <a:ext cx="2697480" cy="356616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33">
                <a:alpha val="7000"/>
              </a:srgbClr>
            </a:outerShdw>
          </a:effectLst>
        </p:spPr>
      </p:sp>
      <p:pic>
        <p:nvPicPr>
          <p:cNvPr id="16" name="Image 2" descr="/home/user/oneul-bomnal/assets/works/gumico-signage-yeongcha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620256" y="2450592"/>
            <a:ext cx="2368296" cy="1325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11696" y="3913632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세로형 LED 사이니지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711696" y="4480560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9:16 세로 화면 · 안내 사이니지 겸용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711696" y="4828032"/>
            <a:ext cx="2185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 화면과 번갈아 트는 짧은 작품. 세로 구도로 다시 출력합니다.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363456" y="2286000"/>
            <a:ext cx="2697480" cy="356616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33">
                <a:alpha val="7000"/>
              </a:srgbClr>
            </a:outerShdw>
          </a:effectLst>
        </p:spPr>
      </p:sp>
      <p:pic>
        <p:nvPicPr>
          <p:cNvPr id="21" name="Image 3" descr="/home/user/oneul-bomnal/assets/works/gbe-gumico-exhibition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528048" y="2450592"/>
            <a:ext cx="2368296" cy="13258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19488" y="3913632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외벽 빔프로젝터 미디어파사드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619488" y="4480560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벽면 형태에 맞춘 프로젝션 매핑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9619488" y="4828032"/>
            <a:ext cx="21854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야간 상영. 건물 창·기둥 위치를 피해 매핑한 대형 영상.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155680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412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실측에서 상영까지, 같은 계약 안에서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06040" cy="32918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33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68880"/>
            <a:ext cx="420624" cy="420624"/>
          </a:xfrm>
          <a:prstGeom prst="ellipse">
            <a:avLst/>
          </a:prstGeom>
          <a:solidFill>
            <a:srgbClr val="0075C9"/>
          </a:solidFill>
          <a:ln w="12700">
            <a:solidFill>
              <a:srgbClr val="0075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303580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3520440"/>
            <a:ext cx="1965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벽면 크기와 굴곡, 주변 조도, 관람 동선, 전기 용량, 설치면 하중을 잽니다. 여기서 프로젝터 대수 또는 LED 사양이 정해집니다.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64408" y="347472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C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74720" y="2103120"/>
            <a:ext cx="2606040" cy="32918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33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94760" y="2468880"/>
            <a:ext cx="420624" cy="420624"/>
          </a:xfrm>
          <a:prstGeom prst="ellipse">
            <a:avLst/>
          </a:prstGeom>
          <a:solidFill>
            <a:srgbClr val="0075C9"/>
          </a:solidFill>
          <a:ln w="12700">
            <a:solidFill>
              <a:srgbClr val="0075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94760" y="303580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· 시안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94760" y="3520440"/>
            <a:ext cx="1965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매핑 면 또는 화면 규격을 확정하고, 기관 CI를 반영한 시안 3종을 1주일 이내에 제시합니다.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99048" y="347472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C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309360" y="2103120"/>
            <a:ext cx="2606040" cy="32918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33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29400" y="2468880"/>
            <a:ext cx="420624" cy="420624"/>
          </a:xfrm>
          <a:prstGeom prst="ellipse">
            <a:avLst/>
          </a:prstGeom>
          <a:solidFill>
            <a:srgbClr val="0075C9"/>
          </a:solidFill>
          <a:ln w="12700">
            <a:solidFill>
              <a:srgbClr val="0075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29400" y="303580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시공 · 제작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29400" y="3520440"/>
            <a:ext cx="1965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프로젝터 설치와 매핑, 또는 LED 구조 보강·모듈 설치·배선을 진행하고 확정 화면 규격으로 콘텐츠를 출력합니다.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933688" y="347472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C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144000" y="2103120"/>
            <a:ext cx="2606040" cy="32918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33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464040" y="2468880"/>
            <a:ext cx="420624" cy="420624"/>
          </a:xfrm>
          <a:prstGeom prst="ellipse">
            <a:avLst/>
          </a:prstGeom>
          <a:solidFill>
            <a:srgbClr val="101B33"/>
          </a:solidFill>
          <a:ln w="12700">
            <a:solidFill>
              <a:srgbClr val="101B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64040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464040" y="303580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상영 · 운영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464040" y="3520440"/>
            <a:ext cx="1965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상영 스케줄을 관리하고 계절·행사별로 콘텐츠를 교체합니다. 이상이 생기면 원격으로 조치합니다.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" y="57150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3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실측 없이 산정한 견적은 대부분 틀립니다. 현장을 먼저 보고 확정한 뒤 회계연도 기준 견적서를 발행합니다.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155680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412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원하시는 형태로 드립니다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190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작품이라도 현장 사정에 따라 필요한 형태가 다릅니다. 세 가지 중에 고르시면 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52044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33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715768"/>
            <a:ext cx="420624" cy="420624"/>
          </a:xfrm>
          <a:prstGeom prst="ellipse">
            <a:avLst/>
          </a:prstGeom>
          <a:solidFill>
            <a:srgbClr val="0075C9"/>
          </a:solidFill>
          <a:ln w="12700">
            <a:solidFill>
              <a:srgbClr val="0075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2918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4K 영상 파일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388620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재생 장비에 그대로 올리는 mp4. 화면 비율과 길이를 현장 규격에 맞춰 출력합니다.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2331720"/>
            <a:ext cx="352044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33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2715768"/>
            <a:ext cx="420624" cy="420624"/>
          </a:xfrm>
          <a:prstGeom prst="ellipse">
            <a:avLst/>
          </a:prstGeom>
          <a:solidFill>
            <a:srgbClr val="0075C9"/>
          </a:solidFill>
          <a:ln w="12700">
            <a:solidFill>
              <a:srgbClr val="0075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32918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구동 코드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00600" y="388620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플레이어에서 코드가 직접 돌아, 날씨·대기질·기관 데이터에 따라 화면이 매일 달라집니다.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0" y="2331720"/>
            <a:ext cx="352044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33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95360" y="2715768"/>
            <a:ext cx="420624" cy="420624"/>
          </a:xfrm>
          <a:prstGeom prst="ellipse">
            <a:avLst/>
          </a:prstGeom>
          <a:solidFill>
            <a:srgbClr val="101B33"/>
          </a:solidFill>
          <a:ln w="12700">
            <a:solidFill>
              <a:srgbClr val="101B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95360" y="32918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화면까지 포함한 설치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95360" y="388620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LED 패널·전광판 설치 또는 빔프로젝터 미디어파사드 시공과 콘텐츠를 한 계약으로 납품합니다.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5806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3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화면이 아직 없는 현장은 LED 설치 또는 빔프로젝터 시공까지 한 계약으로 진행합니다.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155680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412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영남권 공공 현장에서 켜져 있는 화면들</a:t>
            </a:r>
            <a:endParaRPr lang="en-US" sz="3200" dirty="0"/>
          </a:p>
        </p:txBody>
      </p:sp>
      <p:pic>
        <p:nvPicPr>
          <p:cNvPr id="4" name="Image 0" descr="/home/user/oneul-bomnal/assets/works/busan-songdo-wav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3520440" cy="1417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27355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부산 서구청 · 송도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352958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 대형 벽면 미디어파사드</a:t>
            </a:r>
            <a:endParaRPr lang="en-US" sz="1000" dirty="0"/>
          </a:p>
        </p:txBody>
      </p:sp>
      <p:pic>
        <p:nvPicPr>
          <p:cNvPr id="7" name="Image 1" descr="/home/user/oneul-bomnal/assets/works/daegu-student-center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34840" y="1783080"/>
            <a:ext cx="3520440" cy="1417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34840" y="327355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대구학생문화센터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434840" y="352958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로비 LED 월 미디어아트</a:t>
            </a:r>
            <a:endParaRPr lang="en-US" sz="1000" dirty="0"/>
          </a:p>
        </p:txBody>
      </p:sp>
      <p:pic>
        <p:nvPicPr>
          <p:cNvPr id="10" name="Image 2" descr="/home/user/oneul-bomnal/assets/works/gumi-summer-night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29600" y="1783080"/>
            <a:ext cx="3520440" cy="1417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0" y="327355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구미 썸머나잇 페스티벌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229600" y="352958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야외 건물 미디어파사드</a:t>
            </a:r>
            <a:endParaRPr lang="en-US" sz="1000" dirty="0"/>
          </a:p>
        </p:txBody>
      </p:sp>
      <p:pic>
        <p:nvPicPr>
          <p:cNvPr id="13" name="Image 3" descr="/home/user/oneul-bomnal/assets/works/gbe-gumico-exhibition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0080" y="3931920"/>
            <a:ext cx="3520440" cy="1417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0080" y="542239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경북교육청 · 구미코 전시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40080" y="567842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전시장 미디어파사드</a:t>
            </a:r>
            <a:endParaRPr lang="en-US" sz="1000" dirty="0"/>
          </a:p>
        </p:txBody>
      </p:sp>
      <p:pic>
        <p:nvPicPr>
          <p:cNvPr id="16" name="Image 4" descr="/home/user/oneul-bomnal/assets/works/gumico-signage-yeongchae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434840" y="3931920"/>
            <a:ext cx="3520440" cy="1417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434840" y="542239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구미코 · 로비 사이니지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4434840" y="567842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세로형 LED 사이니지</a:t>
            </a:r>
            <a:endParaRPr lang="en-US" sz="1000" dirty="0"/>
          </a:p>
        </p:txBody>
      </p:sp>
      <p:pic>
        <p:nvPicPr>
          <p:cNvPr id="19" name="Image 5" descr="/home/user/oneul-bomnal/assets/works/andong-station-facade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229600" y="3931920"/>
            <a:ext cx="3520440" cy="1417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229600" y="542239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안동 · 모디684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8229600" y="567842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야외 건물 미디어파사드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640080" y="605332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A93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현장은 상상연필과 함께 수행한 레퍼런스입니다. 오늘은 봄날 명의의 납품 실적은 대구 북구청 사이니지 미디어아트 3편이며, 입찰·수의계약용 실적증명서는 요청 시 발송합니다.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11155680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CREDENTIALS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412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 발주에 바로 대응합니다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190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여성기업이므로 공공기관 우선구매 대상이며, 직접생산확인증명서로 중소기업자간 경쟁입찰에 즉시 참여합니다.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0F6FC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33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87552" y="2514600"/>
            <a:ext cx="4654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여성기업 확인서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" y="2825496"/>
            <a:ext cx="4654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제0113-2025-35456호   ·   유효 2025.11.07 ~ 2028.11.06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87552" y="3099816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공공기관 우선구매 대상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233172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33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56832" y="2514600"/>
            <a:ext cx="4654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직접생산확인증명서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56832" y="2825496"/>
            <a:ext cx="4654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제2025-0495-02141호   ·   유효 2025.10.29 ~ 2027.10.28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56832" y="3099816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동영상제작서비스 · 중소기업자간 경쟁입찰 참여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822192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33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87552" y="4005072"/>
            <a:ext cx="4654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비디오물제작업 신고증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87552" y="4315968"/>
            <a:ext cx="4654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제2025-000019호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4590288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영상물 제작업 등록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360" y="3822192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33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56832" y="4005072"/>
            <a:ext cx="4654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방송영상독립제작사 신고증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56832" y="4315968"/>
            <a:ext cx="4654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제12235호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56832" y="4590288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방송영상 독립제작사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5349240"/>
            <a:ext cx="10972800" cy="868680"/>
          </a:xfrm>
          <a:prstGeom prst="roundRect">
            <a:avLst>
              <a:gd name="adj" fmla="val 6316"/>
            </a:avLst>
          </a:prstGeom>
          <a:solidFill>
            <a:srgbClr val="F7F8FA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33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120" y="55321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시공 지역   대구광역시 · 경상북도 · 부산광역시 · 경상남도 · 울산광역시      |      대구·경북 우선, 부산·경남·울산까지 시공. 그 외 지역은 협의.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155680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412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만든 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아래는 이번 협약 이전에 자체 비용으로 만든 결과물이다. 사업비로 집행한 것이 아니므로 정산 대상이 아니며, 고도화의 출발점으로 제시한다.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2459736"/>
            <a:ext cx="182880" cy="182880"/>
          </a:xfrm>
          <a:prstGeom prst="ellipse">
            <a:avLst/>
          </a:prstGeom>
          <a:solidFill>
            <a:srgbClr val="0075C9"/>
          </a:solidFill>
          <a:ln w="12700">
            <a:solidFill>
              <a:srgbClr val="0075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33172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미디어아트 에디트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26280" y="235000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B9C6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20가지 스타일 · 12가지 색으로 미디어아트를 직접 만드는 웹 도구. 만든 설정 그대로 제작 의뢰까지 이어진다.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97280" y="3008376"/>
            <a:ext cx="10378440" cy="0"/>
          </a:xfrm>
          <a:prstGeom prst="line">
            <a:avLst/>
          </a:prstGeom>
          <a:noFill/>
          <a:ln w="12700">
            <a:solidFill>
              <a:srgbClr val="2C3A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246120"/>
            <a:ext cx="182880" cy="182880"/>
          </a:xfrm>
          <a:prstGeom prst="ellipse">
            <a:avLst/>
          </a:prstGeom>
          <a:solidFill>
            <a:srgbClr val="0075C9"/>
          </a:solidFill>
          <a:ln w="12700">
            <a:solidFill>
              <a:srgbClr val="0075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11810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결정론적 렌더 엔진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0" y="313639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B9C6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시드·같은 설정이면 언제 돌려도 같은 그림이 나온다. 고객이 화면에서 고른 그대로 4K 납품본이 되는 근거.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97280" y="3794760"/>
            <a:ext cx="10378440" cy="0"/>
          </a:xfrm>
          <a:prstGeom prst="line">
            <a:avLst/>
          </a:prstGeom>
          <a:noFill/>
          <a:ln w="12700">
            <a:solidFill>
              <a:srgbClr val="2C3A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4032504"/>
            <a:ext cx="182880" cy="182880"/>
          </a:xfrm>
          <a:prstGeom prst="ellipse">
            <a:avLst/>
          </a:prstGeom>
          <a:solidFill>
            <a:srgbClr val="0075C9"/>
          </a:solidFill>
          <a:ln w="12700">
            <a:solidFill>
              <a:srgbClr val="0075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90448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4K 렌더 파이프라인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6280" y="392277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B9C6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설정 한 줄을 넣으면 프레임을 뽑아 H.264·HEVC·ProRes로 인코딩한다.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97280" y="4581144"/>
            <a:ext cx="10378440" cy="0"/>
          </a:xfrm>
          <a:prstGeom prst="line">
            <a:avLst/>
          </a:prstGeom>
          <a:noFill/>
          <a:ln w="12700">
            <a:solidFill>
              <a:srgbClr val="2C3A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818888"/>
            <a:ext cx="182880" cy="182880"/>
          </a:xfrm>
          <a:prstGeom prst="ellipse">
            <a:avLst/>
          </a:prstGeom>
          <a:solidFill>
            <a:srgbClr val="0075C9"/>
          </a:solidFill>
          <a:ln w="12700">
            <a:solidFill>
              <a:srgbClr val="0075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69087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미디어아트 AX 소개 페이지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26280" y="470916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B9C6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홍보 시퀀스를 영상 파일이 아니라 편집표로 만들었다. 한국어·영어·일본어·중국어·아랍어 5개 국어.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97280" y="5367528"/>
            <a:ext cx="10378440" cy="0"/>
          </a:xfrm>
          <a:prstGeom prst="line">
            <a:avLst/>
          </a:prstGeom>
          <a:noFill/>
          <a:ln w="12700">
            <a:solidFill>
              <a:srgbClr val="2C3A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5605272"/>
            <a:ext cx="182880" cy="182880"/>
          </a:xfrm>
          <a:prstGeom prst="ellipse">
            <a:avLst/>
          </a:prstGeom>
          <a:solidFill>
            <a:srgbClr val="0075C9"/>
          </a:solidFill>
          <a:ln w="12700">
            <a:solidFill>
              <a:srgbClr val="0075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547725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제작 요청 창구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6280" y="549554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B9C6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 담당자가 현장 규격·연동 데이터·방향·납품 형태를 네 단계로 적어 보내는 화면.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97280" y="6153912"/>
            <a:ext cx="10378440" cy="0"/>
          </a:xfrm>
          <a:prstGeom prst="line">
            <a:avLst/>
          </a:prstGeom>
          <a:noFill/>
          <a:ln w="12700">
            <a:solidFill>
              <a:srgbClr val="2C3A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publicbloom.art/studio  ·  publicbloom.art/ai  ·  publicbloom.art/ax-studio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155680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BUDGET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412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사업비 구성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33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1488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사업비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4505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4,000만원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206240" y="2395728"/>
            <a:ext cx="5559552" cy="566928"/>
          </a:xfrm>
          <a:prstGeom prst="rect">
            <a:avLst/>
          </a:prstGeom>
          <a:solidFill>
            <a:srgbClr val="0075C9"/>
          </a:solidFill>
          <a:ln/>
        </p:spPr>
      </p:sp>
      <p:sp>
        <p:nvSpPr>
          <p:cNvPr id="8" name="Shape 6"/>
          <p:cNvSpPr/>
          <p:nvPr/>
        </p:nvSpPr>
        <p:spPr>
          <a:xfrm>
            <a:off x="9765792" y="2395728"/>
            <a:ext cx="1389888" cy="566928"/>
          </a:xfrm>
          <a:prstGeom prst="rect">
            <a:avLst/>
          </a:prstGeom>
          <a:solidFill>
            <a:srgbClr val="101B33"/>
          </a:solidFill>
          <a:ln/>
        </p:spPr>
      </p:sp>
      <p:sp>
        <p:nvSpPr>
          <p:cNvPr id="9" name="Text 7"/>
          <p:cNvSpPr/>
          <p:nvPr/>
        </p:nvSpPr>
        <p:spPr>
          <a:xfrm>
            <a:off x="4352544" y="2395728"/>
            <a:ext cx="5285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정부지원금 80%   3,200만원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875520" y="2377440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대응자금 20%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800만원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06240" y="305409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대응자금은 현금 또는 현물. 현물은 대표자·기 고용 인력 인건비, 사무실 임차료, 이행보증보험증권 수수료.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33467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정부지원금 비목별 배분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621024"/>
            <a:ext cx="2103120" cy="36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제품·서비스 고도화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34640" y="3621024"/>
            <a:ext cx="4663440" cy="36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외주 — 에디터 서버화 · 공공 API 연동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635240" y="3741202"/>
            <a:ext cx="960120" cy="128016"/>
          </a:xfrm>
          <a:prstGeom prst="rect">
            <a:avLst/>
          </a:prstGeom>
          <a:solidFill>
            <a:srgbClr val="0075C9"/>
          </a:solidFill>
          <a:ln/>
        </p:spPr>
      </p:sp>
      <p:sp>
        <p:nvSpPr>
          <p:cNvPr id="16" name="Text 14"/>
          <p:cNvSpPr/>
          <p:nvPr/>
        </p:nvSpPr>
        <p:spPr>
          <a:xfrm>
            <a:off x="9646920" y="3621024"/>
            <a:ext cx="1143000" cy="36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600만원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835640" y="3621024"/>
            <a:ext cx="640080" cy="36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18.8%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85800" y="3989397"/>
            <a:ext cx="10789920" cy="0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989397"/>
            <a:ext cx="2103120" cy="36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전문가활용비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34640" y="3989397"/>
            <a:ext cx="4663440" cy="36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멘토 자문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635240" y="4109575"/>
            <a:ext cx="320040" cy="128016"/>
          </a:xfrm>
          <a:prstGeom prst="rect">
            <a:avLst/>
          </a:prstGeom>
          <a:solidFill>
            <a:srgbClr val="0075C9"/>
          </a:solidFill>
          <a:ln/>
        </p:spPr>
      </p:sp>
      <p:sp>
        <p:nvSpPr>
          <p:cNvPr id="22" name="Text 20"/>
          <p:cNvSpPr/>
          <p:nvPr/>
        </p:nvSpPr>
        <p:spPr>
          <a:xfrm>
            <a:off x="9646920" y="3989397"/>
            <a:ext cx="1143000" cy="36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200만원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835640" y="3989397"/>
            <a:ext cx="640080" cy="36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6.3%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5800" y="4357769"/>
            <a:ext cx="10789920" cy="0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357769"/>
            <a:ext cx="2103120" cy="36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공고료및광고료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34640" y="4357769"/>
            <a:ext cx="4663440" cy="36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집행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635240" y="4477947"/>
            <a:ext cx="800100" cy="128016"/>
          </a:xfrm>
          <a:prstGeom prst="rect">
            <a:avLst/>
          </a:prstGeom>
          <a:solidFill>
            <a:srgbClr val="0075C9"/>
          </a:solidFill>
          <a:ln/>
        </p:spPr>
      </p:sp>
      <p:sp>
        <p:nvSpPr>
          <p:cNvPr id="28" name="Text 26"/>
          <p:cNvSpPr/>
          <p:nvPr/>
        </p:nvSpPr>
        <p:spPr>
          <a:xfrm>
            <a:off x="9646920" y="4357769"/>
            <a:ext cx="1143000" cy="36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500만원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835640" y="4357769"/>
            <a:ext cx="640080" cy="36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15.6%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85800" y="4726142"/>
            <a:ext cx="10789920" cy="0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726142"/>
            <a:ext cx="2103120" cy="36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임차비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834640" y="4726142"/>
            <a:ext cx="4663440" cy="36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AI 렌더 장비 렌탈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635240" y="4846320"/>
            <a:ext cx="1920240" cy="128016"/>
          </a:xfrm>
          <a:prstGeom prst="rect">
            <a:avLst/>
          </a:prstGeom>
          <a:solidFill>
            <a:srgbClr val="0075C9"/>
          </a:solidFill>
          <a:ln/>
        </p:spPr>
      </p:sp>
      <p:sp>
        <p:nvSpPr>
          <p:cNvPr id="34" name="Text 32"/>
          <p:cNvSpPr/>
          <p:nvPr/>
        </p:nvSpPr>
        <p:spPr>
          <a:xfrm>
            <a:off x="9646920" y="4726142"/>
            <a:ext cx="1143000" cy="36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1,200만원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835640" y="4726142"/>
            <a:ext cx="640080" cy="36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37.5%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85800" y="5094514"/>
            <a:ext cx="10789920" cy="0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5094514"/>
            <a:ext cx="2103120" cy="36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수수료및사용료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834640" y="5094514"/>
            <a:ext cx="4663440" cy="36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구독비 · 라이선스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635240" y="5214693"/>
            <a:ext cx="768096" cy="128016"/>
          </a:xfrm>
          <a:prstGeom prst="rect">
            <a:avLst/>
          </a:prstGeom>
          <a:solidFill>
            <a:srgbClr val="0075C9"/>
          </a:solidFill>
          <a:ln/>
        </p:spPr>
      </p:sp>
      <p:sp>
        <p:nvSpPr>
          <p:cNvPr id="40" name="Text 38"/>
          <p:cNvSpPr/>
          <p:nvPr/>
        </p:nvSpPr>
        <p:spPr>
          <a:xfrm>
            <a:off x="9646920" y="5094514"/>
            <a:ext cx="1143000" cy="36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480만원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0835640" y="5094514"/>
            <a:ext cx="640080" cy="36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15.0%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85800" y="5462887"/>
            <a:ext cx="10789920" cy="0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5462887"/>
            <a:ext cx="2103120" cy="36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수수료및사용료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834640" y="5462887"/>
            <a:ext cx="4663440" cy="36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산업재산권 출원등록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635240" y="5583065"/>
            <a:ext cx="192024" cy="128016"/>
          </a:xfrm>
          <a:prstGeom prst="rect">
            <a:avLst/>
          </a:prstGeom>
          <a:solidFill>
            <a:srgbClr val="0075C9"/>
          </a:solidFill>
          <a:ln/>
        </p:spPr>
      </p:sp>
      <p:sp>
        <p:nvSpPr>
          <p:cNvPr id="46" name="Text 44"/>
          <p:cNvSpPr/>
          <p:nvPr/>
        </p:nvSpPr>
        <p:spPr>
          <a:xfrm>
            <a:off x="9646920" y="5462887"/>
            <a:ext cx="1143000" cy="36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120만원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0835640" y="5462887"/>
            <a:ext cx="640080" cy="36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3.8%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85800" y="5831259"/>
            <a:ext cx="10789920" cy="0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" y="5831259"/>
            <a:ext cx="2103120" cy="36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재료구입비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834640" y="5831259"/>
            <a:ext cx="4663440" cy="36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실증 재료 · 데이터셋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635240" y="5951438"/>
            <a:ext cx="160020" cy="128016"/>
          </a:xfrm>
          <a:prstGeom prst="rect">
            <a:avLst/>
          </a:prstGeom>
          <a:solidFill>
            <a:srgbClr val="0075C9"/>
          </a:solidFill>
          <a:ln/>
        </p:spPr>
      </p:sp>
      <p:sp>
        <p:nvSpPr>
          <p:cNvPr id="52" name="Text 50"/>
          <p:cNvSpPr/>
          <p:nvPr/>
        </p:nvSpPr>
        <p:spPr>
          <a:xfrm>
            <a:off x="9646920" y="5831259"/>
            <a:ext cx="1143000" cy="36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100만원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0835640" y="5831259"/>
            <a:ext cx="640080" cy="368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3.1%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85800" y="6199632"/>
            <a:ext cx="10789920" cy="0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" y="62910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i="1" dirty="0">
                <a:solidFill>
                  <a:srgbClr val="9AA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정부지원금 3,200만원 기준으로 항목별 금액을 확정했다. 총사업비는 대응자금 20%를 더한 4,000만원이다. 금액을 바꿀 때는 이 파일의 amount와 gov[].share만 고치고 build-deck.js를 다시 돌린다.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1155680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BUDGET · 정부지원금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412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무엇에 쓰고, 왜 필요한가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0" y="12984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정부지원금 3,200만원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비목 · 세목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108960" y="16002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집행항목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26280" y="16002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지출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0" y="160020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이유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1856232"/>
            <a:ext cx="10789920" cy="0"/>
          </a:xfrm>
          <a:prstGeom prst="line">
            <a:avLst/>
          </a:prstGeom>
          <a:noFill/>
          <a:ln w="19050">
            <a:solidFill>
              <a:srgbClr val="101B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476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운영비(210)-일반용역비(14)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108960" y="19476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제품·서비스 고도화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26280" y="19476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C25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외주 — 에디터 서버화 · 공공 API 연동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26280" y="22219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600만원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0" y="1929384"/>
            <a:ext cx="4160520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만든 에디터는 브라우저 안에서만 돌고 설정도 고객 브라우저에만 남는다. 여러 담당자가 같은 건을 이어 보려면 서버가 필요하다.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800" y="2508069"/>
            <a:ext cx="10789920" cy="0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581221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운영비(210)-일반수용비(01)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108960" y="2581221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전문가활용비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26280" y="2581221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04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멘토 자문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26280" y="2855541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200만원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0" y="2562933"/>
            <a:ext cx="4160520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외주와 비목이 다르다. 멘토는 전문가활용비, 개발은 일반용역비로 나눠 잡아야 정산에서 막히지 않는다.  </a:t>
            </a:r>
            <a:pPr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B04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멘토기업에게 제품·솔루션·서비스를 제공받는 경우 금액과 무관하게 주관기관 공문 승인이 먼저다. 1회 125,000원을 넘는 멘토비는 기타소득세 8.8% 공제 후 집행한다.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5800" y="3141617"/>
            <a:ext cx="10789920" cy="0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214769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운영비(210)-일반수용비(01)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108960" y="3214769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공고료및광고료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26280" y="3214769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C25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집행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26280" y="3489089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500만원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0" y="3196481"/>
            <a:ext cx="4160520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직접 집행하면 광고료(일반수용비), 대행사에 맡기면 일반용역비다. 계약 전에 어느 쪽인지 정해 둔다.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85800" y="3775166"/>
            <a:ext cx="10789920" cy="0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84831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운영비(210)-임차료(07)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108960" y="384831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임차비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26280" y="384831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04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AI 렌더 장비 렌탈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26280" y="412263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1,200만원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0" y="3830030"/>
            <a:ext cx="4160520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4K 렌더와 로컬 추론을 우리 안에서 돌리기 위한 장비다. 정부지원금의 37.5%로 50% 선(1,600만원) 아래라 공문 승인 대상은 아니다.  </a:t>
            </a:r>
            <a:pPr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B04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사서 렌탈로 처리하는 것은 불가. 임차료 증빙에 반납증명서가 들어가고 총 임차기간이 협약기간을 넘길 수 없다. 실제 렌탈업체와 임대차계약을 맺어야 한다.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85800" y="4408714"/>
            <a:ext cx="10789920" cy="0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48186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운영비(210)-일반수용비(01)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108960" y="448186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수수료및사용료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26280" y="448186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04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구독비 · 라이선스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26280" y="475618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480만원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15200" y="4463578"/>
            <a:ext cx="4160520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협약기간 이내분만 인정되므로 연 결제 대신 월 결제로 끊는다.  </a:t>
            </a:r>
            <a:pPr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B04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결제 주의. 국외 업체와의 직접 거래는 집행 불가라 국내 총판·리셀러를 통해 전자세금계산서를 받아야 한다.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85800" y="5042263"/>
            <a:ext cx="10789920" cy="0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5115415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운영비(210)-일반수용비(01)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108960" y="5115415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수수료및사용료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26280" y="5115415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C25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산업재산권 출원등록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526280" y="5389735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120만원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315200" y="5097127"/>
            <a:ext cx="4160520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협약기간 안에 출원·취득이 가능한 건만 집행할 수 있다.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85800" y="5675811"/>
            <a:ext cx="10789920" cy="0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" y="5748963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운영비(210)-재료비(11)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108960" y="5748963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재료구입비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526280" y="5748963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C25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실증 재료 · 데이터셋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526280" y="6023283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100만원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315200" y="5730675"/>
            <a:ext cx="4160520" cy="542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등 무형 재료도 재료비다. 품목당 구매합계 100만원 이상이면 비교견적서가 필요하다.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85800" y="6309360"/>
            <a:ext cx="10789920" cy="0"/>
          </a:xfrm>
          <a:prstGeom prst="line">
            <a:avLst/>
          </a:prstGeom>
          <a:noFill/>
          <a:ln w="12700">
            <a:solidFill>
              <a:srgbClr val="DFE3E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155680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BUDGET · 대응자금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412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20%는 현물로 채운다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대응자금은 100% 소진이 필수이며, 계획에 대해 주관기관 사전 승인이 필요하다.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5204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33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560320"/>
            <a:ext cx="420624" cy="420624"/>
          </a:xfrm>
          <a:prstGeom prst="ellipse">
            <a:avLst/>
          </a:prstGeom>
          <a:solidFill>
            <a:srgbClr val="101B33"/>
          </a:solidFill>
          <a:ln w="12700">
            <a:solidFill>
              <a:srgbClr val="101B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60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09067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대표자 인건비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480만원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69417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박성실 대표 · 과제참여율 기준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16552" y="2286000"/>
            <a:ext cx="35204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33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90872" y="2560320"/>
            <a:ext cx="420624" cy="420624"/>
          </a:xfrm>
          <a:prstGeom prst="ellipse">
            <a:avLst/>
          </a:prstGeom>
          <a:solidFill>
            <a:srgbClr val="101B33"/>
          </a:solidFill>
          <a:ln w="12700">
            <a:solidFill>
              <a:srgbClr val="101B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2560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90872" y="309067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사업장 임차료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90872" y="33832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256만원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90872" y="369417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대구 수성구 사무실 월 임차료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93024" y="2286000"/>
            <a:ext cx="35204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FE3EA"/>
            </a:solidFill>
            <a:prstDash val="solid"/>
          </a:ln>
          <a:effectLst>
            <a:outerShdw sx="100000" sy="100000" kx="0" ky="0" algn="bl" rotWithShape="0" blurRad="152400" dist="38100" dir="5400000">
              <a:srgbClr val="101B33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67344" y="2560320"/>
            <a:ext cx="420624" cy="420624"/>
          </a:xfrm>
          <a:prstGeom prst="ellipse">
            <a:avLst/>
          </a:prstGeom>
          <a:solidFill>
            <a:srgbClr val="101B33"/>
          </a:solidFill>
          <a:ln w="12700">
            <a:solidFill>
              <a:srgbClr val="101B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67344" y="2560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67344" y="309067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수수료및사용료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67344" y="33832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64만원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67344" y="369417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이행(지급)보증보험증권 수수료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45262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비목별 증빙자료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5800" y="48006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일반용역비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377440" y="4800600"/>
            <a:ext cx="9098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계획서·완료보고서 / 계약서 / 견적서·비교견적서 / 집행증빙 / 검수조서 또는 결과보고서(증빙사진 필수)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85800" y="509320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일반수용비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377440" y="5093208"/>
            <a:ext cx="9098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견적서 / 집행증빙(전자세금계산서+사업자등록증+통장사본 또는 카드매출전표+사업자등록증) / 광고는 집행내역서·광고리포트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85800" y="538581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전문가활용비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377440" y="5385816"/>
            <a:ext cx="9098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자문계획서·결과보고서(증빙사진·이력·일자·시간) / 수당지급조서 / 전문가 이력 확인자료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85800" y="567842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임차료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377440" y="5678424"/>
            <a:ext cx="9098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사용계획서·결과보고서(증빙사진) / 계약서 / 견적서 / 집행증빙 / 반납증명서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85800" y="59710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재료비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377440" y="5971032"/>
            <a:ext cx="9098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재료비 활용계획서 / 견적서·비교견적서(품목·수량 필수) / 집행증빙 / 검수조서(증빙사진 필수)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85800" y="62636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대응자금(현물)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377440" y="6263640"/>
            <a:ext cx="9098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대응자금(현물) 납부 확인서 / 신분확인서 / 원천징수영수증 또는 최저임금 고시문 / 임대차계약서·공간사진·이체확인증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155680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BUDGET · 집행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412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 알고 가는 열 가지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소상공인 사업비 집행기준 &lt;별표 11&gt; · 집행 유의사항 &lt;별표 12&gt;에서 우리 사업에 걸리는 것만 추렸다.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41148" cy="786384"/>
          </a:xfrm>
          <a:prstGeom prst="rect">
            <a:avLst/>
          </a:prstGeom>
          <a:solidFill>
            <a:srgbClr val="0075C9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25856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부가세 10%는 사업비로 못 쓴다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25146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8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견적을 공급가액 기준으로 받고, 부가세는 우리 돈으로 낸다. 4,000만원 사업이면 부가세만 400만원이 따로 든다.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6309360" y="2240280"/>
            <a:ext cx="41148" cy="786384"/>
          </a:xfrm>
          <a:prstGeom prst="rect">
            <a:avLst/>
          </a:prstGeom>
          <a:solidFill>
            <a:srgbClr val="B0442C"/>
          </a:solidFill>
          <a:ln/>
        </p:spPr>
      </p:sp>
      <p:sp>
        <p:nvSpPr>
          <p:cNvPr id="9" name="Text 7"/>
          <p:cNvSpPr/>
          <p:nvPr/>
        </p:nvSpPr>
        <p:spPr>
          <a:xfrm>
            <a:off x="6510528" y="225856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44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업체와 직접 거래는 집행 불가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10528" y="25146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8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 API·클라우드 GPU는 대부분 해외 결제다. 국내 총판이나 리셀러를 통해 전자세금계산서를 받아야 한다. 우리 서비스에서 가장 걸리기 쉬운 항목이다.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40080" y="3118104"/>
            <a:ext cx="41148" cy="786384"/>
          </a:xfrm>
          <a:prstGeom prst="rect">
            <a:avLst/>
          </a:prstGeom>
          <a:solidFill>
            <a:srgbClr val="0F7A4A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313639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여성기업이라 수의계약 한도가 5천만원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339242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8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일반기업·소기업·소상공인은 2천만원까지지만 여성기업은 5천만원까지다. 계약 체결 시점에 여성기업 확인서가 유효해야 한다. 우리 확인서는 2028.11.06까지다.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309360" y="3118104"/>
            <a:ext cx="41148" cy="786384"/>
          </a:xfrm>
          <a:prstGeom prst="rect">
            <a:avLst/>
          </a:prstGeom>
          <a:solidFill>
            <a:srgbClr val="0075C9"/>
          </a:solidFill>
          <a:ln/>
        </p:spPr>
      </p:sp>
      <p:sp>
        <p:nvSpPr>
          <p:cNvPr id="15" name="Text 13"/>
          <p:cNvSpPr/>
          <p:nvPr/>
        </p:nvSpPr>
        <p:spPr>
          <a:xfrm>
            <a:off x="6510528" y="313639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 공문 승인이 필요한 두 경우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10528" y="339242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8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외주용역 공급가액 2천만원 이상 또는 업력 1년 이하 업체와 계약할 때 ② 집행항목별 공급가액이 정부지원금의 50% 이상일 때. 승인 전에 결제하면 인정되지 않는다.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40080" y="3995928"/>
            <a:ext cx="41148" cy="786384"/>
          </a:xfrm>
          <a:prstGeom prst="rect">
            <a:avLst/>
          </a:prstGeom>
          <a:solidFill>
            <a:srgbClr val="0075C9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401421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구독료·라이선스는 협약기간 이내분만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427024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8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단위로 끊으면 협약기간을 넘는 몫은 인정되지 않는다. 월 결제로 끊는다.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6309360" y="3995928"/>
            <a:ext cx="41148" cy="786384"/>
          </a:xfrm>
          <a:prstGeom prst="rect">
            <a:avLst/>
          </a:prstGeom>
          <a:solidFill>
            <a:srgbClr val="0075C9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401421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사업비카드 또는 세금계산서만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10528" y="427024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8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e나라도움 전용 사업비카드가 원칙이고 개인·법인카드는 금지다. 협약 시 신고한 사업비 통장에서의 직접 계좌이체만 인정된다.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40080" y="4873752"/>
            <a:ext cx="41148" cy="786384"/>
          </a:xfrm>
          <a:prstGeom prst="rect">
            <a:avLst/>
          </a:prstGeom>
          <a:solidFill>
            <a:srgbClr val="0075C9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489204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대응자금은 100% 소진이 필수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" y="514807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8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계획에 대해 주관기관 사전 승인을 받아야 하고, 쓰다 남기면 안 된다.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6309360" y="4873752"/>
            <a:ext cx="41148" cy="786384"/>
          </a:xfrm>
          <a:prstGeom prst="rect">
            <a:avLst/>
          </a:prstGeom>
          <a:solidFill>
            <a:srgbClr val="0075C9"/>
          </a:solidFill>
          <a:ln/>
        </p:spPr>
      </p:sp>
      <p:sp>
        <p:nvSpPr>
          <p:cNvPr id="27" name="Text 25"/>
          <p:cNvSpPr/>
          <p:nvPr/>
        </p:nvSpPr>
        <p:spPr>
          <a:xfrm>
            <a:off x="6510528" y="489204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선금은 계약금액의 50%를 넘길 수 없다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10528" y="514807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8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외주용역비는 수행 완료 후 일시납이 원칙이고, 예외적으로 선급금·잔금 분할이 가능하다.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40080" y="5751576"/>
            <a:ext cx="41148" cy="786384"/>
          </a:xfrm>
          <a:prstGeom prst="rect">
            <a:avLst/>
          </a:prstGeom>
          <a:solidFill>
            <a:srgbClr val="0075C9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" y="576986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거래처에 유사 건으로 쪼개 쓸 수 없다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" y="602589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8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한도를 피하려고 나누면 집행 불가다.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6309360" y="5751576"/>
            <a:ext cx="41148" cy="786384"/>
          </a:xfrm>
          <a:prstGeom prst="rect">
            <a:avLst/>
          </a:prstGeom>
          <a:solidFill>
            <a:srgbClr val="0075C9"/>
          </a:solidFill>
          <a:ln/>
        </p:spPr>
      </p:sp>
      <p:sp>
        <p:nvSpPr>
          <p:cNvPr id="33" name="Text 31"/>
          <p:cNvSpPr/>
          <p:nvPr/>
        </p:nvSpPr>
        <p:spPr>
          <a:xfrm>
            <a:off x="6510528" y="576986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B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집행기간은 협약종료일까지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10528" y="602589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880" dirty="0">
                <a:solidFill>
                  <a:srgbClr val="4A52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카드승인일·세금계산서 작성일·영수증 발행일이 전부 협약기간 안이어야 한다. 결과물과 검수확인도 그 안에 끝내야 한다.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11155680" y="6291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 한 장이면 검토가 시작됩니다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CFD6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장소와 벽면 · 화면 크기, 일정만 알려주시면 실측 후 회계연도 기준 견적서를 보내드립니다.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CFD6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여성기업 확인서와 직접생산확인증명서를 함께 발행합니다.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468880" y="35204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박성실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3959352"/>
            <a:ext cx="5349240" cy="0"/>
          </a:xfrm>
          <a:prstGeom prst="line">
            <a:avLst/>
          </a:prstGeom>
          <a:noFill/>
          <a:ln w="12700">
            <a:solidFill>
              <a:srgbClr val="2C3A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35204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연락처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138160" y="35204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010-4292-1999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3959352"/>
            <a:ext cx="5349240" cy="0"/>
          </a:xfrm>
          <a:prstGeom prst="line">
            <a:avLst/>
          </a:prstGeom>
          <a:noFill/>
          <a:ln w="12700">
            <a:solidFill>
              <a:srgbClr val="2C3A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1788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468880" y="41788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studio@publicbloom.art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617720"/>
            <a:ext cx="5349240" cy="0"/>
          </a:xfrm>
          <a:prstGeom prst="line">
            <a:avLst/>
          </a:prstGeom>
          <a:noFill/>
          <a:ln w="12700">
            <a:solidFill>
              <a:srgbClr val="2C3A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41788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홈페이지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38160" y="41788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publicbloom.art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0" y="4617720"/>
            <a:ext cx="5349240" cy="0"/>
          </a:xfrm>
          <a:prstGeom prst="line">
            <a:avLst/>
          </a:prstGeom>
          <a:noFill/>
          <a:ln w="12700">
            <a:solidFill>
              <a:srgbClr val="2C3A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83717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468880" y="483717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대구광역시 수성구 동대구로 250, 102동 1층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5276088"/>
            <a:ext cx="5349240" cy="0"/>
          </a:xfrm>
          <a:prstGeom prst="line">
            <a:avLst/>
          </a:prstGeom>
          <a:noFill/>
          <a:ln w="12700">
            <a:solidFill>
              <a:srgbClr val="2C3A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83717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5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사업자등록번호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138160" y="483717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575-19-00976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92240" y="5276088"/>
            <a:ext cx="5349240" cy="0"/>
          </a:xfrm>
          <a:prstGeom prst="line">
            <a:avLst/>
          </a:prstGeom>
          <a:noFill/>
          <a:ln w="12700">
            <a:solidFill>
              <a:srgbClr val="2C3A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봄날   ·   AI 미디어아트 기업   ·   대구 여성기업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오늘은 봄날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오늘은 봄날 회사소개서</dc:title>
  <dc:subject>PptxGenJS Presentation</dc:subject>
  <dc:creator>오늘은 봄날</dc:creator>
  <cp:lastModifiedBy>오늘은 봄날</cp:lastModifiedBy>
  <cp:revision>1</cp:revision>
  <dcterms:created xsi:type="dcterms:W3CDTF">2026-09-02T16:34:34Z</dcterms:created>
  <dcterms:modified xsi:type="dcterms:W3CDTF">2026-09-02T16:34:34Z</dcterms:modified>
</cp:coreProperties>
</file>